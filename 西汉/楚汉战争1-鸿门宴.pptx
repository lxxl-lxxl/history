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3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30" Type="http://schemas.openxmlformats.org/officeDocument/2006/relationships/slide" Target="slides/slide3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29" Type="http://schemas.openxmlformats.org/officeDocument/2006/relationships/slide" Target="slides/slide29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3" Type="http://schemas.openxmlformats.org/officeDocument/2006/relationships/slide" Target="slides/slide3.xml" /><Relationship Id="rId21" Type="http://schemas.openxmlformats.org/officeDocument/2006/relationships/slide" Target="slides/slide21.xml" /><Relationship Id="rId8" Type="http://schemas.openxmlformats.org/officeDocument/2006/relationships/slide" Target="slides/slide8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9" Type="http://schemas.openxmlformats.org/officeDocument/2006/relationships/slide" Target="slides/slide9.xml" /><Relationship Id="rId27" Type="http://schemas.openxmlformats.org/officeDocument/2006/relationships/slide" Target="slides/slide27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slide" Target="slides/slide28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7" Type="http://schemas.openxmlformats.org/officeDocument/2006/relationships/slide" Target="slides/slide7.xml" /><Relationship Id="rId33" Type="http://schemas.openxmlformats.org/officeDocument/2006/relationships/notesMaster" Target="notesMasters/notesMaster1.xml" 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各位好，欢迎来到本期视频。咱们今天讲的这个故事，发生在公元前206年的冬天，地点叫鸿门。</a:t>
            </a:r>
          </a:p>
          <a:p>
            <a:r>
              <a:rPr lang="zh-CN" altLang="en-US" dirty="0"/>
              <a:t>四十万对十万，一场饭局，从头到尾没动几筷菜——但就是这顿饭，定了此后四年楚汉相争的走向，甚至定了大汉四百年的国运。你们可能觉得夸张，但听完这一期，你会明白这不是夸张。</a:t>
            </a:r>
          </a:p>
          <a:p>
            <a:r>
              <a:rPr lang="zh-CN" altLang="en-US" dirty="0"/>
              <a:t>先卖个关子：鸿门宴上最危险的时刻，不是大家熟知的项庄舞剑，而是项羽突然说了一句话，差点让刘邦当场翻盘。这个悬念咱们后面会讲到，先来看看杀机是怎么来的。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本期视频分五个部分。第一部分讲杀机从何而来——答案不在酒桌上，而在两年前的一纸约定里。</a:t>
            </a:r>
          </a:p>
          <a:p>
            <a:r>
              <a:rPr lang="zh-CN" altLang="en-US" dirty="0"/>
              <a:t>第二部分是最核心的，酒桌上的生死博弈，四幕戏：示弱、举玦、闯帐、脱身。第三部分看人性，六个人的六种底色。第四部分做考据辟谣，专门拆几个流传很广的「名场面」。最后一部分看这顿饭的两千年回响。</a:t>
            </a:r>
          </a:p>
          <a:p>
            <a:r>
              <a:rPr lang="zh-CN" altLang="en-US" dirty="0"/>
              <a:t>中间我会插一张人物关系图，帮大家理清各方势力，别到时候搞混了谁是谁。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好，进入第一部分。杀机，早在两年前就已埋下。</a:t>
            </a:r>
          </a:p>
          <a:p>
            <a:r>
              <a:rPr lang="zh-CN" altLang="en-US" dirty="0"/>
              <a:t>注意我说的「两年前」——鸿门宴发生在公元前206年，往前推两年，是公元前208年，也就是巨鹿之战的那一年。</a:t>
            </a:r>
          </a:p>
          <a:p>
            <a:r>
              <a:rPr lang="zh-CN" altLang="en-US" dirty="0"/>
              <a:t>一切的答案，不在酒桌上，而在两年前的一纸约定里。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先把约定说清楚：楚怀王跟诸将约定，谁先攻入关中、拿下咸阳，谁就做关中王——这是整场矛盾的名分依据。</a:t>
            </a:r>
          </a:p>
          <a:p>
            <a:r>
              <a:rPr lang="zh-CN" altLang="en-US" dirty="0"/>
              <a:t>然后看两条路走法的天壤之别。项羽走北路，巨鹿破釜沉舟，跟秦军主力死磕，九死一生，路远仗难，是当时全军威名最盛的人。刘邦走南路，走武关道西进，一路招降纳叛、秋毫无犯，几乎是抄了一条捷径，兵不血刃先进了咸阳——封府库、约法三章、退军霸上，安安静静等兑现承诺。</a:t>
            </a:r>
          </a:p>
          <a:p>
            <a:r>
              <a:rPr lang="zh-CN" altLang="en-US" dirty="0"/>
              <a:t>明面上一视同仁，骨子里对项羽并不公平。这就是杀机的第一层：名分与实力的错位。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先把两条路摆在一起看，你就明白这个约定为什么埋雷了。</a:t>
            </a:r>
          </a:p>
          <a:p>
            <a:r>
              <a:rPr lang="zh-CN" altLang="en-US" dirty="0"/>
              <a:t>项羽走北路：从巨鹿破釜沉舟开始，跟秦军主力死磕，然后北上河北、再折向西，一路硬仗打到底，路更远、仗更难。</a:t>
            </a:r>
          </a:p>
          <a:p>
            <a:r>
              <a:rPr lang="zh-CN" altLang="en-US" dirty="0"/>
              <a:t>刘邦走南路：走武关道西进，一路招降纳叛、秋毫无犯，几乎是一条捷径，兵不血刃就先进了咸阳。</a:t>
            </a:r>
          </a:p>
          <a:p>
            <a:r>
              <a:rPr lang="zh-CN" altLang="en-US" dirty="0"/>
              <a:t>再看右边这块关中——今天的陕西中部、渭河平原，东有函谷关、南有武关、西有散关、北有萧关，四塞之国，易守难攻，土地肥沃。谁得了关中，就等于拿到一把插在天下咽喉上的刀。所以「先入关中者王之」不是普通约定，这是在分天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上一页把两条路的时间线摆开了，这一页我们看地图——从彭城到咸阳，这两条路各自走的是什么地方。</a:t>
            </a:r>
          </a:p>
          <a:p>
            <a:r>
              <a:rPr lang="zh-CN" altLang="en-US" dirty="0"/>
              <a:t>先看地形。东边这一大片是华北平原，再往南是黄淮平原，地势平坦，适合大兵团行军；西边是关中平原，也就是咸阳所在的渭河平原，被崤山、函谷关这一线守着；中间偏南是南阳盆地，再往西南是秦岭，武关就开在秦岭的东段；北边这道竖着的是太行山。</a:t>
            </a:r>
          </a:p>
          <a:p>
            <a:r>
              <a:rPr lang="zh-CN" altLang="en-US" dirty="0"/>
              <a:t>北路的项羽，从彭城出发往西北，在白马津渡过黄河，北上救赵，在巨鹿破釜沉舟、打垮秦军主力，之后再折向西南，经殷墟接受章邯投降，最后强攻函谷关才进关中。你看这条线：渡大河、啃硬仗、闯天险，路远、仗硬、消耗大。</a:t>
            </a:r>
          </a:p>
          <a:p>
            <a:r>
              <a:rPr lang="zh-CN" altLang="en-US" dirty="0"/>
              <a:t>南路的刘邦，从彭城一路向西，走黄淮平原，过陈留、洛阳，转向南阳，从武关小道钻进秦岭，拿下蓝田，再占霸上，直取咸阳。他刻意避开秦军主力，一路招降纳叛、秋毫无犯，几乎是一条捷径。</a:t>
            </a:r>
          </a:p>
          <a:p>
            <a:r>
              <a:rPr lang="zh-CN" altLang="en-US" dirty="0"/>
              <a:t>所以不是刘邦比项羽能打，是他选对了路。地形决定行军速度，行军速度决定谁先入关。关中这把钥匙，是被两条不同的路，送到不同人手里的。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再看这根导火索怎么被点着的。</a:t>
            </a:r>
          </a:p>
          <a:p>
            <a:r>
              <a:rPr lang="zh-CN" altLang="en-US" dirty="0"/>
              <a:t>先说清楚：怀王之约不是项羽答应下来的，是楚怀王定的。项梁在定陶战死后，楚怀王趁机收拢兵权、压制项氏。军中老将评价项羽「慓悍猾贼，不可遣」，说沛公「宽大长者，可遣」——这个约定本身就带着绕开项羽、防着项家的政治算计。</a:t>
            </a:r>
          </a:p>
          <a:p>
            <a:r>
              <a:rPr lang="zh-CN" altLang="en-US" dirty="0"/>
              <a:t>所以项羽先忍、再翻脸：彼时他只是救赵军的次将，名分上仍是臣属，只能暂时咽下；等巨鹿一战消灭秦军主力、威震诸侯，他进关中就自立西楚霸王、分封十八路诸侯，还把刘邦贬去巴蜀汉中。</a:t>
            </a:r>
          </a:p>
          <a:p>
            <a:r>
              <a:rPr lang="zh-CN" altLang="en-US" dirty="0"/>
              <a:t>最后一根导火索，是左司马曹无伤暗中告密：「沛公欲王关中，使子婴为相，珍宝尽有之」——精准踩中项羽「天下只能有一个王」的逆鳞。鸿门宴就此摆开。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在进入第二部分之前，我先搞清楚一件事：这场鸿门宴，到底是谁策划的？目的是什么？</a:t>
            </a:r>
          </a:p>
          <a:p>
            <a:r>
              <a:rPr lang="zh-CN" altLang="en-US" dirty="0"/>
              <a:t>答案是两个人：范增和项羽。范增是主谋，项羽是首肯者。</a:t>
            </a:r>
          </a:p>
          <a:p>
            <a:r>
              <a:rPr lang="zh-CN" altLang="en-US" dirty="0"/>
              <a:t>范增是谁？项羽的首席谋士，被尊为「亚父」。早在刘邦还在路上的时候，范增就跟项羽说：刘邦以前贪财好色，现在进了关中什么都不拿、女人也不碰，这个人志向不小；我望他头顶的云气，是龙虎之形、五彩斑斓，这是天子气啊——赶紧动手，别错过！</a:t>
            </a:r>
          </a:p>
          <a:p>
            <a:r>
              <a:rPr lang="zh-CN" altLang="en-US" dirty="0"/>
              <a:t>范增为什么这么急？因为他的目的很明确：在刘邦还没站稳脚跟之前，趁项羽军力最盛的时候，一举除掉他。这不是意气用事，而是一场精心策划的政治清除行动。</a:t>
            </a:r>
          </a:p>
          <a:p>
            <a:r>
              <a:rPr lang="zh-CN" altLang="en-US" dirty="0"/>
              <a:t>但范增需要项羽点头。而项羽呢？他没有阻止范增，没有解散军队，没有取消宴会——等于默许了。所以这是「范增策划、项羽批准」的联合行动。</a:t>
            </a:r>
          </a:p>
          <a:p>
            <a:r>
              <a:rPr lang="zh-CN" altLang="en-US" dirty="0"/>
              <a:t>目的分三层：表面是借宴席之名把刘邦骗过来除掉；深层是清算「先入关中者王之」的约定；根本是在诸侯还没反应过来之前，消灭最大竞争对手。所以鸿门宴不是简单的请客吃饭，而是一场披着宴会外衣的政治谋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好，进入第二部分，也是本期最核心的内容——酒桌上的生死博弈。</a:t>
            </a:r>
          </a:p>
          <a:p>
            <a:r>
              <a:rPr lang="zh-CN" altLang="en-US" dirty="0"/>
              <a:t>四十万对十万，四幕戏：示弱、举玦、闯帐、脱身。咱们一页一页来看。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先看兵力对比：项羽四十万，刘邦十万，四比一。</a:t>
            </a:r>
          </a:p>
          <a:p>
            <a:r>
              <a:rPr lang="zh-CN" altLang="en-US" dirty="0"/>
              <a:t>悬殊到什么地步？悬殊到刘邦没有任何谈判筹码。他唯一能做的，是采纳张良的计策——主动示弱。张良教刘邦怎么说？把「抢先入关」粉饰成「我没想到您来得这么快，我只是先一步进来守关口，等着您来呢」——把野心包装成忠心。</a:t>
            </a:r>
          </a:p>
          <a:p>
            <a:r>
              <a:rPr lang="zh-CN" altLang="en-US" dirty="0"/>
              <a:t>而项羽这个人，性格里的「傲」和「软」同时发作。傲的是：你刘邦算什么东西，也配跟我争？软的是：你都这么低声下气了，我总不能太为难你吧？于是他一开口，就把告密的曹无伤卖了。</a:t>
            </a:r>
          </a:p>
          <a:p>
            <a:r>
              <a:rPr lang="zh-CN" altLang="en-US" dirty="0"/>
              <a:t>注意这个细节，杀机的第一道缝，是项羽自己裂开的。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好，宴席开始了。范增一看时机成熟，三次举起玉玦暗示项羽动手——「玦」跟「决」同音，就是「下决心」的意思。但项羽「默然不应」，装没看见。</a:t>
            </a:r>
          </a:p>
          <a:p>
            <a:r>
              <a:rPr lang="zh-CN" altLang="en-US" dirty="0"/>
              <a:t>范增没办法，只得叫项庄进来舞剑助兴——名义上助兴，实际上伺机刺杀。这就是「项庄舞剑，意在沛公」的由来。</a:t>
            </a:r>
          </a:p>
          <a:p>
            <a:r>
              <a:rPr lang="zh-CN" altLang="en-US" dirty="0"/>
              <a:t>但项伯也不甘示弱，「拔剑亦舞，常以身翼蔽沛公」，用身体替刘邦挡剑。同一支剑舞，一攻一守，全在项羽的一念之间——而项羽这一念，始终没有落下去。</a:t>
            </a:r>
          </a:p>
          <a:p>
            <a:r>
              <a:rPr lang="zh-CN" altLang="en-US" dirty="0"/>
              <a:t>那为什么没有落下去？下一页我告诉你那句话。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现在揭晓那个悬念。鸿门宴上最危险的时刻，其实不是项庄舞剑，而是在这之前——项羽在席间说了一句话。</a:t>
            </a:r>
          </a:p>
          <a:p>
            <a:r>
              <a:rPr lang="zh-CN" altLang="en-US" dirty="0"/>
              <a:t>他说：「沛公不先破关中，公岂敢入乎？今人有大功而击之，不义也。不如因善遇之。」翻译过来就是：要不是刘邦先破了关中，你能进来吗？人家有大功你还要打他，不义气啊，不如好好对待他。</a:t>
            </a:r>
          </a:p>
          <a:p>
            <a:r>
              <a:rPr lang="zh-CN" altLang="en-US" dirty="0"/>
              <a:t>这句话的杀伤力有多大？这是项羽当着所有将领的面，说「不能杀刘邦」。这意味着范增的刺杀计划，从根源上就被否定了。项庄就算舞剑舞出花来，主公都说了「不义」，谁敢动手？刘邦听到这句话，心里那块大石头才算真正落地。</a:t>
            </a:r>
          </a:p>
          <a:p>
            <a:r>
              <a:rPr lang="zh-CN" altLang="en-US" dirty="0"/>
              <a:t>所以我说，最危险的时刻不是舞剑，而是项羽这句话——它直接宣判了范增计划的死刑。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接下来是高潮——樊哙闯帐。</a:t>
            </a:r>
          </a:p>
          <a:p>
            <a:r>
              <a:rPr lang="zh-CN" altLang="en-US" dirty="0"/>
              <a:t>张良在外面一看情况不对，把樊哙叫进来。樊哙「瞋目视项王，头发上指，目眦尽裂」——瞪着眼睛看项羽，头发都竖起来了，眼眶都快裂了。他硬生生撞开卫士冲进来。</a:t>
            </a:r>
          </a:p>
          <a:p>
            <a:r>
              <a:rPr lang="zh-CN" altLang="en-US" dirty="0"/>
              <a:t>项羽不怒反赞：「壮士！赐之卮酒！」赐酒，又赐一条生猪腿。注意，这既是试探也是羞辱——半生不熟的猪腿，看你敢不敢咽。</a:t>
            </a:r>
          </a:p>
          <a:p>
            <a:r>
              <a:rPr lang="zh-CN" altLang="en-US" dirty="0"/>
              <a:t>樊哙怎么做？盾牌一扣地上，猪腿一放盾牌上，拔剑切块，直接生吃。然后站起来对项羽说了一席话——这段话太精彩了，我给大家翻译一下。</a:t>
            </a:r>
          </a:p>
          <a:p>
            <a:r>
              <a:rPr lang="zh-CN" altLang="en-US" dirty="0"/>
              <a:t>一套组合拳：先捧你、再表功、再警告、最后点题。项羽「默然无以应」——又沉默了。注意，樊哙这一闯，不只是勇，更是智。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刘邦借口上厕所，带着樊哙、夏侯婴等四个人，弃车骑马，抄小路狂奔回霸上营地——四十里路，跑出了逃命的速度。让张良留下代为谢罪。</a:t>
            </a:r>
          </a:p>
          <a:p>
            <a:r>
              <a:rPr lang="zh-CN" altLang="en-US" dirty="0"/>
              <a:t>范增呢？接过刘邦托人送来的玉斗，「置之地，拔剑撞而破之」——把玉斗扔地上，拔剑砸碎。然后说了那句千古名言：「竖子不足与谋！」</a:t>
            </a:r>
          </a:p>
          <a:p>
            <a:r>
              <a:rPr lang="zh-CN" altLang="en-US" dirty="0"/>
              <a:t>刘邦逃回去之后第一件事是什么？告诉张良：立诛杀曹无伤。这个投机鬼第一次告密点燃了鸿门宴，第二次差点害死他，回去第一件事就是处理掉。</a:t>
            </a:r>
          </a:p>
          <a:p>
            <a:r>
              <a:rPr lang="zh-CN" altLang="en-US" dirty="0"/>
              <a:t>注意这个细节——刘邦的隐忍和狠辣，在这一刻同时展现了。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好，进入第三部分——藏在细节里的人性。</a:t>
            </a:r>
          </a:p>
          <a:p>
            <a:r>
              <a:rPr lang="zh-CN" altLang="en-US" dirty="0"/>
              <a:t>一场饭局，六个人的选择，六种人性的底色。看懂他们为什么那样选，才看得懂这场宴为什么那样收场。</a:t>
            </a:r>
          </a:p>
          <a:p>
            <a:r>
              <a:rPr lang="zh-CN" altLang="en-US" dirty="0"/>
              <a:t>在此之前，我先插一张人物关系图，帮大家理清一下各方势力。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来，插一张人物关系图，帮大家理清各方势力。</a:t>
            </a:r>
          </a:p>
          <a:p>
            <a:r>
              <a:rPr lang="zh-CN" altLang="en-US" dirty="0"/>
              <a:t>左边是楚军阵营：项羽是老大；范增是军师「亚父」，老谋深算，对项羽又恨又爱；项伯是项羽的叔叔——注意这个人，他是双面角色，早年杀人被张良救过，后来跟刘邦结了亲家，鸿门宴上他站在刘邦这边挡剑；项庄就是那个舞剑要杀刘邦的武将。</a:t>
            </a:r>
          </a:p>
          <a:p>
            <a:r>
              <a:rPr lang="zh-CN" altLang="en-US" dirty="0"/>
              <a:t>右边是汉军阵营：刘邦是老大；张良是军师——注意这个人才是真正的全场 MVP，从头到尾在幕后操盘；樊哙是猛将，那个闯帐吃生猪腿的；还有曹无伤——这个人是刘邦手下的左司马，但他是投机分子，两边都卖，最后被刘邦回去第一件事就杀了。</a:t>
            </a:r>
          </a:p>
          <a:p>
            <a:r>
              <a:rPr lang="zh-CN" altLang="en-US" dirty="0"/>
              <a:t>特别留意两条跨阵营的暗线：一条是张良救过项伯的命，这份恩情把项伯拉进了刘营；另一条是刘邦「约为婚姻」，把项伯彻底绑上了自己的战车。</a:t>
            </a:r>
          </a:p>
          <a:p>
            <a:r>
              <a:rPr lang="zh-CN" altLang="en-US" dirty="0"/>
              <a:t>理清了人物关系，咱们再看每个人在饭局上的选择，就全明白了。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好，来看项羽。</a:t>
            </a:r>
          </a:p>
          <a:p>
            <a:r>
              <a:rPr lang="zh-CN" altLang="en-US" dirty="0"/>
              <a:t>人们常说项羽在鸿门宴上优柔寡断、政治幼稚——但我认为可以再往下挖一层。他未必是不想杀刘邦，而是从骨子里「杀不了」。</a:t>
            </a:r>
          </a:p>
          <a:p>
            <a:r>
              <a:rPr lang="zh-CN" altLang="en-US" dirty="0"/>
              <a:t>项羽是春秋贵族精神的最后一代传人，一生信奉「堂堂正正地打」，不在背后捅刀子。在已经来赔罪的客人背后动手，在他看来就是「弑客」，比打仗输了还丢人。</a:t>
            </a:r>
          </a:p>
          <a:p>
            <a:r>
              <a:rPr lang="zh-CN" altLang="en-US" dirty="0"/>
              <a:t>但除此之外，还有一种更深层的心理——轻蔑。不是犹豫，不是不忍，而是根本没把刘邦放在眼里。你们想，项羽什么来头？巨鹿之战破釜沉舟、九战九捷、消灭秦军主力、自封西楚霸王、分封十八路诸侯——他是当时天下最有权势的人。在他眼里刘邦算什么？一个靠走捷径进关中的「运气货」。</a:t>
            </a:r>
          </a:p>
          <a:p>
            <a:r>
              <a:rPr lang="zh-CN" altLang="en-US" dirty="0"/>
              <a:t>让他来赴宴已经是给面子了。项羽至死都看不起刘邦，垓下被围时还喊话：「汉人把我抓了？你们为什么不一起投降？」</a:t>
            </a:r>
          </a:p>
          <a:p>
            <a:r>
              <a:rPr lang="zh-CN" altLang="en-US" dirty="0"/>
              <a:t>这种轻蔑比犹豫更致命。因为它不是弱点，而是一种认知偏差——他真心觉得刘邦不构成威胁。而恰恰是这种「不把你放在眼里」，放了刘邦一条生路，也放了整个未来王朝一条生路。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好，来看刘邦。很多人觉得他就是个「流氓皇帝」，但其实他是全场最清醒的人。</a:t>
            </a:r>
          </a:p>
          <a:p>
            <a:r>
              <a:rPr lang="zh-CN" altLang="en-US" dirty="0"/>
              <a:t>你们看，鸿门宴前刘邦做了什么？他不是冲上去就干的，他做了两手准备：一套是说辞——把「抢先入关」包装成「没想到您来得这么快」；另一套是关系网——通过项伯打通项羽这边。这说明他不是临时抱佛脚，他是带着完整剧本来的。</a:t>
            </a:r>
          </a:p>
          <a:p>
            <a:r>
              <a:rPr lang="zh-CN" altLang="en-US" dirty="0"/>
              <a:t>宴席上刘邦怎么说自己？「臣与将军戮力而攻秦，将军战河北，臣战河南」——我是给您打辅助的。「然不自意能先入关破秦」——不是我厉害，是运气好。「今者有小人之言，令将军与臣有郤」——都是小人挑拨。这一套话说下来，项羽的杀心卸了大半。</a:t>
            </a:r>
          </a:p>
          <a:p>
            <a:r>
              <a:rPr lang="zh-CN" altLang="en-US" dirty="0"/>
              <a:t>但刘邦真正可怕的不是会说话，是他跑完之后做的事。他借口上厕所，带四个人抄小路狂奔四十里回去——这不是怂，是理性：面子不重要，命才重要。然后他第一件事是什么？立诛杀曹无伤。能低头时低头，能翻脸时绝不手软。</a:t>
            </a:r>
          </a:p>
          <a:p>
            <a:r>
              <a:rPr lang="zh-CN" altLang="en-US" dirty="0"/>
              <a:t>还有一个细节他装傻。项羽当众说「此沛公左司马曹无伤言之」，把曹无伤卖了。刘邦什么反应？史书没写，但我们可以推断——他一定装作非常震惊的样子，绝不会当场揭穿。他不能打项羽的脸，也不能让在场的人知道内部有叛徒。这种隐忍，比任何勇猛都可怕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好，来看范增。这个人很有意思——他是全场最清醒的人，也是最无力的人。为什么？因为他看得太清楚了，却唯独看不透项羽。</a:t>
            </a:r>
          </a:p>
          <a:p>
            <a:r>
              <a:rPr lang="zh-CN" altLang="en-US" dirty="0"/>
              <a:t>范增是谁？项羽的首席谋士，被尊为亚父，就是仅次于父亲的意思。他为什么这么急着想杀刘邦？因为他一眼就看穿了——刘邦以前贪财好色，现在进了关中什么都不拿、女人也不碰，这个人志向不小。</a:t>
            </a:r>
          </a:p>
          <a:p>
            <a:r>
              <a:rPr lang="zh-CN" altLang="en-US" dirty="0"/>
              <a:t>注意这句话的分量。一个七十岁的老人，一辈子在乱世中摸爬滚打，他不是在猜，他是在预言。他说「急击勿失」的时候，机会还在项羽手里。但项羽呢？默然不应。</a:t>
            </a:r>
          </a:p>
          <a:p>
            <a:r>
              <a:rPr lang="zh-CN" altLang="en-US" dirty="0"/>
              <a:t>范增的悲剧在于：他是一个完美的战略家，却遇上了一个不适合做霸主的人。他所有的计谋都是对的，问题不在计谋本身，而在于执行计谋的那个人是项羽。</a:t>
            </a:r>
          </a:p>
          <a:p>
            <a:r>
              <a:rPr lang="zh-CN" altLang="en-US" dirty="0"/>
              <a:t>后来项羽分封诸侯，范增没再劝了。不是不想劝，是知道说了也没用。他最后跟项羽说：「天下事大定矣，君王自为之」——天下事已经定了，您自己做吧。这不是放手，这是彻底绝望。</a:t>
            </a:r>
          </a:p>
          <a:p>
            <a:r>
              <a:rPr lang="zh-CN" altLang="en-US" dirty="0"/>
              <a:t>然后他请求告老还乡，项羽答应了。他在回家的路上发病死了。七十岁的老人，一辈子给别人出主意，最后死在回家的路上——这个结局，比任何悲剧都让人感慨。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在继续看张良、项伯、曹无伤之前，我想插一页对比——项羽和刘邦的决策风格。同一件事，这两个人会怎么做？</a:t>
            </a:r>
          </a:p>
          <a:p>
            <a:r>
              <a:rPr lang="zh-CN" altLang="en-US" dirty="0"/>
              <a:t>面对强敌：项羽正面硬刚，破釜沉舟；刘邦绕开硬仗，走捷径。</a:t>
            </a:r>
          </a:p>
          <a:p>
            <a:r>
              <a:rPr lang="zh-CN" altLang="en-US" dirty="0"/>
              <a:t>面对盟友：项羽猜忌打压，分封时处处防备；刘邦拉拢结盟，韩信、彭越、英布一个个收编。</a:t>
            </a:r>
          </a:p>
          <a:p>
            <a:r>
              <a:rPr lang="zh-CN" altLang="en-US" dirty="0"/>
              <a:t>面对危机：项羽情绪化，宴席上把曹无伤卖了；刘邦极度冷静，装孙子、示弱、跑路不丢人。</a:t>
            </a:r>
          </a:p>
          <a:p>
            <a:r>
              <a:rPr lang="zh-CN" altLang="en-US" dirty="0"/>
              <a:t>面对功劳：项羽想的是「有功之人要控制」；刘邦想的是「有功之人要重用」。</a:t>
            </a:r>
          </a:p>
          <a:p>
            <a:r>
              <a:rPr lang="zh-CN" altLang="en-US" dirty="0"/>
              <a:t>面对失败：项羽说「天亡我，非战之罪也」——怪老天；刘邦先找自己的问题。</a:t>
            </a:r>
          </a:p>
          <a:p>
            <a:r>
              <a:rPr lang="zh-CN" altLang="en-US" dirty="0"/>
              <a:t>最后看用人：项羽任人唯亲，项伯、项庄都是自家人；刘邦唯才是举——张良是韩国贵族、陈平是叛将、韩信是个 nobody。</a:t>
            </a:r>
          </a:p>
          <a:p>
            <a:r>
              <a:rPr lang="zh-CN" altLang="en-US" dirty="0"/>
              <a:t>同一件事，两种活法。项羽赢在武力，刘邦赢在脑子。但说到底，项羽输在性格，刘邦赢在能屈能伸。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好，来看另外三个人。</a:t>
            </a:r>
          </a:p>
          <a:p>
            <a:r>
              <a:rPr lang="zh-CN" altLang="en-US" dirty="0"/>
              <a:t>首先是项伯。这个人很有意思，早年杀人被通缉，靠张良救命。后来他深夜潜入刘邦营帐，最初只是想拉张良一起走——注意，这时候他还没想背叛项羽。但刘邦一见他，立刻「奉卮酒为寿，约为婚姻」，给他灌迷魂汤。在乱世里，这等于给项伯买了一份政治保险。加上项伯缺乏政治远见，真信了刘邦「秋毫无犯」的说辞，认为杀有功之臣「不义」，于是一步步站到了刘邦一边。他一生都在做「好人」，却从没想过「好人」在这个乱世里到底意味着什么。简单说：报恩、联姻、自认主持公道。</a:t>
            </a:r>
          </a:p>
          <a:p>
            <a:r>
              <a:rPr lang="zh-CN" altLang="en-US" dirty="0"/>
              <a:t>然后是曹无伤。这个人就是典型的乱世投机者。项羽四十万压境，刘邦只有十万，他一眼看出绝对劣势，想给自己留后路，去项羽那里谋前程，于是冒险告密。他的话极毒——专挑「欲王关中」这句戳项羽逆鳞的点。但他犯了个致命错误：他以为项羽会欣赏一个来投奔的叛徒，却不知自己在对方眼里，只是一枚随时可以丢弃的棋子。结果呢？一回霸上，刘邦立诛杀曹无伤。投机者最大的错误，就是选错了庄家。</a:t>
            </a:r>
          </a:p>
          <a:p>
            <a:r>
              <a:rPr lang="zh-CN" altLang="en-US" dirty="0"/>
              <a:t>最后是张良——这位才是真正的全场 MVP。项伯深夜来报，他第一时间转告刘邦；替刘邦拟定谦卑说辞，精准踩中项羽吃软不吃硬的性格；危急时算准时机召樊哙闯帐；刘邦脱身后，还是他留下周旋善后。整套流程环环相扣，没有一步是偶然的。他极其了解对手，底色是一个「冷」字。没有张良，鸿门宴上刘邦未必能活着走出去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好，进入第四部分——越考究，越有味道。</a:t>
            </a:r>
          </a:p>
          <a:p>
            <a:r>
              <a:rPr lang="zh-CN" altLang="en-US" dirty="0"/>
              <a:t>三个细节，一处地图，还有五条辟谣。这部分可能有点硬核，但相信我，听完你会对鸿门宴有完全不同的理解。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先看座次。《史记》原文是：「项王、项伯东向坐，亚父南向坐，沛公北向坐，张良西向侍。」</a:t>
            </a:r>
          </a:p>
          <a:p>
            <a:r>
              <a:rPr lang="zh-CN" altLang="en-US" dirty="0"/>
              <a:t>翻译一下：项羽坐东面西——最尊贵的位子；范增坐南面北——次尊；刘邦坐北面南——臣子的位子；张良坐西面东——伺候人的位子。</a:t>
            </a:r>
          </a:p>
          <a:p>
            <a:r>
              <a:rPr lang="zh-CN" altLang="en-US" dirty="0"/>
              <a:t>你们看，一个座位就把主臣关系写得明明白白。项羽虽然嘴上说不杀，但座位还是把你放在臣子的位置上——这是一种姿态，也是一种试探。而刘邦呢？老老实实坐了臣位，进一步证明「我没有野心」。更讽刺的是：该出手的人不出手，该坐高位的人乖乖坐着。</a:t>
            </a:r>
          </a:p>
          <a:p>
            <a:r>
              <a:rPr lang="zh-CN" altLang="en-US" dirty="0"/>
              <a:t>再看分餐制——汉代没有圆桌聚餐，每人一张矮案、一套食具，跪坐而食。所以如果拍鸿门宴，摆一张大圆桌就完全错了。</a:t>
            </a:r>
          </a:p>
          <a:p>
            <a:r>
              <a:rPr lang="zh-CN" altLang="en-US" dirty="0"/>
              <a:t>最后看距离——鸿门到刘邦驻军的霸上，不过四十里。四十里，就是刘邦命悬一线的生死距离。他跑回去的时候弃车骑马抄小路狂奔，说明他是真的怕项羽反悔。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好，辟谣时间。</a:t>
            </a:r>
          </a:p>
          <a:p>
            <a:r>
              <a:rPr lang="zh-CN" altLang="en-US" dirty="0"/>
              <a:t>第一条——很多人以为鸿门宴上有韩信持戟护卫刘邦，这是错的。</a:t>
            </a:r>
          </a:p>
          <a:p>
            <a:r>
              <a:rPr lang="zh-CN" altLang="en-US" dirty="0"/>
              <a:t>《史记·项羽本纪》里，鸿门宴的核心武将只有项庄、项伯、樊哙，全无韩信救主的记载。韩信当时确实做过「郎中」，但没受重用，后来才投奔刘邦。</a:t>
            </a:r>
          </a:p>
          <a:p>
            <a:r>
              <a:rPr lang="zh-CN" altLang="en-US" dirty="0"/>
              <a:t>把他塞进鸿门宴，是后世演绎——因为他太有名，观众需要「熟人」。分清楚这一点，反而显得严谨。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第二条——陈平给两边倒酒？这也是影视剧编的。</a:t>
            </a:r>
          </a:p>
          <a:p>
            <a:r>
              <a:rPr lang="zh-CN" altLang="en-US" dirty="0"/>
              <a:t>戏里他端茶斟酒，给项羽倒满、给刘邦少倒，暗示他「早就看穿项羽要黄」。</a:t>
            </a:r>
          </a:p>
          <a:p>
            <a:r>
              <a:rPr lang="zh-CN" altLang="en-US" dirty="0"/>
              <a:t>但翻遍《史记》，陈平在鸿门宴上只有一个镜头：刘邦跑了之后，「项王使都尉陈平召沛公」——是项羽派他去叫刘邦回来的。</a:t>
            </a:r>
          </a:p>
          <a:p>
            <a:r>
              <a:rPr lang="zh-CN" altLang="en-US" dirty="0"/>
              <a:t>倒酒那段？那是导演的艺术加工。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第三条——很多成语其实不属于鸿门宴。</a:t>
            </a:r>
          </a:p>
          <a:p>
            <a:r>
              <a:rPr lang="zh-CN" altLang="en-US" dirty="0"/>
              <a:t>「破釜沉舟」「作壁上观」出自巨鹿之战；「约法三章」出自刘邦入咸阳；「沐猴而冠」「锦衣夜行」讽的是项羽回国。</a:t>
            </a:r>
          </a:p>
          <a:p>
            <a:r>
              <a:rPr lang="zh-CN" altLang="en-US" dirty="0"/>
              <a:t>它们都是这场大戏的前后背景，不是饭桌上的产物。分清楚，反而显得严谨。</a:t>
            </a:r>
          </a:p>
          <a:p>
            <a:r>
              <a:rPr lang="zh-CN" altLang="en-US" dirty="0"/>
              <a:t>那鸿门宴真正贡献了哪些成语呢？「项庄舞剑，意在沛公」「人为刀俎，我为鱼肉」「大行不顾细谨，大礼不辞小让」，还有「劳苦功高」「秋毫无犯」「竖子不足与谋」——这些才是。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第四条——项羽挖了秦始皇陵？这个更扯。</a:t>
            </a:r>
          </a:p>
          <a:p>
            <a:r>
              <a:rPr lang="zh-CN" altLang="en-US" dirty="0"/>
              <a:t>地面宫殿和陪葬坑确实被烧了，但地宫完全不是那么回事：地宫封土夯土层完整无缺；物探还发现了强汞异常区，这反过来证明地宫至今是密闭的。</a:t>
            </a:r>
          </a:p>
          <a:p>
            <a:r>
              <a:rPr lang="zh-CN" altLang="en-US" dirty="0"/>
              <a:t>再看深度——地宫深埋三十多米，四周还有约四米厚的宫墙。以当时的技术，几乎不可能挖开。</a:t>
            </a:r>
          </a:p>
          <a:p>
            <a:r>
              <a:rPr lang="zh-CN" altLang="en-US" dirty="0"/>
              <a:t>所以「盗掘」之说，更多是政治宣传与后世渲染。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最后多一条——「鸿门」到底在哪里？</a:t>
            </a:r>
          </a:p>
          <a:p>
            <a:r>
              <a:rPr lang="zh-CN" altLang="en-US" dirty="0"/>
              <a:t>传统说法在今陕西临潼东。好处是离霸上近，约四十里，符合《史记》的记载；而且今天临潼有「鸿门宴遗址」的碑刻可考。</a:t>
            </a:r>
          </a:p>
          <a:p>
            <a:r>
              <a:rPr lang="zh-CN" altLang="en-US" dirty="0"/>
              <a:t>但也有学者认为在华阴一带。理由也说得通：华阴在函谷关以东，更符合「鸿门」作为军事要冲的定位。</a:t>
            </a:r>
          </a:p>
          <a:p>
            <a:r>
              <a:rPr lang="zh-CN" altLang="en-US" dirty="0"/>
              <a:t>这个地理争议不影响故事主线，但作为考据党，知道有两种说法，会显得你很专业。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好，进入最后一部分——一桌饭的千年回响。</a:t>
            </a:r>
          </a:p>
          <a:p>
            <a:r>
              <a:rPr lang="zh-CN" altLang="en-US" dirty="0"/>
              <a:t>这顿饭吃出了两千年的成语、诗，还有一座可以实地探访的遗址。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在讲成语和诗之前，我想插一页——鸿门宴之后发生了什么。因为这顿饭放走了刘邦，接下来四年彻底改变了天下格局。</a:t>
            </a:r>
          </a:p>
          <a:p>
            <a:r>
              <a:rPr lang="zh-CN" altLang="en-US" dirty="0"/>
              <a:t>鸿门宴后，项羽分封十八路诸侯，自封霸王，把刘邦赶到巴蜀。看似赢了，实则埋下祸根——分封不公，诸侯不满。</a:t>
            </a:r>
          </a:p>
          <a:p>
            <a:r>
              <a:rPr lang="zh-CN" altLang="en-US" dirty="0"/>
              <a:t>同年八月，刘邦「明修栈道，暗度陈仓」，奇袭三秦，三个月拿下关中。注意，关中就是两年前那纸约定里说的「关中王」的地盘——刘邦用一年时间，把两年前失去的补回来了。</a:t>
            </a:r>
          </a:p>
          <a:p>
            <a:r>
              <a:rPr lang="zh-CN" altLang="en-US" dirty="0"/>
              <a:t>然后是彭城之战：刘邦五十六万对项羽三万，被闪电战击溃。</a:t>
            </a:r>
          </a:p>
          <a:p>
            <a:r>
              <a:rPr lang="zh-CN" altLang="en-US" dirty="0"/>
              <a:t>再到垓下之战：十面埋伏，四面楚歌，项羽乌江自刎。</a:t>
            </a:r>
          </a:p>
          <a:p>
            <a:r>
              <a:rPr lang="zh-CN" altLang="en-US" dirty="0"/>
              <a:t>四年，从鸿门宴到垓下，仅仅四年。回头看那顿饭：那一剑没有落下，放走的从来不只是刘邦一条性命，而是一个未来王朝的命数。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好，来看这顿饭留下的文化遗产。</a:t>
            </a:r>
          </a:p>
          <a:p>
            <a:r>
              <a:rPr lang="zh-CN" altLang="en-US" dirty="0"/>
              <a:t>先从成语开始。「鸿门宴」这个词本身就成了成语——比喻不怀好意的宴请。「项庄舞剑，意在沛公」——表面做这事，实则另有所图。「人为刀俎，我为鱼肉」——生死操于人手。这几个大家都熟。</a:t>
            </a:r>
          </a:p>
          <a:p>
            <a:r>
              <a:rPr lang="zh-CN" altLang="en-US" dirty="0"/>
              <a:t>但有一个成语，大家可能不知道出处——「大行不顾细谨，大礼不辞小让」。你们知道这句话是谁说的吗？是张良说的。什么时候说的？刘邦准备偷偷跑路的时候。张良说「做大事不拘小节」，翻译一下就是：别跟项羽辞行了，赶紧跑！</a:t>
            </a:r>
          </a:p>
          <a:p>
            <a:r>
              <a:rPr lang="zh-CN" altLang="en-US" dirty="0"/>
              <a:t>所以这个成语的背后，其实是一份「逃命指南」。</a:t>
            </a:r>
          </a:p>
          <a:p>
            <a:r>
              <a:rPr lang="zh-CN" altLang="en-US" dirty="0"/>
              <a:t>再看诗。真正写鸿门宴的传世诗几乎没有，名篇多是后人咏项羽乌江自刎。杜牧说「江东子弟多才俊，卷土重来未可知」——假设式翻案；王安石回怼：「江东子弟今虽在，肯与君王卷土来」——理性派说，大势已去；李清照最热血：「生当作人杰，死亦为鬼雄」——颂其气节。</a:t>
            </a:r>
          </a:p>
          <a:p>
            <a:r>
              <a:rPr lang="zh-CN" altLang="en-US" dirty="0"/>
              <a:t>读诗即是读人心：每个人心里，都住着一个不同的项羽。</a:t>
            </a:r>
          </a:p>
          <a:p>
            <a:r>
              <a:rPr lang="zh-CN" altLang="en-US" dirty="0"/>
              <a:t>最后，鸿门宴故地在今陕西临潼，有遗址可探访，可以和兵马俑、华清宫串成一条线。去现场走一遍，会觉得历史特别真实。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好，最后做一个思想实验：如果项羽当天杀了刘邦，历史会怎样？</a:t>
            </a:r>
          </a:p>
          <a:p>
            <a:r>
              <a:rPr lang="zh-CN" altLang="en-US" dirty="0"/>
              <a:t>短期看，项羽可能确实能稳住局势。但没有刘邦，还会有别的「刘邦」——有实力的诸侯不会甘心被一个霸王分封。项羽最大的问题不是杀不杀刘邦，而是他的整套逻辑已经跟不上时代了：他坚持分封制、坚持贵族政治、坚持「堂堂正正」的战争规则——而这些，在群雄并起的乱世里，注定要被更灵活、更务实的人击败。</a:t>
            </a:r>
          </a:p>
          <a:p>
            <a:r>
              <a:rPr lang="zh-CN" altLang="en-US" dirty="0"/>
              <a:t>换句话说，就算没有刘邦，也会有另一个「刘邦」出现。项羽输的不是某一场比赛，而是他代表的那个时代。</a:t>
            </a:r>
          </a:p>
          <a:p>
            <a:r>
              <a:rPr lang="zh-CN" altLang="en-US" dirty="0"/>
              <a:t>但这不妨碍我们惋惜——惋惜那个破釜沉舟的霸王，惋惜那把始终没有落下的剑，惋惜一种已经不合时宜的高贵。</a:t>
            </a:r>
          </a:p>
          <a:p>
            <a:r>
              <a:rPr lang="zh-CN" altLang="en-US" dirty="0"/>
              <a:t>一个输在了不肯低头，一个赢在了能屈能伸。项羽要的是面子和天下共主的排场，刘邦要的是活下去和最后的天下。读懂这桌饭，也就读懂了成王败寇背后，那点关于性格、选择与代价的永恒道理。</a:t>
            </a:r>
          </a:p>
          <a:p>
            <a:r>
              <a:rPr lang="zh-CN" altLang="en-US" dirty="0"/>
              <a:t>感谢收看本期视频，如果觉得内容有用，点个赞关注一下，我们下期再见。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Relationship Id="rIdNotes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Relationship Id="rIdNotes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Notes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2" Type="http://schemas.openxmlformats.org/officeDocument/2006/relationships/image" Target="media/image15.svg" /><Relationship Id="rIdNotes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Notes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Notes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Relationship Id="rIdNotes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Relationship Id="rIdNotes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Relationship Id="rIdNotes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Notes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7.svg" /><Relationship Id="rIdNotes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Notes1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Notes1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Relationship Id="rIdNotes1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1" Type="http://schemas.openxmlformats.org/officeDocument/2006/relationships/notesSlide" Target="../notesSlides/notesSlide3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notes={`各位好，欢迎来到本期视频。咱们今天讲的这个故事，发生在公元前206年的冬天，地点叫鸿门。&#13;&#10;&#13;&#10;四十万对十万，一场饭局，从头到尾没动几筷菜——但就是这顿饭，定了此后四年楚汉相争的走向，甚至定了大汉四百年的国运。你们可能觉得夸张，但听完这一期，你会明白这不是夸张。&#13;&#10;&#13;&#10;先卖个关子：鸿门宴上最危险的时刻，不是大家熟知的项庄舞剑，而是项羽突然说了一句话，差点让刘邦当场翻盘。这个悬念咱们后面会讲到，先来看看杀机是怎么来的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538, top: 0, width: 742, height: 720, overflow: 'hidden' }}&gt;&#13;&#10;    &lt;Image src=&quot;assets/cover_banquet.png&quot; style={{ width: '100%', height: '100%', objectFit: 'cover' }} /&gt;&#13;&#10;    &lt;Box style={{ position: 'absolute', left: 0, top: 0, width: 742, height: 720, background: 'rgba(44,44,42,0.10)' }} /&gt;&#13;&#10;    &lt;Box style={{ position: 'absolute', left: 0, top: 0, width: 190, height: 720, background: 'linear-gradient(90deg, #F6F2E7 0%, rgba(246,242,231,0) 100%)' }} /&gt;&#13;&#10;  &lt;/Box&gt;&#13;&#10;&#13;&#10;  &lt;Box style={{ position: 'absolute', left: 64, top: 0, width: 448, height: 720, display: 'flex', flexDirection: 'column', justifyContent: 'center' }}&gt;&#13;&#10;    &lt;Box style={{ display: 'flex', flexDirection: 'row', alignItems: 'center', gap: 12 }}&gt;&#13;&#10;      &lt;Box style={{ width: 22, height: 22, background: '#A32D2D' }} /&gt;&#13;&#10;      &lt;Text style={{ fontSize: 16, letterSpacing: 3, color: 'rgba(44,44,42,0.62)', fontFamily: 'Microsoft YaHei' }}&gt;公元前 206 年 · 冬 · 鸿门&lt;/Text&gt;&#13;&#10;    &lt;/Box&gt;&#13;&#10;    &lt;Text style={{ fontSize: 72, fontWeight: 'bold', color: '#2C2C2A', letterSpacing: 8, lineHeight: 1.15, fontFamily: 'STZhongsong', marginTop: 22 }}&gt;鸿门宴&lt;/Text&gt;&#13;&#10;    &lt;Box style={{ width: 56, height: 3, background: '#BA7517', marginTop: 20 }} /&gt;&#13;&#10;    &lt;Text style={{ fontSize: 24, color: '#2C2C2A', letterSpacing: 2, lineHeight: 1.5, marginTop: 20, fontFamily: 'STZhongsong' }}&gt;一场饭局里的天下、人心与千秋&lt;/Text&gt;&#13;&#10;    &lt;Text style={{ fontSize: 16, color: 'rgba(44,44,42,0.62)', lineHeight: 1.9, marginTop: 16, fontFamily: 'Microsoft YaHei' }}&gt;&#13;&#10;      四十万对十万的一桌饭，从头到尾没动几筷菜，&lt;br /&gt;却定了此后四年楚汉相争的走向，&lt;br /&gt;与大汉四百年的国运。&#13;&#10;    &lt;/Text&gt;&#13;&#10;    &lt;Box style={{ marginTop: 24, borderLeft: '3px solid #A32D2D', background: 'rgba(163,45,45,0.06)', padding: '14px 16px' }}&gt;&#13;&#10;      &lt;Text style={{ fontSize: 12, letterSpacing: 2, color: '#A32D2D', fontFamily: 'Microsoft YaHei', fontWeight: 'bold' }}&gt;悬念 · 开篇&lt;/Text&gt;&#13;&#10;      &lt;Text style={{ fontSize: 15, color: 'rgba(44,44,42,0.82)', lineHeight: 1.7, marginTop: 6, fontFamily: 'Microsoft YaHei' }}&gt;&#13;&#10;        最危险的时刻不是项庄舞剑，&lt;br /&gt;而是项羽突然说了一句话，差点让刘邦当场翻盘。&#13;&#10;      &lt;/Text&gt;&#13;&#10;    &lt;/Box&gt;&#13;&#10;    &lt;Box style={{ display: 'flex', flexDirection: 'row', alignItems: 'center', gap: 10, marginTop: 24 }}&gt;&#13;&#10;      &lt;Box style={{ width: 26, height: 1, background: '#D9D3C4' }} /&gt;&#13;&#10;      &lt;Text style={{ fontSize: 15, letterSpacing: 1, color: 'rgba(44,44,42,0.62)', fontFamily: 'Microsoft YaHei' }}&gt;取材 ·《史记 · 项羽本纪》&lt;/Text&gt;&#13;&#10;    &lt;/Box&gt;&#13;&#10;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1"/>
          <a:srcRect l="3302" t="0" r="3302" b="0"/>
          <a:stretch>
            <a:fillRect/>
          </a:stretch>
        </p:blipFill>
        <p:spPr>
          <a:xfrm rot="0" flipH="0" flipV="0">
            <a:off x="5124450" y="0"/>
            <a:ext cx="7067550" cy="68580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5124450" y="0"/>
            <a:ext cx="7067550" cy="6858000"/>
          </a:xfrm>
          <a:prstGeom prst="rect">
            <a:avLst/>
          </a:prstGeom>
          <a:solidFill>
            <a:srgbClr val="2C2C2A">
              <a:alpha val="10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5124450" y="0"/>
            <a:ext cx="1809750" cy="6858000"/>
          </a:xfrm>
          <a:prstGeom prst="rect">
            <a:avLst/>
          </a:prstGeom>
          <a:gradFill>
            <a:gsLst>
              <a:gs pos="0">
                <a:srgbClr val="F6F2E7"/>
              </a:gs>
              <a:gs pos="100000">
                <a:srgbClr val="F6F2E7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609600" y="885825"/>
            <a:ext cx="209550" cy="2095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895350"/>
            <a:ext cx="220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公元前</a:t>
            </a:r>
            <a:r>
              <a:rPr lang="en-US" sz="1200" spc="2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206 </a:t>
            </a:r>
            <a:r>
              <a:rPr lang="zh-CN" sz="1200" spc="2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200" spc="2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2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冬</a:t>
            </a:r>
            <a:r>
              <a:rPr lang="en-US" sz="1200" spc="2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2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1304925"/>
            <a:ext cx="4267200" cy="9525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 spc="600">
                <a:solidFill>
                  <a:srgbClr val="2C2C2A"/>
                </a:solidFill>
                <a:latin typeface="STZhongsong"/>
                <a:ea typeface="STZhongsong"/>
              </a:rPr>
              <a:t>鸿门宴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2447925"/>
            <a:ext cx="53340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42672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spc="150">
                <a:solidFill>
                  <a:srgbClr val="2C2C2A"/>
                </a:solidFill>
                <a:latin typeface="STZhongsong"/>
                <a:ea typeface="STZhongsong"/>
              </a:rPr>
              <a:t>一场饭局里的天下、人心与千秋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42672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四十万对十万的一桌饭，从头到尾没动几筷菜，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却定了此后四年楚汉相争的走向，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与大汉四百年的国运。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38175" y="4514850"/>
            <a:ext cx="4267200" cy="1057275"/>
          </a:xfrm>
          <a:prstGeom prst="rect">
            <a:avLst/>
          </a:prstGeom>
          <a:solidFill>
            <a:srgbClr val="A32D2D">
              <a:alpha val="6000"/>
            </a:srgbClr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609600" y="4514850"/>
            <a:ext cx="4295775" cy="1057275"/>
          </a:xfrm>
          <a:custGeom>
            <a:pathLst>
              <a:path w="451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90575" y="4648200"/>
            <a:ext cx="393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A32D2D"/>
                </a:solidFill>
                <a:latin typeface="Microsoft YaHei"/>
                <a:ea typeface="Microsoft YaHei"/>
              </a:rPr>
              <a:t>悬念</a:t>
            </a:r>
            <a:r>
              <a:rPr lang="en-US" sz="900" b="1" spc="150">
                <a:solidFill>
                  <a:srgbClr val="A32D2D"/>
                </a:solidFill>
                <a:latin typeface="Microsoft YaHei"/>
                <a:ea typeface="Microsoft YaHei"/>
              </a:rPr>
              <a:t> · </a:t>
            </a:r>
            <a:r>
              <a:rPr lang="zh-CN" sz="900" b="1" spc="150">
                <a:solidFill>
                  <a:srgbClr val="A32D2D"/>
                </a:solidFill>
                <a:latin typeface="Microsoft YaHei"/>
                <a:ea typeface="Microsoft YaHei"/>
              </a:rPr>
              <a:t>开篇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90575" y="4848225"/>
            <a:ext cx="39338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最危险的时刻不是项庄舞剑，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而是项羽突然说了一句话，差点让刘邦当场翻盘。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5886450"/>
            <a:ext cx="24765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52500" y="58007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取材</a:t>
            </a:r>
            <a:r>
              <a:rPr lang="en-US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</a:t>
            </a:r>
            <a:r>
              <a:rPr lang="zh-CN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《史记</a:t>
            </a:r>
            <a:r>
              <a:rPr lang="en-US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项羽本纪》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6" name="" descr="&lt;Slide notes={`本期视频分五个部分。第一部分讲杀机从何而来——答案不在酒桌上，而在两年前的一纸约定里。&#13;&#10;&#13;&#10;第二部分是最核心的，酒桌上的生死博弈，四幕戏：示弱、举玦、闯帐、脱身。第三部分看人性，六个人的六种底色。第四部分做考据辟谣，专门拆几个流传很广的「名场面」。最后一部分看这顿饭的两千年回响。&#13;&#10;&#13;&#10;中间我会插一张人物关系图，帮大家理清各方势力，别到时候搞混了谁是谁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96, width: 300, height: 500 }}&gt;&#13;&#10;    &lt;Text style={{ fontSize: 44, fontWeight: 'bold', color: '#2C2C2A', letterSpacing: 6, fontFamily: 'STZhongsong' }}&gt;目 录&lt;/Text&gt;&#13;&#10;    &lt;Box style={{ width: 46, height: 3, background: '#BA7517', marginTop: 20 }} /&gt;&#13;&#10;    &lt;Text style={{ fontSize: 16, color: 'rgba(44,44,42,0.62)', lineHeight: 2.0, marginTop: 26, fontFamily: 'Microsoft YaHei' }}&gt;&#13;&#10;      五章五问：为什么非杀不可，&lt;br /&gt;那夜到底发生了什么，&lt;br /&gt;谁在算谁，哪些细节耐读，&lt;br /&gt;又有哪些场面是后人编的。&#13;&#10;    &lt;/Text&gt;&#13;&#10;    &lt;Text style={{ fontSize: 14, color: 'rgba(44,44,42,0.62)', letterSpacing: 2, marginTop: 30, fontFamily: 'Microsoft YaHei' }}&gt;CONTENTS&lt;/Text&gt;&#13;&#10;  &lt;/Box&gt;&#13;&#10;&#13;&#10;  &lt;Box style={{ position: 'absolute', left: 400, top: 96, width: 816, height: 500, display: 'flex', flexDirection: 'column', justifyContent: 'space-between' }}&gt;&#13;&#10;    &lt;Box style={{ display: 'flex', flexDirection: 'row', alignItems: 'flex-start', gap: 26, paddingBottom: 14, borderBottom: '0.5px solid #D9D3C4' }}&gt;&#13;&#10;      &lt;Text style={{ fontSize: 28, fontWeight: 'bold', color: '#BA7517', fontFamily: 'STZhongsong', width: 52 }}&gt;01&lt;/Text&gt;&#13;&#10;      &lt;Box style={{ flex: 1 }}&gt;&#13;&#10;        &lt;Text style={{ fontSize: 22, fontWeight: 'bold', color: '#2C2C2A', letterSpacing: 1, fontFamily: 'STZhongsong' }}&gt;杀机，早在两年前就已埋下&lt;/Text&gt;&#13;&#10;        &lt;Text style={{ fontSize: 15, color: 'rgba(44,44,42,0.62)', lineHeight: 1.7, marginTop: 6, fontFamily: 'Microsoft YaHei' }}&gt;答案不在酒桌上，而在一纸「先入关中者王之」的约定里。&lt;/Text&gt;&#13;&#10;      &lt;/Box&gt;&#13;&#10;    &lt;/Box&gt;&#13;&#10;    &lt;Box style={{ display: 'flex', flexDirection: 'row', alignItems: 'flex-start', gap: 26, paddingBottom: 14, borderBottom: '0.5px solid #D9D3C4' }}&gt;&#13;&#10;      &lt;Text style={{ fontSize: 28, fontWeight: 'bold', color: '#BA7517', fontFamily: 'STZhongsong', width: 52 }}&gt;02&lt;/Text&gt;&#13;&#10;      &lt;Box style={{ flex: 1 }}&gt;&#13;&#10;        &lt;Text style={{ fontSize: 22, fontWeight: 'bold', color: '#2C2C2A', letterSpacing: 1, fontFamily: 'STZhongsong' }}&gt;酒桌上的生死博弈&lt;/Text&gt;&#13;&#10;        &lt;Text style={{ fontSize: 15, color: 'rgba(44,44,42,0.62)', lineHeight: 1.7, marginTop: 6, fontFamily: 'Microsoft YaHei' }}&gt;四十万对十万，四幕戏：示弱、举玦、闯帐、脱身。&lt;/Text&gt;&#13;&#10;      &lt;/Box&gt;&#13;&#10;    &lt;/Box&gt;&#13;&#10;    &lt;Box style={{ display: 'flex', flexDirection: 'row', alignItems: 'flex-start', gap: 26, paddingBottom: 14, borderBottom: '0.5px solid #D9D3C4' }}&gt;&#13;&#10;      &lt;Text style={{ fontSize: 28, fontWeight: 'bold', color: '#BA7517', fontFamily: 'STZhongsong', width: 52 }}&gt;03&lt;/Text&gt;&#13;&#10;      &lt;Box style={{ flex: 1 }}&gt;&#13;&#10;        &lt;Text style={{ fontSize: 22, fontWeight: 'bold', color: '#2C2C2A', letterSpacing: 1, fontFamily: 'STZhongsong' }}&gt;藏在细节里的人性&lt;/Text&gt;&#13;&#10;        &lt;Text style={{ fontSize: 15, color: 'rgba(44,44,42,0.62)', lineHeight: 1.7, marginTop: 6, fontFamily: 'Microsoft YaHei' }}&gt;项伯、曹无伤、项羽、张良、刘邦、范增——六个人的六种底色。&lt;/Text&gt;&#13;&#10;      &lt;/Box&gt;&#13;&#10;    &lt;/Box&gt;&#13;&#10;    &lt;Box style={{ display: 'flex', flexDirection: 'row', alignItems: 'flex-start', gap: 26, paddingBottom: 14, borderBottom: '0.5px solid #D9D3C4' }}&gt;&#13;&#10;      &lt;Text style={{ fontSize: 28, fontWeight: 'bold', color: '#BA7517', fontFamily: 'STZhongsong', width: 52 }}&gt;04&lt;/Text&gt;&#13;&#10;      &lt;Box style={{ flex: 1 }}&gt;&#13;&#10;        &lt;Text style={{ fontSize: 22, fontWeight: 'bold', color: '#2C2C2A', letterSpacing: 1, fontFamily: 'STZhongsong' }}&gt;越考究，越有味道&lt;/Text&gt;&#13;&#10;        &lt;Text style={{ fontSize: 15, color: 'rgba(44,44,42,0.62)', lineHeight: 1.7, marginTop: 6, fontFamily: 'Microsoft YaHei' }}&gt;座次、分餐与四十里；顺带辟掉四条流传最广的「名场面」。&lt;/Text&gt;&#13;&#10;      &lt;/Box&gt;&#13;&#10;    &lt;/Box&gt;&#13;&#10;    &lt;Box style={{ display: 'flex', flexDirection: 'row', alignItems: 'flex-start', gap: 26 }}&gt;&#13;&#10;      &lt;Text style={{ fontSize: 28, fontWeight: 'bold', color: '#BA7517', fontFamily: 'STZhongsong', width: 52 }}&gt;05&lt;/Text&gt;&#13;&#10;      &lt;Box style={{ flex: 1 }}&gt;&#13;&#10;        &lt;Text style={{ fontSize: 22, fontWeight: 'bold', color: '#2C2C2A', letterSpacing: 1, fontFamily: 'STZhongsong' }}&gt;一桌饭的千年回响&lt;/Text&gt;&#13;&#10;        &lt;Text style={{ fontSize: 15, color: 'rgba(44,44,42,0.62)', lineHeight: 1.7, marginTop: 6, fontFamily: 'Microsoft YaHei' }}&gt;从《史记》成语到咏项羽名篇，再到临潼的那处遗址。&lt;/Text&gt;&#13;&#10;      &lt;/Box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02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2857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 spc="450">
                <a:solidFill>
                  <a:srgbClr val="2C2C2A"/>
                </a:solidFill>
                <a:latin typeface="STZhongsong"/>
                <a:ea typeface="STZhongsong"/>
              </a:rPr>
              <a:t>目</a:t>
            </a:r>
            <a:r>
              <a:rPr lang="en-US" sz="3300" b="1" spc="450">
                <a:solidFill>
                  <a:srgbClr val="2C2C2A"/>
                </a:solidFill>
                <a:latin typeface="STZhongsong"/>
                <a:ea typeface="STZhongsong"/>
              </a:rPr>
              <a:t> </a:t>
            </a:r>
            <a:r>
              <a:rPr lang="zh-CN" sz="3300" b="1" spc="450">
                <a:solidFill>
                  <a:srgbClr val="2C2C2A"/>
                </a:solidFill>
                <a:latin typeface="STZhongsong"/>
                <a:ea typeface="STZhongsong"/>
              </a:rPr>
              <a:t>录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09600" y="1609725"/>
            <a:ext cx="43815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2857500" cy="146685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五章五问：为什么非杀不可，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那夜到底发生了什么，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谁在算谁，哪些细节耐读，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又有哪些场面是后人编的。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36385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3810000" y="914400"/>
            <a:ext cx="7772400" cy="762000"/>
          </a:xfrm>
          <a:custGeom>
            <a:pathLst>
              <a:path w="816" h="80">
                <a:moveTo>
                  <a:pt x="0" y="80"/>
                </a:moveTo>
                <a:lnTo>
                  <a:pt x="816" y="80"/>
                </a:lnTo>
                <a:lnTo>
                  <a:pt x="816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810000" y="914400"/>
            <a:ext cx="495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BA7517"/>
                </a:solidFill>
                <a:latin typeface="STZhongsong"/>
                <a:ea typeface="STZhongsong"/>
              </a:rPr>
              <a:t>01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552950" y="914400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2C2C2A"/>
                </a:solidFill>
                <a:latin typeface="STZhongsong"/>
                <a:ea typeface="STZhongsong"/>
              </a:rPr>
              <a:t>杀机，早在两年前就已埋下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552950" y="1228725"/>
            <a:ext cx="70294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答案不在酒桌上，而在一纸「先入关中者王之」的约定里。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3810000" y="1952625"/>
            <a:ext cx="7772400" cy="762000"/>
          </a:xfrm>
          <a:custGeom>
            <a:pathLst>
              <a:path w="816" h="80">
                <a:moveTo>
                  <a:pt x="0" y="80"/>
                </a:moveTo>
                <a:lnTo>
                  <a:pt x="816" y="80"/>
                </a:lnTo>
                <a:lnTo>
                  <a:pt x="816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0" y="1952625"/>
            <a:ext cx="495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BA7517"/>
                </a:solidFill>
                <a:latin typeface="STZhongsong"/>
                <a:ea typeface="STZhongsong"/>
              </a:rPr>
              <a:t>02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552950" y="1952625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2C2C2A"/>
                </a:solidFill>
                <a:latin typeface="STZhongsong"/>
                <a:ea typeface="STZhongsong"/>
              </a:rPr>
              <a:t>酒桌上的生死博弈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552950" y="2266950"/>
            <a:ext cx="70294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四十万对十万，四幕戏：示弱、举玦、闯帐、脱身。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810000" y="2990850"/>
            <a:ext cx="7772400" cy="762000"/>
          </a:xfrm>
          <a:custGeom>
            <a:pathLst>
              <a:path w="816" h="80">
                <a:moveTo>
                  <a:pt x="0" y="80"/>
                </a:moveTo>
                <a:lnTo>
                  <a:pt x="816" y="80"/>
                </a:lnTo>
                <a:lnTo>
                  <a:pt x="816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3810000" y="2990850"/>
            <a:ext cx="495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BA7517"/>
                </a:solidFill>
                <a:latin typeface="STZhongsong"/>
                <a:ea typeface="STZhongsong"/>
              </a:rPr>
              <a:t>03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552950" y="2990850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2C2C2A"/>
                </a:solidFill>
                <a:latin typeface="STZhongsong"/>
                <a:ea typeface="STZhongsong"/>
              </a:rPr>
              <a:t>藏在细节里的人性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552950" y="3305175"/>
            <a:ext cx="70294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项伯、曹无伤、项羽、张良、刘邦、范增——六个人的六种底色。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810000" y="4029075"/>
            <a:ext cx="7772400" cy="762000"/>
          </a:xfrm>
          <a:custGeom>
            <a:pathLst>
              <a:path w="816" h="80">
                <a:moveTo>
                  <a:pt x="0" y="80"/>
                </a:moveTo>
                <a:lnTo>
                  <a:pt x="816" y="80"/>
                </a:lnTo>
                <a:lnTo>
                  <a:pt x="816" y="80"/>
                </a:lnTo>
                <a:lnTo>
                  <a:pt x="0" y="80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810000" y="4029075"/>
            <a:ext cx="495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BA7517"/>
                </a:solidFill>
                <a:latin typeface="STZhongsong"/>
                <a:ea typeface="STZhongsong"/>
              </a:rPr>
              <a:t>04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552950" y="4029075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2C2C2A"/>
                </a:solidFill>
                <a:latin typeface="STZhongsong"/>
                <a:ea typeface="STZhongsong"/>
              </a:rPr>
              <a:t>越考究，越有味道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552950" y="4343400"/>
            <a:ext cx="70294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座次、分餐与四十里；顺带辟掉四条流传最广的「名场面」。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3810000" y="5067300"/>
            <a:ext cx="495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BA7517"/>
                </a:solidFill>
                <a:latin typeface="STZhongsong"/>
                <a:ea typeface="STZhongsong"/>
              </a:rPr>
              <a:t>05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552950" y="5067300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2C2C2A"/>
                </a:solidFill>
                <a:latin typeface="STZhongsong"/>
                <a:ea typeface="STZhongsong"/>
              </a:rPr>
              <a:t>一桌饭的千年回响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552950" y="5381625"/>
            <a:ext cx="70294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从《史记》成语到咏项羽名篇，再到临潼的那处遗址。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02 / 32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10" name="" descr="&lt;Slide notes={`好，进入第一部分。杀机，早在两年前就已埋下。&#13;&#10;&#13;&#10;注意我说的「两年前」——鸿门宴发生在公元前206年，往前推两年，是公元前208年，也就是巨鹿之战的那一年。&#13;&#10;&#13;&#10;一切的答案，不在酒桌上，而在两年前的一纸约定里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420, top: 0, width: 860, height: 720, overflow: 'hidden' }}&gt;&#13;&#10;    &lt;Image src=&quot;assets/scene_deal.png&quot; style={{ width: '100%', height: '100%', objectFit: 'cover', opacity: 0.26 }} /&gt;&#13;&#10;    &lt;Box style={{ position: 'absolute', left: 0, top: 0, width: 860, height: 720, background: 'linear-gradient(90deg, #F6F2E7 0%, rgba(246,242,231,0) 40%)' }} /&gt;&#13;&#10;  &lt;/Box&gt;&#13;&#10;&#13;&#10;  &lt;Box style={{ position: 'absolute', left: 13, top: 0, width: 407, height: 720, background: '#2C2C2A', padding: '52px 44px 48px 44px', display: 'flex', flexDirection: 'column' }}&gt;&#13;&#10;    &lt;Text style={{ fontSize: 104, fontWeight: 'bold', color: '#BA7517', lineHeight: 1.0, fontFamily: 'STZhongsong', letterSpacing: 2 }}&gt;01&lt;/Text&gt;&#13;&#10;    &lt;Box style={{ width: 46, height: 3, background: '#A32D2D', marginTop: 26 }} /&gt;&#13;&#10;    &lt;Text style={{ fontSize: 50, fontWeight: 'bold', color: '#F6F2E7', lineHeight: 1.3, letterSpacing: 3, marginTop: 28, fontFamily: 'STZhongsong' }}&gt;杀机，早在两年前就已埋下&lt;/Text&gt;&#13;&#10;    &lt;Box style={{ marginTop: 'auto' }}&gt;&#13;&#10;      &lt;Text style={{ fontSize: 15, color: 'rgba(246,242,231,0.62)', letterSpacing: 2, lineHeight: 1.9, fontFamily: 'Microsoft YaHei' }}&gt;一纸约定 · 一次抢先&lt;br /&gt;一腔不甘 · 一根导火索&lt;/Text&gt;&#13;&#10;    &lt;/Box&gt;&#13;&#10;  &lt;/Box&gt;&#13;&#10;&#13;&#10;  &lt;Box style={{ position: 'absolute', left: 492, top: 0, width: 640, height: 720, display: 'flex', flexDirection: 'column', justifyContent: 'center' }}&gt;&#13;&#10;    &lt;Box style={{ display: 'flex', flexDirection: 'row', gap: 22, alignItems: 'stretch' }}&gt;&#13;&#10;      &lt;Box style={{ width: 3, background: '#BA7517', opacity: 0.85 }} /&gt;&#13;&#10;      &lt;Text style={{ fontSize: 30, color: '#2C2C2A', lineHeight: 1.75, letterSpacing: 2, fontFamily: 'STZhongsong' }}&gt;&#13;&#10;        答案不在酒桌上，&lt;br /&gt;而在两年前的一纸约定里。&#13;&#10;      &lt;/Text&gt;&#13;&#10;    &lt;/Box&gt;&#13;&#10;    &lt;Text style={{ fontSize: 16, color: 'rgba(44,44,42,0.62)', lineHeight: 2.0, marginTop: 34, fontFamily: 'Microsoft YaHei' }}&gt;&#13;&#10;      名分与实力的错位，才是这场杀机的第一层。&#13;&#10;    &lt;/Text&gt;&#13;&#10;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712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13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pic>
        <p:nvPicPr>
          <p:cNvPr id="714" name=""/>
          <p:cNvPicPr>
            <a:picLocks noChangeAspect="1"/>
          </p:cNvPicPr>
          <p:nvPr/>
        </p:nvPicPr>
        <p:blipFill>
          <a:blip r:embed="rId1">
            <a:alphaModFix amt="26000"/>
          </a:blip>
          <a:srcRect l="13917" t="0" r="13917" b="0"/>
          <a:stretch>
            <a:fillRect/>
          </a:stretch>
        </p:blipFill>
        <p:spPr>
          <a:xfrm rot="0" flipH="0" flipV="0">
            <a:off x="4000500" y="0"/>
            <a:ext cx="8191500" cy="6858000"/>
          </a:xfrm>
          <a:prstGeom prst="rect">
            <a:avLst/>
          </a:prstGeom>
          <a:ln/>
        </p:spPr>
      </p:pic>
      <p:sp>
        <p:nvSpPr>
          <p:cNvPr id="715" name=""/>
          <p:cNvSpPr/>
          <p:nvPr/>
        </p:nvSpPr>
        <p:spPr>
          <a:xfrm rot="0" flipH="0" flipV="0">
            <a:off x="4000500" y="0"/>
            <a:ext cx="8191500" cy="6858000"/>
          </a:xfrm>
          <a:prstGeom prst="rect">
            <a:avLst/>
          </a:prstGeom>
          <a:gradFill>
            <a:gsLst>
              <a:gs pos="0">
                <a:srgbClr val="F6F2E7"/>
              </a:gs>
              <a:gs pos="40000">
                <a:srgbClr val="F6F2E7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16" name=""/>
          <p:cNvSpPr/>
          <p:nvPr/>
        </p:nvSpPr>
        <p:spPr>
          <a:xfrm rot="0" flipH="0" flipV="0">
            <a:off x="123825" y="0"/>
            <a:ext cx="3876675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542925" y="495300"/>
            <a:ext cx="303847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 spc="150">
                <a:solidFill>
                  <a:srgbClr val="BA7517"/>
                </a:solidFill>
                <a:latin typeface="STZhongsong"/>
                <a:ea typeface="STZhongsong"/>
              </a:rPr>
              <a:t>01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542925" y="1933575"/>
            <a:ext cx="438150" cy="28575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542925" y="2228850"/>
            <a:ext cx="3038475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3750" b="1" spc="225">
                <a:solidFill>
                  <a:srgbClr val="F6F2E7"/>
                </a:solidFill>
                <a:latin typeface="STZhongsong"/>
                <a:ea typeface="STZhongsong"/>
              </a:rPr>
              <a:t>杀机，早在两年前就已埋下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542925" y="5743575"/>
            <a:ext cx="3038475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一纸约定</a:t>
            </a:r>
            <a:r>
              <a:rPr lang="en-US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一次抢先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一腔不甘</a:t>
            </a:r>
            <a:r>
              <a:rPr lang="en-US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一根导火索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4924425" y="2486025"/>
            <a:ext cx="3657600" cy="12001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2250" spc="150">
                <a:solidFill>
                  <a:srgbClr val="2C2C2A"/>
                </a:solidFill>
                <a:latin typeface="STZhongsong"/>
                <a:ea typeface="STZhongsong"/>
              </a:rPr>
              <a:t>答案不在酒桌上，</a:t>
            </a:r>
            <a:endParaRPr/>
          </a:p>
          <a:p>
            <a:pPr>
              <a:lnSpc>
                <a:spcPct val="175000"/>
              </a:lnSpc>
            </a:pPr>
            <a:r>
              <a:rPr lang="zh-CN" sz="2250" spc="150">
                <a:solidFill>
                  <a:srgbClr val="2C2C2A"/>
                </a:solidFill>
                <a:latin typeface="STZhongsong"/>
                <a:ea typeface="STZhongsong"/>
              </a:rPr>
              <a:t>而在两年前的一纸约定里。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686300" y="4010025"/>
            <a:ext cx="6096000" cy="3714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名分与实力的错位，才是这场杀机的第一层。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4686300" y="2486025"/>
            <a:ext cx="28575" cy="120015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21" name="" descr="&lt;Slide notes={`先把约定说清楚：楚怀王跟诸将约定，谁先攻入关中、拿下咸阳，谁就做关中王——这是整场矛盾的名分依据。&#13;&#10;&#13;&#10;然后看两条路走法的天壤之别。项羽走北路，巨鹿破釜沉舟，跟秦军主力死磕，九死一生，路远仗难，是当时全军威名最盛的人。刘邦走南路，走武关道西进，一路招降纳叛、秋毫无犯，几乎是抄了一条捷径，兵不血刃先进了咸阳——封府库、约法三章、退军霸上，安安静静等兑现承诺。&#13;&#10;&#13;&#10;明面上一视同仁，骨子里对项羽并不公平。这就是杀机的第一层：名分与实力的错位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一纸约定，两种命运&lt;/Text&gt;&#13;&#10;    &lt;Text style={{ fontSize: 14, color: 'rgba(44,44,42,0.45)', letterSpacing: 2, fontFamily: 'Microsoft YaHei', marginLeft: 8 }}&gt;第一章 · 杀机从何而来&lt;/Text&gt;&#13;&#10;  &lt;/Box&gt;&#13;&#10;&#13;&#10;  &lt;Box style={{ position: 'absolute', left: 64, top: 120, width: 460, height: 540, overflow: 'hidden' }}&gt;&#13;&#10;    &lt;Image src=&quot;assets/scene_deal.png&quot; style={{ width: '100%', height: '100%', objectFit: 'cover' }} /&gt;&#13;&#10;    &lt;Box style={{ position: 'absolute', left: 0, bottom: 0, width: 460, height: 96, background: 'linear-gradient(180deg, rgba(44,44,42,0) 0%, rgba(44,44,42,0.78) 100%)' }} /&gt;&#13;&#10;    &lt;Text style={{ position: 'absolute', left: 24, bottom: 26, fontSize: 15, color: '#F6F2E7', letterSpacing: 2, fontFamily: 'Microsoft YaHei' }}&gt;秦末 · 楚军大帐&lt;/Text&gt;&#13;&#10;  &lt;/Box&gt;&#13;&#10;&#13;&#10;  &lt;Box style={{ position: 'absolute', left: 564, top: 120, width: 652, height: 540, display: 'flex', flexDirection: 'column', justifyContent: 'space-between' }}&gt;&#13;&#10;    &lt;Box style={{ display: 'flex', flexDirection: 'row', gap: 20, alignItems: 'stretch' }}&gt;&#13;&#10;      &lt;Box style={{ width: 3, background: '#BA7517' }} /&gt;&#13;&#10;      &lt;Box&gt;&#13;&#10;        &lt;Text style={{ fontSize: 34, fontWeight: 'bold', color: '#2C2C2A', letterSpacing: 3, fontFamily: 'STZhongsong' }}&gt;「先入定关中者王之」&lt;/Text&gt;&#13;&#10;        &lt;Text style={{ fontSize: 15, color: 'rgba(44,44,42,0.62)', letterSpacing: 1, marginTop: 10, fontFamily: 'Microsoft YaHei' }}&gt;楚怀王与诸将之约：谁先攻入关中、拿下咸阳，谁就做关中王——这是整场矛盾的名分依据。&lt;/Text&gt;&#13;&#10;      &lt;/Box&gt;&#13;&#10;    &lt;/Box&gt;&#13;&#10;&#13;&#10;    &lt;Box style={{ display: 'flex', flexDirection: 'row', gap: 18, alignItems: 'flex-start' }}&gt;&#13;&#10;      &lt;Box style={{ width: 74, paddingTop: 2 }}&gt;&#13;&#10;        &lt;Text style={{ fontSize: 22, fontWeight: 'bold', color: '#2C2C2A', fontFamily: 'STZhongsong' }}&gt;北路&lt;/Text&gt;&#13;&#10;        &lt;Text style={{ fontSize: 14, color: 'rgba(44,44,42,0.62)', marginTop: 4, fontFamily: 'Microsoft YaHei' }}&gt;项羽&lt;/Text&gt;&#13;&#10;      &lt;/Box&gt;&#13;&#10;      &lt;Box style={{ flex: 1, borderLeft: '0.5px solid #D9D3C4', paddingLeft: 20 }}&gt;&#13;&#10;        &lt;Text style={{ fontSize: 18, color: '#2C2C2A', lineHeight: 1.75, fontFamily: 'Microsoft YaHei' }}&gt;&#13;&#10;          巨鹿&lt;span style={{ fontWeight: 'bold' }}&gt;破釜沉舟&lt;/span&gt;，与秦军主力死磕九死一生；先北上河北、再折向西进咸阳——路更远、仗更难，是当时全军威名最盛的人。&#13;&#10;        &lt;/Text&gt;&#13;&#10;      &lt;/Box&gt;&#13;&#10;    &lt;/Box&gt;&#13;&#10;&#13;&#10;    &lt;Box style={{ display: 'flex', flexDirection: 'row', gap: 18, alignItems: 'flex-start' }}&gt;&#13;&#10;      &lt;Box style={{ width: 74, paddingTop: 2 }}&gt;&#13;&#10;        &lt;Text style={{ fontSize: 22, fontWeight: 'bold', color: '#2C2C2A', fontFamily: 'STZhongsong' }}&gt;南路&lt;/Text&gt;&#13;&#10;        &lt;Text style={{ fontSize: 14, color: 'rgba(44,44,42,0.62)', marginTop: 4, fontFamily: 'Microsoft YaHei' }}&gt;刘邦&lt;/Text&gt;&#13;&#10;      &lt;/Box&gt;&#13;&#10;      &lt;Box style={{ flex: 1, borderLeft: '0.5px solid #D9D3C4', paddingLeft: 20 }}&gt;&#13;&#10;        &lt;Text style={{ fontSize: 18, color: '#2C2C2A', lineHeight: 1.75, fontFamily: 'Microsoft YaHei' }}&gt;&#13;&#10;          走武关道西进，一路&lt;span style={{ fontWeight: 'bold' }}&gt;招降纳叛、秋毫无犯&lt;/span&gt;，几乎是抄了一条捷径，兵不血刃先进咸阳——封存府库、约法三章、退军霸上，安安静静等兑现承诺。&#13;&#10;        &lt;/Text&gt;&#13;&#10;      &lt;/Box&gt;&#13;&#10;    &lt;/Box&gt;&#13;&#10;&#13;&#10;    &lt;Box style={{ display: 'flex', flexDirection: 'row', alignItems: 'center', gap: 12, background: 'rgba(44,44,42,0.06)', padding: '18px 22px' }}&gt;&#13;&#10;      &lt;Box style={{ width: 12, height: 12, background: '#A32D2D' }} /&gt;&#13;&#10;      &lt;Text style={{ fontSize: 18, fontWeight: 'bold', color: '#2C2C2A', lineHeight: 1.6, fontFamily: 'Microsoft YaHei' }}&gt;明面上一视同仁的约定，骨子里对项羽并不公平。&lt;/Text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04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823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824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825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2876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一纸约定，两种命运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3876675" y="485775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第一章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杀机从何而来</a:t>
            </a:r>
            <a:endParaRPr/>
          </a:p>
        </p:txBody>
      </p:sp>
      <p:pic>
        <p:nvPicPr>
          <p:cNvPr id="828" name=""/>
          <p:cNvPicPr>
            <a:picLocks noChangeAspect="1"/>
          </p:cNvPicPr>
          <p:nvPr/>
        </p:nvPicPr>
        <p:blipFill>
          <a:blip r:embed="rId1"/>
          <a:srcRect l="24266" t="0" r="24266" b="0"/>
          <a:stretch>
            <a:fillRect/>
          </a:stretch>
        </p:blipFill>
        <p:spPr>
          <a:xfrm rot="0" flipH="0" flipV="0">
            <a:off x="609600" y="1143000"/>
            <a:ext cx="4381500" cy="5143500"/>
          </a:xfrm>
          <a:prstGeom prst="rect">
            <a:avLst/>
          </a:prstGeom>
          <a:ln/>
        </p:spPr>
      </p:pic>
      <p:sp>
        <p:nvSpPr>
          <p:cNvPr id="829" name=""/>
          <p:cNvSpPr/>
          <p:nvPr/>
        </p:nvSpPr>
        <p:spPr>
          <a:xfrm rot="0" flipH="0" flipV="0">
            <a:off x="609600" y="5372100"/>
            <a:ext cx="4381500" cy="914400"/>
          </a:xfrm>
          <a:prstGeom prst="rect">
            <a:avLst/>
          </a:prstGeom>
          <a:gradFill>
            <a:gsLst>
              <a:gs pos="0">
                <a:srgbClr val="2C2C2A">
                  <a:alpha val="0"/>
                </a:srgbClr>
              </a:gs>
              <a:gs pos="100000">
                <a:srgbClr val="2C2C2A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838200" y="5867400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6F2E7"/>
                </a:solidFill>
                <a:latin typeface="Microsoft YaHei"/>
                <a:ea typeface="Microsoft YaHei"/>
              </a:rPr>
              <a:t>秦末</a:t>
            </a:r>
            <a:r>
              <a:rPr lang="en-US" sz="1125" spc="150">
                <a:solidFill>
                  <a:srgbClr val="F6F2E7"/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F6F2E7"/>
                </a:solidFill>
                <a:latin typeface="Microsoft YaHei"/>
                <a:ea typeface="Microsoft YaHei"/>
              </a:rPr>
              <a:t>楚军大帐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5372100" y="1143000"/>
            <a:ext cx="28575" cy="8286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5591175" y="1143000"/>
            <a:ext cx="5991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225">
                <a:solidFill>
                  <a:srgbClr val="2C2C2A"/>
                </a:solidFill>
                <a:latin typeface="STZhongsong"/>
                <a:ea typeface="STZhongsong"/>
              </a:rPr>
              <a:t>「先入定关中者王之」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5591175" y="1628775"/>
            <a:ext cx="59912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楚怀王与诸将之约：谁先攻入关中、拿下咸阳，谁就做关中王——这是整场矛盾的名分依据。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372100" y="2600325"/>
            <a:ext cx="704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C2C2A"/>
                </a:solidFill>
                <a:latin typeface="STZhongsong"/>
                <a:ea typeface="STZhongsong"/>
              </a:rPr>
              <a:t>北路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5372100" y="289560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项羽</a:t>
            </a:r>
            <a:endParaRPr/>
          </a:p>
        </p:txBody>
      </p:sp>
      <p:sp>
        <p:nvSpPr>
          <p:cNvPr id="836" name=""/>
          <p:cNvSpPr/>
          <p:nvPr/>
        </p:nvSpPr>
        <p:spPr>
          <a:xfrm rot="0" flipH="0" flipV="0">
            <a:off x="6248400" y="2581275"/>
            <a:ext cx="5343525" cy="723900"/>
          </a:xfrm>
          <a:custGeom>
            <a:pathLst>
              <a:path w="561" h="76">
                <a:moveTo>
                  <a:pt x="0" y="0"/>
                </a:moveTo>
                <a:lnTo>
                  <a:pt x="1" y="0"/>
                </a:lnTo>
                <a:lnTo>
                  <a:pt x="1" y="76"/>
                </a:lnTo>
                <a:lnTo>
                  <a:pt x="0" y="76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6448425" y="2581275"/>
            <a:ext cx="5143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2C2C2A"/>
                </a:solidFill>
                <a:latin typeface="Microsoft YaHei"/>
                <a:ea typeface="Microsoft YaHei"/>
              </a:rPr>
              <a:t>巨鹿</a:t>
            </a:r>
            <a:r>
              <a:rPr lang="zh-CN" sz="1350" b="1">
                <a:solidFill>
                  <a:srgbClr val="2C2C2A"/>
                </a:solidFill>
                <a:latin typeface="Microsoft YaHei"/>
                <a:ea typeface="Microsoft YaHei"/>
              </a:rPr>
              <a:t>破釜沉舟</a:t>
            </a:r>
            <a:r>
              <a:rPr lang="zh-CN" sz="1350">
                <a:solidFill>
                  <a:srgbClr val="2C2C2A"/>
                </a:solidFill>
                <a:latin typeface="Microsoft YaHei"/>
                <a:ea typeface="Microsoft YaHei"/>
              </a:rPr>
              <a:t>，与秦军主力死磕九死一生；先北上河北、再折向西进咸阳——路更远、仗更难，是当时全军威名最盛的人。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5372100" y="3933825"/>
            <a:ext cx="704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C2C2A"/>
                </a:solidFill>
                <a:latin typeface="STZhongsong"/>
                <a:ea typeface="STZhongsong"/>
              </a:rPr>
              <a:t>南路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5372100" y="422910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刘邦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6248400" y="3914775"/>
            <a:ext cx="5343525" cy="1085850"/>
          </a:xfrm>
          <a:custGeom>
            <a:pathLst>
              <a:path w="561" h="114">
                <a:moveTo>
                  <a:pt x="0" y="0"/>
                </a:moveTo>
                <a:lnTo>
                  <a:pt x="1" y="0"/>
                </a:lnTo>
                <a:lnTo>
                  <a:pt x="1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6448425" y="3914775"/>
            <a:ext cx="5143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2C2C2A"/>
                </a:solidFill>
                <a:latin typeface="Microsoft YaHei"/>
                <a:ea typeface="Microsoft YaHei"/>
              </a:rPr>
              <a:t>走武关道西进，一路</a:t>
            </a:r>
            <a:r>
              <a:rPr lang="zh-CN" sz="1350" b="1">
                <a:solidFill>
                  <a:srgbClr val="2C2C2A"/>
                </a:solidFill>
                <a:latin typeface="Microsoft YaHei"/>
                <a:ea typeface="Microsoft YaHei"/>
              </a:rPr>
              <a:t>招降纳叛、秋毫无犯</a:t>
            </a:r>
            <a:r>
              <a:rPr lang="zh-CN" sz="1350">
                <a:solidFill>
                  <a:srgbClr val="2C2C2A"/>
                </a:solidFill>
                <a:latin typeface="Microsoft YaHei"/>
                <a:ea typeface="Microsoft YaHei"/>
              </a:rPr>
              <a:t>，几乎是抄了一条捷径，兵不血刃先进咸阳——封存府库、约法三章、退军霸上，安安静静等兑现承诺。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5372100" y="5610225"/>
            <a:ext cx="6210300" cy="67627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5581650" y="589597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5810250" y="5781675"/>
            <a:ext cx="37719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2C2C2A"/>
                </a:solidFill>
                <a:latin typeface="Microsoft YaHei"/>
                <a:ea typeface="Microsoft YaHei"/>
              </a:rPr>
              <a:t>明面上一视同仁的约定，骨子里对项羽并不公平。</a:t>
            </a:r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04 / 32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48" name="" descr="&lt;Slide notes={`先把两条路摆在一起看，你就明白这个约定为什么埋雷了。&#13;&#10;&#13;&#10;项羽走北路：从巨鹿破釜沉舟开始，跟秦军主力死磕，然后北上河北、再折向西，一路硬仗打到底，路更远、仗更难。&#13;&#10;&#13;&#10;刘邦走南路：走武关道西进，一路招降纳叛、秋毫无犯，几乎是一条捷径，兵不血刃就先进了咸阳。&#13;&#10;&#13;&#10;再看右边这块关中——今天的陕西中部、渭河平原，东有函谷关、南有武关、西有散关、北有萧关，四塞之国，易守难攻，土地肥沃。谁得了关中，就等于拿到一把插在天下咽喉上的刀。所以「先入关中者王之」不是普通约定，这是在分天下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两条路，一张图&lt;/Text&gt;&#13;&#10;    &lt;Text style={{ fontSize: 20, color: 'rgba(44,44,42,0.55)', letterSpacing: 1, fontFamily: 'STZhongsong', marginLeft: 4 }}&gt;北路死战 · 南路抄近&lt;/Text&gt;&#13;&#10;    &lt;Text style={{ fontSize: 14, color: 'rgba(44,44,42,0.45)', letterSpacing: 2, fontFamily: 'Microsoft YaHei', marginLeft: 10 }}&gt;第一章 · 杀机从何而来&lt;/Text&gt;&#13;&#10;  &lt;/Box&gt;&#13;&#10;&#13;&#10;  &lt;Box style={{ position: 'absolute', left: 64, top: 112, width: 1152, height: 386 }}&gt;&#13;&#10;    &lt;svg width={1152} height={386} viewBox=&quot;0 0 1152 386&quot;&gt;&#13;&#10;      &lt;text x=&quot;0&quot; y=&quot;48&quot; fontSize=&quot;22&quot; fill=&quot;#2C2C2A&quot; fontFamily=&quot;STZhongsong&quot; fontWeight=&quot;bold&quot;&gt;北路 · 项羽&lt;/text&gt;&#13;&#10;      &lt;line x1=&quot;0&quot; y1=&quot;122&quot; x2=&quot;862&quot; y2=&quot;122&quot; stroke=&quot;#2C2C2A&quot; strokeWidth=&quot;1.2&quot; /&gt;&#13;&#10;      &lt;polygon points=&quot;876,122 856,114 856,130&quot; fill=&quot;#2C2C2A&quot; /&gt;&#13;&#10;      &lt;rect x=&quot;30&quot; y=&quot;82&quot; width=&quot;164&quot; height=&quot;36&quot; fill=&quot;#2C2C2A&quot; /&gt;&#13;&#10;      &lt;text x=&quot;112&quot; y=&quot;106&quot; textAnchor=&quot;middle&quot; fontSize=&quot;15&quot; fill=&quot;#F6F2E7&quot; fontFamily=&quot;Microsoft YaHei&quot;&gt;巨鹿 · 破釜沉舟&lt;/text&gt;&#13;&#10;      &lt;rect x=&quot;222&quot; y=&quot;82&quot; width=&quot;200&quot; height=&quot;36&quot; fill=&quot;#FFFFFF&quot; stroke=&quot;#2C2C2A&quot; strokeWidth=&quot;0.6&quot; /&gt;&#13;&#10;      &lt;text x=&quot;322&quot; y=&quot;106&quot; textAnchor=&quot;middle&quot; fontSize=&quot;15&quot; fill=&quot;#2C2C2A&quot; fontFamily=&quot;Microsoft YaHei&quot;&gt;北上河北 · 再折向西&lt;/text&gt;&#13;&#10;      &lt;rect x=&quot;450&quot; y=&quot;82&quot; width=&quot;196&quot; height=&quot;36&quot; fill=&quot;#FFFFFF&quot; stroke=&quot;#2C2C2A&quot; strokeWidth=&quot;0.6&quot; /&gt;&#13;&#10;      &lt;text x=&quot;548&quot; y=&quot;106&quot; textAnchor=&quot;middle&quot; fontSize=&quot;15&quot; fill=&quot;#2C2C2A&quot; fontFamily=&quot;Microsoft YaHei&quot;&gt;与秦军主力死磕&lt;/text&gt;&#13;&#10;      &lt;text x=&quot;680&quot; y=&quot;106&quot; fontSize=&quot;13&quot; fill=&quot;rgba(44,44,42,0.6)&quot; fontFamily=&quot;Microsoft YaHei&quot;&gt;路更远 · 仗更难 · 九死一生&lt;/text&gt;&#13;&#10;&#13;&#10;      &lt;text x=&quot;0&quot; y=&quot;196&quot; fontSize=&quot;22&quot; fill=&quot;#BA7517&quot; fontFamily=&quot;STZhongsong&quot; fontWeight=&quot;bold&quot;&gt;南路 · 刘邦&lt;/text&gt;&#13;&#10;      &lt;line x1=&quot;0&quot; y1=&quot;270&quot; x2=&quot;862&quot; y2=&quot;270&quot; stroke=&quot;#BA7517&quot; strokeWidth=&quot;1.2&quot; /&gt;&#13;&#10;      &lt;polygon points=&quot;876,270 856,262 856,278&quot; fill=&quot;#BA7517&quot; /&gt;&#13;&#10;      &lt;rect x=&quot;30&quot; y=&quot;230&quot; width=&quot;164&quot; height=&quot;36&quot; fill=&quot;#BA7517&quot; /&gt;&#13;&#10;      &lt;text x=&quot;112&quot; y=&quot;254&quot; textAnchor=&quot;middle&quot; fontSize=&quot;15&quot; fill=&quot;#F6F2E7&quot; fontFamily=&quot;Microsoft YaHei&quot;&gt;武关道 西进&lt;/text&gt;&#13;&#10;      &lt;rect x=&quot;222&quot; y=&quot;230&quot; width=&quot;200&quot; height=&quot;36&quot; fill=&quot;#FFFFFF&quot; stroke=&quot;#BA7517&quot; strokeWidth=&quot;0.6&quot; /&gt;&#13;&#10;      &lt;text x=&quot;322&quot; y=&quot;254&quot; textAnchor=&quot;middle&quot; fontSize=&quot;15&quot; fill=&quot;#2C2C2A&quot; fontFamily=&quot;Microsoft YaHei&quot;&gt;招降纳叛 · 秋毫无犯&lt;/text&gt;&#13;&#10;      &lt;rect x=&quot;450&quot; y=&quot;230&quot; width=&quot;196&quot; height=&quot;36&quot; fill=&quot;#FFFFFF&quot; stroke=&quot;#BA7517&quot; strokeWidth=&quot;0.6&quot; /&gt;&#13;&#10;      &lt;text x=&quot;548&quot; y=&quot;254&quot; textAnchor=&quot;middle&quot; fontSize=&quot;15&quot; fill=&quot;#2C2C2A&quot; fontFamily=&quot;Microsoft YaHei&quot;&gt;兵不血刃 · 先进咸阳&lt;/text&gt;&#13;&#10;      &lt;text x=&quot;680&quot; y=&quot;254&quot; fontSize=&quot;13&quot; fill=&quot;rgba(44,44,42,0.6)&quot; fontFamily=&quot;Microsoft YaHei&quot;&gt;几乎抄了一条捷径&lt;/text&gt;&#13;&#10;&#13;&#10;      &lt;rect x=&quot;892&quot; y=&quot;30&quot; width=&quot;248&quot; height=&quot;326&quot; fill=&quot;#FFFFFF&quot; stroke=&quot;#2C2C2A&quot; strokeWidth=&quot;0.8&quot; /&gt;&#13;&#10;      &lt;text x=&quot;1016&quot; y=&quot;70&quot; textAnchor=&quot;middle&quot; fontSize=&quot;22&quot; fill=&quot;#2C2C2A&quot; fontFamily=&quot;STZhongsong&quot; fontWeight=&quot;bold&quot;&gt;关 中&lt;/text&gt;&#13;&#10;      &lt;rect x=&quot;952&quot; y=&quot;88&quot; width=&quot;128&quot; height=&quot;44&quot; fill=&quot;#D9D3C4&quot; /&gt;&#13;&#10;      &lt;text x=&quot;1016&quot; y=&quot;117&quot; textAnchor=&quot;middle&quot; fontSize=&quot;17&quot; fill=&quot;#2C2C2A&quot; fontFamily=&quot;STZhongsong&quot;&gt;咸阳&lt;/text&gt;&#13;&#10;      &lt;text x=&quot;1016&quot; y=&quot;158&quot; textAnchor=&quot;middle&quot; fontSize=&quot;13&quot; fill=&quot;rgba(44,44,42,0.7)&quot; fontFamily=&quot;Microsoft YaHei&quot;&gt;四塞之国 · 土地肥沃&lt;/text&gt;&#13;&#10;      &lt;text x=&quot;1016&quot; y=&quot;192&quot; textAnchor=&quot;middle&quot; fontSize=&quot;13&quot; fill=&quot;rgba(44,44,42,0.85)&quot; fontFamily=&quot;Microsoft YaHei&quot;&gt;东 函谷关&lt;/text&gt;&#13;&#10;      &lt;text x=&quot;1016&quot; y=&quot;216&quot; textAnchor=&quot;middle&quot; fontSize=&quot;13&quot; fill=&quot;rgba(44,44,42,0.85)&quot; fontFamily=&quot;Microsoft YaHei&quot;&gt;南 武关&lt;/text&gt;&#13;&#10;      &lt;text x=&quot;1016&quot; y=&quot;240&quot; textAnchor=&quot;middle&quot; fontSize=&quot;13&quot; fill=&quot;rgba(44,44,42,0.85)&quot; fontFamily=&quot;Microsoft YaHei&quot;&gt;西 散关&lt;/text&gt;&#13;&#10;      &lt;text x=&quot;1016&quot; y=&quot;264&quot; textAnchor=&quot;middle&quot; fontSize=&quot;13&quot; fill=&quot;rgba(44,44,42,0.85)&quot; fontFamily=&quot;Microsoft YaHei&quot;&gt;北 萧关&lt;/text&gt;&#13;&#10;      &lt;text x=&quot;1016&quot; y=&quot;300&quot; textAnchor=&quot;middle&quot; fontSize=&quot;12&quot; fill=&quot;#A32D2D&quot; fontFamily=&quot;Microsoft YaHei&quot; fontWeight=&quot;bold&quot;&gt;易守难攻 · 天下形胜&lt;/text&gt;&#13;&#10;      &lt;text x=&quot;1016&quot; y=&quot;326&quot; textAnchor=&quot;middle&quot; fontSize=&quot;12&quot; fill=&quot;#A32D2D&quot; fontFamily=&quot;Microsoft YaHei&quot; fontWeight=&quot;bold&quot;&gt;得之如刀抵咽喉&lt;/text&gt;&#13;&#10;    &lt;/svg&gt;&#13;&#10;  &lt;/Box&gt;&#13;&#10;&#13;&#10;  &lt;Box style={{ position: 'absolute', left: 64, top: 514, width: 1152, height: 146, background: '#FFFFFF', border: '0.5px solid #D9D3C4', boxShadow: '0 4px 20px rgba(44,44,42,0.08)', padding: '22px 30px', display: 'flex', flexDirection: 'row', gap: 30 }}&gt;&#13;&#10;    &lt;Box style={{ width: 208, borderRight: '0.5px solid #D9D3C4', paddingRight: 24 }}&gt;&#13;&#10;      &lt;Text style={{ fontSize: 21, fontWeight: 'bold', color: '#2C2C2A', letterSpacing: 1, lineHeight: 1.4, fontFamily: 'STZhongsong' }}&gt;关中为什么&lt;br /&gt;这么值钱？&lt;/Text&gt;&#13;&#10;      &lt;Box style={{ width: 36, height: 3, background: '#BA7517', marginTop: 12 }} /&gt;&#13;&#10;    &lt;/Box&gt;&#13;&#10;    &lt;Box style={{ flex: 1 }}&gt;&#13;&#10;      &lt;Text style={{ fontSize: 16, color: 'rgba(44,44,42,0.8)', lineHeight: 1.85, fontFamily: 'Microsoft YaHei' }}&gt;&#13;&#10;        关中就是今天的陕西中部、渭河平原一带，自古就是「四塞之国」——东有函谷关、南有武关、西有散关、北有萧关，易守难攻，土地肥沃，是天下形胜之地。&#13;&#10;      &lt;/Text&gt;&#13;&#10;      &lt;Text style={{ fontSize: 16, fontWeight: 'bold', color: '#2C2C2A', lineHeight: 1.85, marginTop: 6, fontFamily: 'Microsoft YaHei' }}&gt;&#13;&#10;        谁得了关中，就等于拿到了一把插在天下咽喉上的刀。所以「先入关中者王之」不是普通约定——这是在分天下。&#13;&#10;      &lt;/Text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05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850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851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852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22383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两条路，一张图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3200400" y="457200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北路死战</a:t>
            </a:r>
            <a:r>
              <a:rPr lang="en-US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南路抄近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5372100" y="485775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第一章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杀机从何而来</a:t>
            </a:r>
            <a:endParaRPr/>
          </a:p>
        </p:txBody>
      </p:sp>
      <p:pic>
        <p:nvPicPr>
          <p:cNvPr id="8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066800"/>
            <a:ext cx="10972800" cy="3676650"/>
          </a:xfrm>
          <a:prstGeom prst="rect">
            <a:avLst/>
          </a:prstGeom>
          <a:ln/>
        </p:spPr>
      </p:pic>
      <p:sp>
        <p:nvSpPr>
          <p:cNvPr id="857" name=""/>
          <p:cNvSpPr/>
          <p:nvPr/>
        </p:nvSpPr>
        <p:spPr>
          <a:xfrm rot="0" flipH="0" flipV="0">
            <a:off x="609600" y="4895850"/>
            <a:ext cx="10972800" cy="13906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8" name=""/>
          <p:cNvSpPr/>
          <p:nvPr/>
        </p:nvSpPr>
        <p:spPr>
          <a:xfrm rot="0" flipH="0" flipV="0">
            <a:off x="895350" y="5105400"/>
            <a:ext cx="1981200" cy="971550"/>
          </a:xfrm>
          <a:custGeom>
            <a:pathLst>
              <a:path w="208" h="102">
                <a:moveTo>
                  <a:pt x="208" y="0"/>
                </a:moveTo>
                <a:lnTo>
                  <a:pt x="208" y="0"/>
                </a:lnTo>
                <a:lnTo>
                  <a:pt x="208" y="102"/>
                </a:lnTo>
                <a:lnTo>
                  <a:pt x="208" y="102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95350" y="5105400"/>
            <a:ext cx="1752600" cy="676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 spc="75">
                <a:solidFill>
                  <a:srgbClr val="2C2C2A"/>
                </a:solidFill>
                <a:latin typeface="STZhongsong"/>
                <a:ea typeface="STZhongsong"/>
              </a:rPr>
              <a:t>关中为什么</a:t>
            </a:r>
            <a:endParaRPr/>
          </a:p>
          <a:p>
            <a:pPr>
              <a:lnSpc>
                <a:spcPct val="140000"/>
              </a:lnSpc>
            </a:pPr>
            <a:r>
              <a:rPr lang="zh-CN" sz="1575" b="1" spc="75">
                <a:solidFill>
                  <a:srgbClr val="2C2C2A"/>
                </a:solidFill>
                <a:latin typeface="STZhongsong"/>
                <a:ea typeface="STZhongsong"/>
              </a:rPr>
              <a:t>这么值钱？</a:t>
            </a:r>
            <a:endParaRPr/>
          </a:p>
        </p:txBody>
      </p:sp>
      <p:sp>
        <p:nvSpPr>
          <p:cNvPr id="860" name=""/>
          <p:cNvSpPr/>
          <p:nvPr/>
        </p:nvSpPr>
        <p:spPr>
          <a:xfrm rot="0" flipH="0" flipV="0">
            <a:off x="895350" y="5895975"/>
            <a:ext cx="34290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3162300" y="5105400"/>
            <a:ext cx="81343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关中就是今天的陕西中部、渭河平原一带，自古就是「四塞之国」——东有函谷关、南有武关、西有散关、北有萧关，易守难攻，土地肥沃，是天下形胜之地。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3162300" y="5848350"/>
            <a:ext cx="8134350" cy="3429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谁得了关中，就等于拿到了一把插在天下咽喉上的刀。所以「先入关中者王之」不是普通约定——这是在分天下。</a:t>
            </a:r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05 / 32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66" name="" descr="&lt;Slide notes={`上一页把两条路的时间线摆开了，这一页我们看地图——从彭城到咸阳，这两条路各自走的是什么地方。&#13;&#10;&#13;&#10;先看地形。东边这一大片是华北平原，再往南是黄淮平原，地势平坦，适合大兵团行军；西边是关中平原，也就是咸阳所在的渭河平原，被崤山、函谷关这一线守着；中间偏南是南阳盆地，再往西南是秦岭，武关就开在秦岭的东段；北边这道竖着的是太行山。&#13;&#10;&#13;&#10;北路的项羽，从彭城出发往西北，在白马津渡过黄河，北上救赵，在巨鹿破釜沉舟、打垮秦军主力，之后再折向西南，经殷墟接受章邯投降，最后强攻函谷关才进关中。你看这条线：渡大河、啃硬仗、闯天险，路远、仗硬、消耗大。&#13;&#10;&#13;&#10;南路的刘邦，从彭城一路向西，走黄淮平原，过陈留、洛阳，转向南阳，从武关小道钻进秦岭，拿下蓝田，再占霸上，直取咸阳。他刻意避开秦军主力，一路招降纳叛、秋毫无犯，几乎是一条捷径。&#13;&#10;&#13;&#10;所以不是刘邦比项羽能打，是他选对了路。地形决定行军速度，行军速度决定谁先入关。关中这把钥匙，是被两条不同的路，送到不同人手里的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38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从彭城到咸阳：两路进兵&lt;/Text&gt;&#13;&#10;    &lt;Text style={{ fontSize: 18, color: 'rgba(44,44,42,0.55)', letterSpacing: 2, fontFamily: 'STZhongsong', marginLeft: 4 }}&gt;山川 · 地形 · 要地&lt;/Text&gt;&#13;&#10;    &lt;Text style={{ fontSize: 14, color: 'rgba(44,44,42,0.45)', letterSpacing: 2, fontFamily: 'Microsoft YaHei', marginLeft: 8 }}&gt;第一章 · 杀机从何而来&lt;/Text&gt;&#13;&#10;  &lt;/Box&gt;&#13;&#10;&#13;&#10;  &lt;Box style={{ position: 'absolute', left: 64, top: 100, width: 1152, height: 388, background: '#FBF8EF', border: '0.6px solid #D9D3C4' }}&gt;&#13;&#10;    &lt;svg width={1152} height={388} viewBox=&quot;0 0 1152 388&quot;&gt;&#13;&#10;&#13;&#10;      &lt;rect x=&quot;400&quot; y=&quot;16&quot; width=&quot;614&quot; height=&quot;214&quot; fill=&quot;#F1ECDC&quot; /&gt;&#13;&#10;      &lt;text x=&quot;716&quot; y=&quot;92&quot; textAnchor=&quot;middle&quot; fontSize=&quot;21&quot; fill=&quot;rgba(44,44,42,0.30)&quot; fontFamily=&quot;STZhongsong&quot; letterSpacing=&quot;7&quot;&gt;华 北 平 原&lt;/text&gt;&#13;&#10;&#13;&#10;      &lt;rect x=&quot;502&quot; y=&quot;242&quot; width=&quot;512&quot; height=&quot;140&quot; fill=&quot;#F1ECDC&quot; /&gt;&#13;&#10;      &lt;text x=&quot;762&quot; y=&quot;348&quot; textAnchor=&quot;middle&quot; fontSize=&quot;18&quot; fill=&quot;rgba(44,44,42,0.26)&quot; fontFamily=&quot;STZhongsong&quot; letterSpacing=&quot;6&quot;&gt;黄 淮 平 原&lt;/text&gt;&#13;&#10;&#13;&#10;      &lt;rect x=&quot;14&quot; y=&quot;176&quot; width=&quot;198&quot; height=&quot;112&quot; fill=&quot;#F3EEDC&quot; /&gt;&#13;&#10;      &lt;text x=&quot;56&quot; y=&quot;234&quot; textAnchor=&quot;middle&quot; fontSize=&quot;16&quot; fill=&quot;rgba(44,44,42,0.34)&quot; fontFamily=&quot;STZhongsong&quot;&gt;关中平原&lt;/text&gt;&#13;&#10;&#13;&#10;      &lt;rect x=&quot;298&quot; y=&quot;286&quot; width=&quot;192&quot; height=&quot;86&quot; fill=&quot;#F3EEDC&quot; /&gt;&#13;&#10;      &lt;text x=&quot;332&quot; y=&quot;306&quot; textAnchor=&quot;middle&quot; fontSize=&quot;14&quot; fill=&quot;rgba(44,44,42,0.34)&quot; fontFamily=&quot;STZhongsong&quot;&gt;南阳盆地&lt;/text&gt;&#13;&#10;&#13;&#10;      &lt;polygon points=&quot;318,14 288,62 348,62&quot; fill=&quot;#D8CFB8&quot; stroke=&quot;#A99C7E&quot; strokeWidth=&quot;1&quot; /&gt;&#13;&#10;      &lt;polygon points=&quot;318,70 286,122 350,122&quot; fill=&quot;#D8CFB8&quot; stroke=&quot;#A99C7E&quot; strokeWidth=&quot;1&quot; /&gt;&#13;&#10;      &lt;polygon points=&quot;318,130 290,182 346,182&quot; fill=&quot;#D8CFB8&quot; stroke=&quot;#A99C7E&quot; strokeWidth=&quot;1&quot; /&gt;&#13;&#10;      &lt;text x=&quot;318&quot; y=&quot;210&quot; textAnchor=&quot;middle&quot; fontSize=&quot;15&quot; fill=&quot;#6E6349&quot; fontFamily=&quot;STZhongsong&quot; fontWeight=&quot;bold&quot;&gt;太行山&lt;/text&gt;&#13;&#10;&#13;&#10;      &lt;polygon points=&quot;205,196 168,248 242,248&quot; fill=&quot;#D8CFB8&quot; stroke=&quot;#A99C7E&quot; strokeWidth=&quot;1&quot; /&gt;&#13;&#10;      &lt;text x=&quot;205&quot; y=&quot;268&quot; textAnchor=&quot;middle&quot; fontSize=&quot;13&quot; fill=&quot;#6E6349&quot; fontFamily=&quot;STZhongsong&quot;&gt;崤山&lt;/text&gt;&#13;&#10;&#13;&#10;      &lt;polygon points=&quot;30,300 0,352 60,352&quot; fill=&quot;#D8CFB8&quot; stroke=&quot;#A99C7E&quot; strokeWidth=&quot;1&quot; /&gt;&#13;&#10;      &lt;polygon points=&quot;88,300 58,352 118,352&quot; fill=&quot;#D8CFB8&quot; stroke=&quot;#A99C7E&quot; strokeWidth=&quot;1&quot; /&gt;&#13;&#10;      &lt;polygon points=&quot;146,300 116,352 176,352&quot; fill=&quot;#D8CFB8&quot; stroke=&quot;#A99C7E&quot; strokeWidth=&quot;1&quot; /&gt;&#13;&#10;      &lt;polygon points=&quot;204,300 174,352 234,352&quot; fill=&quot;#D8CFB8&quot; stroke=&quot;#A99C7E&quot; strokeWidth=&quot;1&quot; /&gt;&#13;&#10;      &lt;text x=&quot;272&quot; y=&quot;344&quot; textAnchor=&quot;middle&quot; fontSize=&quot;15&quot; fill=&quot;#6E6349&quot; fontFamily=&quot;STZhongsong&quot; fontWeight=&quot;bold&quot;&gt;秦 岭&lt;/text&gt;&#13;&#10;&#13;&#10;      &lt;polyline points=&quot;262,130 320,156 396,176 470,188 560,196 660,196 760,186 860,166 950,142 1020,122 1070,110&quot; fill=&quot;none&quot; stroke=&quot;#6B8299&quot; strokeWidth=&quot;7&quot; strokeLinejoin=&quot;round&quot; strokeLinecap=&quot;round&quot; opacity=&quot;0.42&quot; /&gt;&#13;&#10;      &lt;polyline points=&quot;262,130 320,156 396,176 470,188 560,196 660,196 760,186 860,166 950,142 1020,122 1070,110&quot; fill=&quot;none&quot; stroke=&quot;#5A7285&quot; strokeWidth=&quot;1.4&quot; strokeLinejoin=&quot;round&quot; strokeLinecap=&quot;round&quot; opacity=&quot;0.65&quot; /&gt;&#13;&#10;      &lt;text x=&quot;700&quot; y=&quot;170&quot; textAnchor=&quot;middle&quot; fontSize=&quot;13&quot; fill=&quot;#4E6B80&quot; fontFamily=&quot;STZhongsong&quot; letterSpacing=&quot;3&quot;&gt;黄 河&lt;/text&gt;&#13;&#10;&#13;&#10;      &lt;polygon points=&quot;1108,24 1098,48 1118,48&quot; fill=&quot;#2C2C2A&quot; /&gt;&#13;&#10;      &lt;text x=&quot;1108&quot; y=&quot;64&quot; textAnchor=&quot;middle&quot; fontSize=&quot;12&quot; fill=&quot;#2C2C2A&quot; fontFamily=&quot;Microsoft YaHei&quot;&gt;北&lt;/text&gt;&#13;&#10;&#13;&#10;      &lt;polyline points=&quot;958,296 476,192 440,70 368,158 243,226 95,208&quot; fill=&quot;none&quot; stroke=&quot;#2C2C2A&quot; strokeWidth=&quot;3.4&quot; strokeLinejoin=&quot;round&quot; strokeLinecap=&quot;round&quot; /&gt;&#13;&#10;      &lt;polyline points=&quot;958,296 560,246 352,236 394,324 250,322 162,278 128,244 95,208&quot; fill=&quot;none&quot; stroke=&quot;#BA7517&quot; strokeWidth=&quot;3.4&quot; strokeLinejoin=&quot;round&quot; strokeLinecap=&quot;round&quot; /&gt;&#13;&#10;      &lt;polygon points=&quot;76,208 96,199 96,217&quot; fill=&quot;#2C2C2A&quot; /&gt;&#13;&#10;      &lt;polygon points=&quot;76,214 96,205 96,223&quot; fill=&quot;#BA7517&quot; /&gt;&#13;&#10;&#13;&#10;      &lt;rect x=&quot;89&quot; y=&quot;202&quot; width=&quot;12&quot; height=&quot;12&quot; fill=&quot;#A32D2D&quot; /&gt;&#13;&#10;      &lt;text x=&quot;95&quot; y=&quot;194&quot; textAnchor=&quot;middle&quot; fontSize=&quot;15&quot; fill=&quot;#2C2C2A&quot; fontFamily=&quot;STZhongsong&quot; fontWeight=&quot;bold&quot;&gt;咸阳&lt;/text&gt;&#13;&#10;&#13;&#10;      &lt;rect x=&quot;952&quot; y=&quot;290&quot; width=&quot;14&quot; height=&quot;14&quot; fill=&quot;#A32D2D&quot; /&gt;&#13;&#10;      &lt;text x=&quot;959&quot; y=&quot;278&quot; textAnchor=&quot;middle&quot; fontSize=&quot;17&quot; fill=&quot;#2C2C2A&quot; fontFamily=&quot;STZhongsong&quot; fontWeight=&quot;bold&quot;&gt;彭城&lt;/text&gt;&#13;&#10;      &lt;text x=&quot;959&quot; y=&quot;320&quot; textAnchor=&quot;middle&quot; fontSize=&quot;12&quot; fill=&quot;rgba(44,44,42,0.6)&quot; fontFamily=&quot;Microsoft YaHei&quot;&gt;楚怀王 · 起点&lt;/text&gt;&#13;&#10;&#13;&#10;      &lt;polygon points=&quot;440,58 449,74 431,74&quot; fill=&quot;#A32D2D&quot; /&gt;&#13;&#10;      &lt;text x=&quot;440&quot; y=&quot;46&quot; textAnchor=&quot;middle&quot; fontSize=&quot;14&quot; fill=&quot;#A32D2D&quot; fontFamily=&quot;Shanghai&quot; fontWeight=&quot;bold&quot;&gt;巨鹿 · 破釜沉舟&lt;/text&gt;&#13;&#10;&#13;&#10;      &lt;rect x=&quot;366&quot; y=&quot;155&quot; width=&quot;8&quot; height=&quot;8&quot; fill=&quot;#2C2C2A&quot; /&gt;&#13;&#10;      &lt;text x=&quot;382&quot; y=&quot;152&quot; textAnchor=&quot;start&quot; fontSize=&quot;12&quot; fill=&quot;rgba(44,44,42,0.78)&quot; fontFamily=&quot;Microsoft YaHei&quot;&gt;殷墟 · 章邯降&lt;/text&gt;&#13;&#10;&#13;&#10;      &lt;rect x=&quot;380&quot; y=&quot;114&quot; width=&quot;7&quot; height=&quot;7&quot; fill=&quot;#2C2C2A&quot; /&gt;&#13;&#10;      &lt;text x=&quot;382&quot; y=&quot;108&quot; textAnchor=&quot;start&quot; fontSize=&quot;12&quot; fill=&quot;rgba(44,44,42,0.72)&quot; fontFamily=&quot;Microsoft YaHei&quot;&gt;邯郸&lt;/text&gt;&#13;&#10;&#13;&#10;      &lt;rect x=&quot;472&quot; y=&quot;188&quot; width=&quot;9&quot; height=&quot;9&quot; fill=&quot;#6B8299&quot; /&gt;&#13;&#10;      &lt;text x=&quot;488&quot; y=&quot;184&quot; textAnchor=&quot;start&quot; fontSize=&quot;12&quot; fill=&quot;#3F5A6E&quot; fontFamily=&quot;Microsoft YaHei&quot;&gt;白马津 · 渡黄河&lt;/text&gt;&#13;&#10;&#13;&#10;      &lt;rect x=&quot;556&quot; y=&quot;242&quot; width=&quot;7&quot; height=&quot;7&quot; fill=&quot;#2C2C2A&quot; /&gt;&#13;&#10;      &lt;text x=&quot;560&quot; y=&quot;236&quot; textAnchor=&quot;middle&quot; fontSize=&quot;12&quot; fill=&quot;rgba(44,44,42,0.72)&quot; fontFamily=&quot;Microsoft YaHei&quot;&gt;陈留&lt;/text&gt;&#13;&#10;&#13;&#10;      &lt;rect x=&quot;644&quot; y=&quot;222&quot; width=&quot;7&quot; height=&quot;7&quot; fill=&quot;#2C2C2A&quot; /&gt;&#13;&#10;      &lt;text x=&quot;648&quot; y=&quot;214&quot; textAnchor=&quot;middle&quot; fontSize=&quot;12&quot; fill=&quot;rgba(44,44,42,0.72)&quot; fontFamily=&quot;Microsoft YaHei&quot;&gt;定陶 · 项梁战死&lt;/text&gt;&#13;&#10;&#13;&#10;      &lt;rect x=&quot;236&quot; y=&quot;222&quot; width=&quot;10&quot; height=&quot;10&quot; fill=&quot;#2C2C2A&quot; /&gt;&#13;&#10;      &lt;text x=&quot;243&quot; y=&quot;246&quot; textAnchor=&quot;middle&quot; fontSize=&quot;12&quot; fill=&quot;rgba(44,44,42,0.82)&quot; fontFamily=&quot;Microsoft YaHei&quot;&gt;函谷关&lt;/text&gt;&#13;&#10;&#13;&#10;      &lt;rect x=&quot;348&quot; y=&quot;232&quot; width=&quot;7&quot; height=&quot;7&quot; fill=&quot;#2C2C2A&quot; /&gt;&#13;&#10;      &lt;text x=&quot;352&quot; y=&quot;252&quot; textAnchor=&quot;middle&quot; fontSize=&quot;12&quot; fill=&quot;rgba(44,44,42,0.72)&quot; fontFamily=&quot;Microsoft YaHei&quot;&gt;洛阳&lt;/text&gt;&#13;&#10;&#13;&#10;      &lt;rect x=&quot;246&quot; y=&quot;318&quot; width=&quot;10&quot; height=&quot;10&quot; fill=&quot;#2C2C2A&quot; /&gt;&#13;&#10;      &lt;text x=&quot;264&quot; y=&quot;328&quot; textAnchor=&quot;start&quot; fontSize=&quot;12&quot; fill=&quot;rgba(44,44,42,0.82)&quot; fontFamily=&quot;Microsoft YaHei&quot;&gt;武关 · 入关小道&lt;/text&gt;&#13;&#10;&#13;&#10;      &lt;rect x=&quot;390&quot; y=&quot;320&quot; width=&quot;7&quot; height=&quot;7&quot; fill=&quot;#2C2C2A&quot; /&gt;&#13;&#10;      &lt;text x=&quot;394&quot; y=&quot;344&quot; textAnchor=&quot;middle&quot; fontSize=&quot;12&quot; fill=&quot;rgba(44,44,42,0.72)&quot; fontFamily=&quot;Microsoft YaHei&quot;&gt;宛 · 南阳&lt;/text&gt;&#13;&#10;&#13;&#10;      &lt;rect x=&quot;158&quot; y=&quot;274&quot; width=&quot;7&quot; height=&quot;7&quot; fill=&quot;#2C2C2A&quot; /&gt;&#13;&#10;      &lt;text x=&quot;162&quot; y=&quot;292&quot; textAnchor=&quot;middle&quot; fontSize=&quot;11&quot; fill=&quot;rgba(44,44,42,0.7)&quot; fontFamily=&quot;Microsoft YaHei&quot;&gt;蓝田&lt;/text&gt;&#13;&#10;&#13;&#10;      &lt;rect x=&quot;124&quot; y=&quot;240&quot; width=&quot;7&quot; height=&quot;7&quot; fill=&quot;#2C2C2A&quot; /&gt;&#13;&#10;      &lt;text x=&quot;128&quot; y=&quot;232&quot; textAnchor=&quot;middle&quot; fontSize=&quot;11&quot; fill=&quot;rgba(44,44,42,0.7)&quot; fontFamily=&quot;Microsoft YaHei&quot;&gt;霸上&lt;/text&gt;&#13;&#10;&#13;&#10;    &lt;/svg&gt;&#13;&#10;  &lt;/Box&gt;&#13;&#10;&#13;&#10;  &lt;Box style={{ position: 'absolute', left: 64, top: 504, width: 1152, height: 156, background: '#FFFFFF', border: '0.5px solid #D9D3C4', boxShadow: '0 4px 20px rgba(44,44,42,0.08)', padding: '16px 28px', display: 'flex', flexDirection: 'column' }}&gt;&#13;&#10;    &lt;Box style={{ display: 'flex', flexDirection: 'row', alignItems: 'center', gap: 24, paddingBottom: 11, borderBottom: '0.5px solid #D9D3C4' }}&gt;&#13;&#10;      &lt;Box style={{ display: 'flex', flexDirection: 'row', alignItems: 'center', gap: 8 }}&gt;&#13;&#10;        &lt;Box style={{ width: 28, height: 3, background: '#2C2C2A' }} /&gt;&#13;&#10;        &lt;Text style={{ fontSize: 13, color: 'rgba(44,44,42,0.8)', fontFamily: 'Microsoft YaHei' }}&gt;北路 · 项羽&lt;/Text&gt;&#13;&#10;      &lt;/Box&gt;&#13;&#10;      &lt;Box style={{ display: 'flex', flexDirection: 'row', alignItems: 'center', gap: 8 }}&gt;&#13;&#10;        &lt;Box style={{ width: 28, height: 3, background: '#BA7517' }} /&gt;&#13;&#10;        &lt;Text style={{ fontSize: 13, color: 'rgba(44,44,42,0.8)', fontFamily: 'Microsoft YaHei' }}&gt;南路 · 刘邦&lt;/Text&gt;&#13;&#10;      &lt;/Box&gt;&#13;&#10;      &lt;Box style={{ display: 'flex', flexDirection: 'row', alignItems: 'center', gap: 8 }}&gt;&#13;&#10;        &lt;svg width={14} height={12} viewBox=&quot;0 0 14 12&quot;&gt;&lt;polygon points=&quot;7,0 0,12 14,12&quot; fill=&quot;#C9BFA3&quot; /&gt;&lt;/svg&gt;&#13;&#10;        &lt;Text style={{ fontSize: 13, color: 'rgba(44,44,42,0.8)', fontFamily: 'Microsoft YaHei' }}&gt;山地&lt;/Text&gt;&#13;&#10;      &lt;/Box&gt;&#13;&#10;      &lt;Box style={{ display: 'flex', flexDirection: 'row', alignItems: 'center', gap: 8 }}&gt;&#13;&#10;        &lt;Box style={{ width: 16, height: 11, background: '#F1ECDC', border: '0.5px solid #D9D3C4' }} /&gt;&#13;&#10;        &lt;Text style={{ fontSize: 13, color: 'rgba(44,44,42,0.8)', fontFamily: 'Microsoft YaHei' }}&gt;平原&lt;/Text&gt;&#13;&#10;      &lt;/Box&gt;&#13;&#10;      &lt;Box style={{ display: 'flex', flexDirection: 'row', alignItems: 'center', gap: 8 }}&gt;&#13;&#10;        &lt;Box style={{ width: 28, height: 5, background: '#6B8299', opacity: 0.55, borderRadius: 3 }} /&gt;&#13;&#10;        &lt;Text style={{ fontSize: 13, color: 'rgba(44,44,42,0.8)', fontFamily: 'Microsoft YaHei' }}&gt;黄河&lt;/Text&gt;&#13;&#10;      &lt;/Box&gt;&#13;&#10;      &lt;Box style={{ display: 'flex', flexDirection: 'row', alignItems: 'center', gap: 8 }}&gt;&#13;&#10;        &lt;Box style={{ width: 11, height: 11, background: '#A32D2D' }} /&gt;&#13;&#10;        &lt;Text style={{ fontSize: 13, color: 'rgba(44,44,42,0.8)', fontFamily: 'Microsoft YaHei' }}&gt;要地 / 关隘&lt;/Text&gt;&#13;&#10;      &lt;/Box&gt;&#13;&#10;    &lt;/Box&gt;&#13;&#10;&#13;&#10;    &lt;Box style={{ display: 'flex', flexDirection: 'row', gap: 34, marginTop: 14, flex: 1 }}&gt;&#13;&#10;      &lt;Box style={{ flex: 1 }}&gt;&#13;&#10;        &lt;Text style={{ fontSize: 16, fontWeight: 'bold', color: '#2C2C2A', fontFamily: 'Microsoft YaHei' }}&gt;北路：仗硬路远&lt;/Text&gt;&#13;&#10;        &lt;Text style={{ fontSize: 14.5, color: 'rgba(44,44,42,0.78)', lineHeight: 1.7, marginTop: 6, fontFamily: 'Microsoft YaHei' }}&gt;渡黄河、战巨鹿、破函谷——先与秦军主力死磕，再翻山叩关。&lt;/Text&gt;&#13;&#10;      &lt;/Box&gt;&#13;&#10;      &lt;Box style={{ flex: 1 }}&gt;&#13;&#10;        &lt;Text style={{ fontSize: 16, fontWeight: 'bold', color: '#BA7517', fontFamily: 'Microsoft YaHei' }}&gt;南路：避实就虚&lt;/Text&gt;&#13;&#10;        &lt;Text style={{ fontSize: 14.5, color: 'rgba(44,44,42,0.78)', lineHeight: 1.7, marginTop: 6, fontFamily: 'Microsoft YaHei' }}&gt;走黄淮平原西进，绕开主力，经南阳入武关、越秦岭下蓝田。&lt;/Text&gt;&#13;&#10;      &lt;/Box&gt;&#13;&#10;      &lt;Box style={{ flex: 1 }}&gt;&#13;&#10;        &lt;Text style={{ fontSize: 16, fontWeight: 'bold', color: '#A32D2D', fontFamily: 'Microsoft YaHei' }}&gt;地形即命运&lt;/Text&gt;&#13;&#10;        &lt;Text style={{ fontSize: 14.5, color: 'rgba(44,44,42,0.78)', lineHeight: 1.7, marginTop: 6, fontFamily: 'Microsoft YaHei' }}&gt;平原快、山地慢；南路赢在「不硬碰」，谁先入关早已写在地图上。&lt;/Text&gt;&#13;&#10;      &lt;/Box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06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868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869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870" name=""/>
          <p:cNvSpPr/>
          <p:nvPr/>
        </p:nvSpPr>
        <p:spPr>
          <a:xfrm rot="0" flipH="0" flipV="0">
            <a:off x="609600" y="39052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790575" y="361950"/>
            <a:ext cx="3514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从彭城到咸阳：两路进兵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4476750" y="447675"/>
            <a:ext cx="1828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山川</a:t>
            </a:r>
            <a:r>
              <a:rPr lang="en-US" sz="1350" spc="150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350" spc="150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地形</a:t>
            </a:r>
            <a:r>
              <a:rPr lang="en-US" sz="1350" spc="150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350" spc="150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要地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6515100" y="466725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第一章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杀机从何而来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609600" y="952500"/>
            <a:ext cx="10972800" cy="3695700"/>
          </a:xfrm>
          <a:prstGeom prst="rect">
            <a:avLst/>
          </a:prstGeom>
          <a:solidFill>
            <a:srgbClr val="FBF8EF"/>
          </a:solidFill>
          <a:ln w="7620">
            <a:solidFill>
              <a:srgbClr val="D9D3C4"/>
            </a:solidFill>
            <a:prstDash val="solid"/>
          </a:ln>
        </p:spPr>
        <p:txBody>
          <a:bodyPr/>
          <a:p/>
        </p:txBody>
      </p:sp>
      <p:pic>
        <p:nvPicPr>
          <p:cNvPr id="8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952500"/>
            <a:ext cx="10972800" cy="3695700"/>
          </a:xfrm>
          <a:prstGeom prst="rect">
            <a:avLst/>
          </a:prstGeom>
          <a:ln/>
        </p:spPr>
      </p:pic>
      <p:sp>
        <p:nvSpPr>
          <p:cNvPr id="876" name=""/>
          <p:cNvSpPr/>
          <p:nvPr/>
        </p:nvSpPr>
        <p:spPr>
          <a:xfrm rot="0" flipH="0" flipV="0">
            <a:off x="609600" y="4800600"/>
            <a:ext cx="10972800" cy="14859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77" name=""/>
          <p:cNvSpPr/>
          <p:nvPr/>
        </p:nvSpPr>
        <p:spPr>
          <a:xfrm rot="0" flipH="0" flipV="0">
            <a:off x="876300" y="4953000"/>
            <a:ext cx="10439400" cy="276225"/>
          </a:xfrm>
          <a:custGeom>
            <a:pathLst>
              <a:path w="1096" h="29">
                <a:moveTo>
                  <a:pt x="0" y="29"/>
                </a:moveTo>
                <a:lnTo>
                  <a:pt x="1096" y="29"/>
                </a:lnTo>
                <a:lnTo>
                  <a:pt x="109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878" name=""/>
          <p:cNvSpPr/>
          <p:nvPr/>
        </p:nvSpPr>
        <p:spPr>
          <a:xfrm rot="0" flipH="0" flipV="0">
            <a:off x="876300" y="5019675"/>
            <a:ext cx="266700" cy="28575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1219200" y="4953000"/>
            <a:ext cx="600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北路</a:t>
            </a:r>
            <a:r>
              <a:rPr lang="en-US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项羽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2047875" y="5019675"/>
            <a:ext cx="26670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2390775" y="4953000"/>
            <a:ext cx="600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南路</a:t>
            </a:r>
            <a:r>
              <a:rPr lang="en-US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刘邦</a:t>
            </a:r>
            <a:endParaRPr/>
          </a:p>
        </p:txBody>
      </p:sp>
      <p:pic>
        <p:nvPicPr>
          <p:cNvPr id="8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219450" y="4972050"/>
            <a:ext cx="133350" cy="114300"/>
          </a:xfrm>
          <a:prstGeom prst="rect">
            <a:avLst/>
          </a:prstGeom>
          <a:ln/>
        </p:spPr>
      </p:pic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429000" y="49530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山地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3905250" y="4981575"/>
            <a:ext cx="152400" cy="104775"/>
          </a:xfrm>
          <a:prstGeom prst="rect">
            <a:avLst/>
          </a:prstGeom>
          <a:solidFill>
            <a:srgbClr val="F1ECDC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133850" y="49530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平原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4953000" y="49530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黄河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5429250" y="4981575"/>
            <a:ext cx="104775" cy="104775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5610225" y="4953000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要地</a:t>
            </a:r>
            <a:r>
              <a:rPr lang="en-US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关隘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876300" y="5353050"/>
            <a:ext cx="3267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北路：仗硬路远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876300" y="5600700"/>
            <a:ext cx="32670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渡黄河、战巨鹿、破函谷——先与秦军主力死磕，再翻山叩关。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4467225" y="5353050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A7517"/>
                </a:solidFill>
                <a:latin typeface="Microsoft YaHei"/>
                <a:ea typeface="Microsoft YaHei"/>
              </a:rPr>
              <a:t>南路：避实就虚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4467225" y="5600700"/>
            <a:ext cx="32575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走黄淮平原西进，绕开主力，经南阳入武关、越秦岭下蓝田。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8048625" y="5353050"/>
            <a:ext cx="3267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Microsoft YaHei"/>
                <a:ea typeface="Microsoft YaHei"/>
              </a:rPr>
              <a:t>地形即命运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8048625" y="5600700"/>
            <a:ext cx="32670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平原快、山地慢；南路赢在「不硬碰」，谁先入关早已写在地图上。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4610100" y="5010150"/>
            <a:ext cx="266700" cy="47625"/>
          </a:xfrm>
          <a:prstGeom prst="roundRect">
            <a:avLst>
              <a:gd name="adj" fmla="val 60000"/>
            </a:avLst>
          </a:prstGeom>
          <a:solidFill>
            <a:srgbClr val="6B8299">
              <a:alpha val="55000"/>
            </a:srgbClr>
          </a:solidFill>
          <a:ln/>
        </p:spPr>
        <p:txBody>
          <a:bodyPr/>
          <a:p/>
        </p:txBody>
      </p:sp>
      <p:sp>
        <p:nvSpPr>
          <p:cNvPr id="896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06 / 32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899" name="" descr="&lt;Slide notes={`再看这根导火索怎么被点着的。&#13;&#10;&#13;&#10;先说清楚：怀王之约不是项羽答应下来的，是楚怀王定的。项梁在定陶战死后，楚怀王趁机收拢兵权、压制项氏。军中老将评价项羽「慓悍猾贼，不可遣」，说沛公「宽大长者，可遣」——这个约定本身就带着绕开项羽、防着项家的政治算计。&#13;&#10;&#13;&#10;所以项羽先忍、再翻脸：彼时他只是救赵军的次将，名分上仍是臣属，只能暂时咽下；等巨鹿一战消灭秦军主力、威震诸侯，他进关中就自立西楚霸王、分封十八路诸侯，还把刘邦贬去巴蜀汉中。&#13;&#10;&#13;&#10;最后一根导火索，是左司马曹无伤暗中告密：「沛公欲王关中，使子婴为相，珍宝尽有之」——精准踩中项羽「天下只能有一个王」的逆鳞。鸿门宴就此摆开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从忍让到翻脸：一根导火索&lt;/Text&gt;&#13;&#10;    &lt;Text style={{ fontSize: 14, color: 'rgba(44,44,42,0.45)', letterSpacing: 2, fontFamily: 'Microsoft YaHei', marginLeft: 8 }}&gt;第一章 · 杀机从何而来&lt;/Text&gt;&#13;&#10;  &lt;/Box&gt;&#13;&#10;&#13;&#10;  &lt;Box style={{ position: 'absolute', left: 64, top: 130, width: 372, height: 500 }}&gt;&#13;&#10;    &lt;Text style={{ fontSize: 40, fontWeight: 'bold', color: '#2C2C2A', letterSpacing: 4, fontFamily: 'STZhongsong' }}&gt;怀王之约&lt;/Text&gt;&#13;&#10;    &lt;Box style={{ width: 46, height: 3, background: '#BA7517', marginTop: 20 }} /&gt;&#13;&#10;    &lt;Text style={{ fontSize: 19, fontWeight: 'bold', color: '#2C2C2A', lineHeight: 1.7, marginTop: 24, fontFamily: 'STZhongsong' }}&gt;这不是项羽答应下来的——是楚怀王定的。&lt;/Text&gt;&#13;&#10;    &lt;Text style={{ fontSize: 16, color: 'rgba(44,44,42,0.62)', lineHeight: 1.95, marginTop: 20, fontFamily: 'Microsoft YaHei' }}&gt;&#13;&#10;      项梁在定陶战死后，楚怀王趁机收拢兵权、压制项氏。军中老将评价：「项羽为人慓悍猾贼，不可遣；沛公宽大长者，可遣。」这个约定，本身就带着绕开项羽、防着项家的政治算计。&#13;&#10;    &lt;/Text&gt;&#13;&#10;  &lt;/Box&gt;&#13;&#10;&#13;&#10;  &lt;Box style={{ position: 'absolute', left: 496, top: 120, width: 720, height: 540 }}&gt;&#13;&#10;    &lt;Box style={{ position: 'absolute', left: 26, top: 30, width: 2, height: 380, background: '#D9D3C4' }} /&gt;&#13;&#10;    &lt;Box style={{ display: 'flex', flexDirection: 'column', justifyContent: 'space-between', height: 460 }}&gt;&#13;&#10;      &lt;Box style={{ display: 'flex', flexDirection: 'row', gap: 24 }}&gt;&#13;&#10;        &lt;Box style={{ width: 54, alignItems: 'center' }}&gt;&#13;&#10;          &lt;Box style={{ width: 36, height: 36, borderRadius: 18, background: '#2C2C2A', display: 'flex', alignItems: 'center', justifyContent: 'center' }}&gt;&#13;&#10;            &lt;Text style={{ fontSize: 16, color: '#F6F2E7', fontFamily: 'STZhongsong' }}&gt;壹&lt;/Text&gt;&#13;&#10;          &lt;/Box&gt;&#13;&#10;        &lt;/Box&gt;&#13;&#10;        &lt;Box style={{ flex: 1 }}&gt;&#13;&#10;          &lt;Text style={{ fontSize: 22, fontWeight: 'bold', color: '#2C2C2A', letterSpacing: 2, fontFamily: 'STZhongsong' }}&gt;暂时咽下&lt;/Text&gt;&#13;&#10;          &lt;Text style={{ fontSize: 17, color: 'rgba(44,44,42,0.78)', lineHeight: 1.8, marginTop: 8, fontFamily: 'Microsoft YaHei' }}&gt;彼时项羽只是救赵军的次将，名分上仍是臣属，无法公然否定怀王之约，只能暂时咽下。&lt;/Text&gt;&#13;&#10;        &lt;/Box&gt;&#13;&#10;      &lt;/Box&gt;&#13;&#10;&#13;&#10;      &lt;Box style={{ display: 'flex', flexDirection: 'row', gap: 24 }}&gt;&#13;&#10;        &lt;Box style={{ width: 54, alignItems: 'center' }}&gt;&#13;&#10;          &lt;Box style={{ width: 36, height: 36, borderRadius: 18, background: '#2C2C2A', display: 'flex', alignItems: 'center', justifyContent: 'center' }}&gt;&#13;&#10;            &lt;Text style={{ fontSize: 16, color: '#F6F2E7', fontFamily: 'STZhongsong' }}&gt;贰&lt;/Text&gt;&#13;&#10;          &lt;/Box&gt;&#13;&#10;        &lt;/Box&gt;&#13;&#10;        &lt;Box style={{ flex: 1 }}&gt;&#13;&#10;          &lt;Text style={{ fontSize: 22, fontWeight: 'bold', color: '#2C2C2A', letterSpacing: 2, fontFamily: 'STZhongsong' }}&gt;当场翻脸&lt;/Text&gt;&#13;&#10;          &lt;Text style={{ fontSize: 17, color: 'rgba(44,44,42,0.78)', lineHeight: 1.8, marginTop: 8, fontFamily: 'Microsoft YaHei' }}&gt;自恃巨鹿一战消灭秦军主力、威震诸侯，一进关中就自立西楚霸王、分封十八路诸侯，用「巴蜀亦关中地也」把刘邦贬去巴蜀汉中。&lt;/Text&gt;&#13;&#10;        &lt;/Box&gt;&#13;&#10;      &lt;/Box&gt;&#13;&#10;&#13;&#10;      &lt;Box style={{ display: 'flex', flexDirection: 'row', gap: 24 }}&gt;&#13;&#10;        &lt;Box style={{ width: 54, alignItems: 'center' }}&gt;&#13;&#10;          &lt;Box style={{ width: 36, height: 36, borderRadius: 18, background: '#A32D2D', display: 'flex', alignItems: 'center', justifyContent: 'center' }}&gt;&#13;&#10;            &lt;Text style={{ fontSize: 16, color: '#F6F2E7', fontFamily: 'STZhongsong' }}&gt;叁&lt;/Text&gt;&#13;&#10;          &lt;/Box&gt;&#13;&#10;        &lt;/Box&gt;&#13;&#10;        &lt;Box style={{ flex: 1 }}&gt;&#13;&#10;          &lt;Text style={{ fontSize: 22, fontWeight: 'bold', color: '#A32D2D', letterSpacing: 2, fontFamily: 'STZhongsong' }}&gt;导火索&lt;/Text&gt;&#13;&#10;          &lt;Text style={{ fontSize: 17, color: 'rgba(44,44,42,0.78)', lineHeight: 1.8, marginTop: 8, fontFamily: 'Microsoft YaHei' }}&gt;左司马曹无伤暗中告密——「沛公欲王关中，使子婴为相，珍宝尽有之」，精准踩中项羽「天下只能有一个王」的逆鳞。一场设伏借宴摊牌的鸿门宴，就此摆开。&lt;/Text&gt;&#13;&#10;        &lt;/Box&gt;&#13;&#10;      &lt;/Box&gt;&#13;&#10;    &lt;/Box&gt;&#13;&#10;&#13;&#10;    &lt;Box style={{ position: 'absolute', left: 0, bottom: 0, width: 720, display: 'flex', flexDirection: 'row', alignItems: 'center', gap: 12, background: 'rgba(44,44,42,0.06)', padding: '18px 22px' }}&gt;&#13;&#10;      &lt;Box style={{ width: 12, height: 12, background: '#A32D2D' }} /&gt;&#13;&#10;      &lt;Text style={{ fontSize: 18, fontWeight: 'bold', color: '#2C2C2A', lineHeight: 1.6, fontFamily: 'Microsoft YaHei' }}&gt;鸿门宴不是赔罪的酒局，而是要用武力把约定重新清算一遍。&lt;/Text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07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901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902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903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829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从忍让到翻脸：一根导火索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4829175" y="485775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第一章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杀机从何而来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35433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 spc="300">
                <a:solidFill>
                  <a:srgbClr val="2C2C2A"/>
                </a:solidFill>
                <a:latin typeface="STZhongsong"/>
                <a:ea typeface="STZhongsong"/>
              </a:rPr>
              <a:t>怀王之约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609600" y="1885950"/>
            <a:ext cx="43815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35433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 b="1">
                <a:solidFill>
                  <a:srgbClr val="2C2C2A"/>
                </a:solidFill>
                <a:latin typeface="STZhongsong"/>
                <a:ea typeface="STZhongsong"/>
              </a:rPr>
              <a:t>这不是项羽答应下来的——是楚怀王定的。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609600" y="2705100"/>
            <a:ext cx="3543300" cy="1428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项梁在定陶战死后，楚怀王趁机收拢兵权、压制项氏。军中老将评价：「项羽为人慓悍猾贼，不可遣；沛公宽大长者，可遣。」这个约定，本身就带着绕开项羽、防着项家的政治算计。</a:t>
            </a:r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4810125" y="11430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4905375" y="12192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6F2E7"/>
                </a:solidFill>
                <a:latin typeface="STZhongsong"/>
                <a:ea typeface="STZhongsong"/>
              </a:rPr>
              <a:t>壹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5467350" y="1143000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2C2C2A"/>
                </a:solidFill>
                <a:latin typeface="STZhongsong"/>
                <a:ea typeface="STZhongsong"/>
              </a:rPr>
              <a:t>暂时咽下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5467350" y="1476375"/>
            <a:ext cx="61150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彼时项羽只是救赵军的次将，名分上仍是臣属，无法公然否定怀王之约，只能暂时咽下。</a:t>
            </a:r>
            <a:endParaRPr/>
          </a:p>
        </p:txBody>
      </p:sp>
      <p:sp>
        <p:nvSpPr>
          <p:cNvPr id="914" name=""/>
          <p:cNvSpPr/>
          <p:nvPr/>
        </p:nvSpPr>
        <p:spPr>
          <a:xfrm rot="0" flipH="0" flipV="0">
            <a:off x="4810125" y="2819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4905375" y="28956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6F2E7"/>
                </a:solidFill>
                <a:latin typeface="STZhongsong"/>
                <a:ea typeface="STZhongsong"/>
              </a:rPr>
              <a:t>贰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5467350" y="2819400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2C2C2A"/>
                </a:solidFill>
                <a:latin typeface="STZhongsong"/>
                <a:ea typeface="STZhongsong"/>
              </a:rPr>
              <a:t>当场翻脸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5467350" y="3152775"/>
            <a:ext cx="61150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自恃巨鹿一战消灭秦军主力、威震诸侯，一进关中就自立西楚霸王、分封十八路诸侯，用「巴蜀亦关中地也」把刘邦贬去巴蜀汉中。</a:t>
            </a:r>
            <a:endParaRPr/>
          </a:p>
        </p:txBody>
      </p:sp>
      <p:sp>
        <p:nvSpPr>
          <p:cNvPr id="918" name=""/>
          <p:cNvSpPr/>
          <p:nvPr/>
        </p:nvSpPr>
        <p:spPr>
          <a:xfrm rot="0" flipH="0" flipV="0">
            <a:off x="4810125" y="44862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4905375" y="45624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6F2E7"/>
                </a:solidFill>
                <a:latin typeface="STZhongsong"/>
                <a:ea typeface="STZhongsong"/>
              </a:rPr>
              <a:t>叁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5467350" y="448627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A32D2D"/>
                </a:solidFill>
                <a:latin typeface="STZhongsong"/>
                <a:ea typeface="STZhongsong"/>
              </a:rPr>
              <a:t>导火索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5467350" y="4819650"/>
            <a:ext cx="61150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左司马曹无伤暗中告密——「沛公欲王关中，使子婴为相，珍宝尽有之」，精准踩中项羽「天下只能有一个王」的逆鳞。一场设伏借宴摊牌的鸿门宴，就此摆开。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4972050" y="1428750"/>
            <a:ext cx="19050" cy="361950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923" name=""/>
          <p:cNvSpPr/>
          <p:nvPr/>
        </p:nvSpPr>
        <p:spPr>
          <a:xfrm rot="0" flipH="0" flipV="0">
            <a:off x="4724400" y="5610225"/>
            <a:ext cx="6858000" cy="67627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924" name=""/>
          <p:cNvSpPr/>
          <p:nvPr/>
        </p:nvSpPr>
        <p:spPr>
          <a:xfrm rot="0" flipH="0" flipV="0">
            <a:off x="4933950" y="589597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5162550" y="5781675"/>
            <a:ext cx="46291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2C2C2A"/>
                </a:solidFill>
                <a:latin typeface="Microsoft YaHei"/>
                <a:ea typeface="Microsoft YaHei"/>
              </a:rPr>
              <a:t>鸿门宴不是赔罪的酒局，而是要用武力把约定重新清算一遍。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07 / 32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929" name="" descr="&lt;Slide notes={`在进入第二部分之前，我先搞清楚一件事：这场鸿门宴，到底是谁策划的？目的是什么？&#13;&#10;&#13;&#10;答案是两个人：范增和项羽。范增是主谋，项羽是首肯者。&#13;&#10;&#13;&#10;范增是谁？项羽的首席谋士，被尊为「亚父」。早在刘邦还在路上的时候，范增就跟项羽说：刘邦以前贪财好色，现在进了关中什么都不拿、女人也不碰，这个人志向不小；我望他头顶的云气，是龙虎之形、五彩斑斓，这是天子气啊——赶紧动手，别错过！&#13;&#10;&#13;&#10;范增为什么这么急？因为他的目的很明确：在刘邦还没站稳脚跟之前，趁项羽军力最盛的时候，一举除掉他。这不是意气用事，而是一场精心策划的政治清除行动。&#13;&#10;&#13;&#10;但范增需要项羽点头。而项羽呢？他没有阻止范增，没有解散军队，没有取消宴会——等于默许了。所以这是「范增策划、项羽批准」的联合行动。&#13;&#10;&#13;&#10;目的分三层：表面是借宴席之名把刘邦骗过来除掉；深层是清算「先入关中者王之」的约定；根本是在诸侯还没反应过来之前，消灭最大竞争对手。所以鸿门宴不是简单的请客吃饭，而是一场披着宴会外衣的政治谋杀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谁策划了这场鸿门宴？&lt;/Text&gt;&#13;&#10;    &lt;Text style={{ fontSize: 20, color: 'rgba(44,44,42,0.55)', letterSpacing: 1, fontFamily: 'STZhongsong', marginLeft: 4 }}&gt;范增主谋 + 项羽首肯&lt;/Text&gt;&#13;&#10;    &lt;Text style={{ fontSize: 14, color: 'rgba(44,44,42,0.45)', letterSpacing: 2, fontFamily: 'Microsoft YaHei', marginLeft: 10 }}&gt;第一章 · 杀机从何而来&lt;/Text&gt;&#13;&#10;  &lt;/Box&gt;&#13;&#10;&#13;&#10;  &lt;Box style={{ position: 'absolute', left: 64, top: 118, width: 556, height: 542, display: 'flex', flexDirection: 'column', justifyContent: 'space-between' }}&gt;&#13;&#10;&#13;&#10;    &lt;Box style={{ background: '#FFFFFF', border: '0.5px solid #D9D3C4', boxShadow: '0 4px 20px rgba(44,44,42,0.08)', padding: '20px 24px', display: 'flex', flexDirection: 'column' }}&gt;&#13;&#10;      &lt;Box style={{ display: 'flex', flexDirection: 'row', alignItems: 'center', gap: 14 }}&gt;&#13;&#10;        &lt;Box style={{ width: 44, height: 44, background: '#2C2C2A', display: 'flex', alignItems: 'center', justifyContent: 'center' }}&gt;&#13;&#10;          &lt;Text style={{ fontSize: 19, color: '#F6F2E7', fontFamily: 'STZhongsong', fontWeight: 'bold' }}&gt;范&lt;/Text&gt;&#13;&#10;        &lt;/Box&gt;&#13;&#10;        &lt;Box&gt;&#13;&#10;          &lt;Text style={{ fontSize: 26, fontWeight: 'bold', color: '#2C2C2A', letterSpacing: 2, fontFamily: 'STZhongsong' }}&gt;范增&lt;/Text&gt;&#13;&#10;          &lt;Text style={{ fontSize: 14, color: '#BA7517', letterSpacing: 2, marginTop: 3, fontFamily: 'Microsoft YaHei' }}&gt;主谋 · 被尊为「亚父」&lt;/Text&gt;&#13;&#10;        &lt;/Box&gt;&#13;&#10;      &lt;/Box&gt;&#13;&#10;      &lt;Box style={{ width: '100%', height: 0.5, background: '#D9D3C4', marginTop: 14 }} /&gt;&#13;&#10;      &lt;Text style={{ fontSize: 15, color: 'rgba(44,44,42,0.78)', lineHeight: 1.75, marginTop: 12, fontFamily: 'Microsoft YaHei' }}&gt;&#13;&#10;        项羽的首席谋士，被尊为「亚父」——仅次于父亲。他是这场鸿门宴真正的策划者与推动者。&#13;&#10;      &lt;/Text&gt;&#13;&#10;      &lt;Box style={{ marginTop: 10, borderLeft: '3px solid #BA7517', background: 'rgba(44,44,42,0.05)', padding: '10px 14px' }}&gt;&#13;&#10;        &lt;Text style={{ fontSize: 13, color: '#2C2C2A', lineHeight: 1.7, fontFamily: 'Microsoft YaHei' }}&gt;&#13;&#10;          「刘邦居沛公时，贪于财货，好美姬。今入关，财物无所取，妇女无所幸，此其志不在小。吾令人望其气，皆为龙虎，成五采，此天子气也。急击勿失！」&#13;&#10;        &lt;/Text&gt;&#13;&#10;      &lt;/Box&gt;&#13;&#10;      &lt;Text style={{ fontSize: 13, color: 'rgba(44,44,42,0.7)', lineHeight: 1.7, marginTop: 10, fontFamily: 'Microsoft YaHei' }}&gt;&#13;&#10;        译：以前贪财好色，如今进了关中什么都不拿、女人也不碰，志向不小；我望他头顶云气是龙虎五彩，这是天子气——赶紧动手，别错过！&#13;&#10;      &lt;/Text&gt;&#13;&#10;    &lt;/Box&gt;&#13;&#10;&#13;&#10;    &lt;Box style={{ background: 'rgba(44,44,42,0.06)', borderLeft: '3px solid #A32D2D', padding: '18px 22px' }}&gt;&#13;&#10;      &lt;Text style={{ fontSize: 20, fontWeight: 'bold', color: '#2C2C2A', letterSpacing: 1, fontFamily: 'STZhongsong' }}&gt;范增为什么这么急？&lt;/Text&gt;&#13;&#10;      &lt;Text style={{ fontSize: 15, color: 'rgba(44,44,42,0.8)', lineHeight: 1.8, marginTop: 8, fontFamily: 'Microsoft YaHei' }}&gt;&#13;&#10;        目的很明确：在刘邦还没站稳脚跟之前，趁项羽军力最盛的时候，一举除掉他。这不是意气用事，而是一场精心策划的政治清除行动。&#13;&#10;      &lt;/Text&gt;&#13;&#10;    &lt;/Box&gt;&#13;&#10;&#13;&#10;  &lt;/Box&gt;&#13;&#10;&#13;&#10;  &lt;Box style={{ position: 'absolute', left: 652, top: 118, width: 564, height: 542, display: 'flex', flexDirection: 'column', justifyContent: 'space-between' }}&gt;&#13;&#10;&#13;&#10;    &lt;Box style={{ background: '#FFFFFF', border: '0.5px solid #D9D3C4', boxShadow: '0 4px 20px rgba(44,44,42,0.08)', padding: '20px 24px' }}&gt;&#13;&#10;      &lt;Box style={{ display: 'flex', flexDirection: 'row', alignItems: 'center', gap: 14 }}&gt;&#13;&#10;        &lt;Box style={{ width: 44, height: 44, background: '#BA7517', display: 'flex', alignItems: 'center', justifyContent: 'center' }}&gt;&#13;&#10;          &lt;Text style={{ fontSize: 19, color: '#F6F2E7', fontFamily: 'STZhongsong', fontWeight: 'bold' }}&gt;项&lt;/Text&gt;&#13;&#10;        &lt;/Box&gt;&#13;&#10;        &lt;Box&gt;&#13;&#10;          &lt;Text style={{ fontSize: 26, fontWeight: 'bold', color: '#2C2C2A', letterSpacing: 2, fontFamily: 'STZhongsong' }}&gt;项羽&lt;/Text&gt;&#13;&#10;          &lt;Text style={{ fontSize: 14, color: '#BA7517', letterSpacing: 2, marginTop: 3, fontFamily: 'Microsoft YaHei' }}&gt;首肯者 · 默许这场杀局&lt;/Text&gt;&#13;&#10;        &lt;/Box&gt;&#13;&#10;      &lt;/Box&gt;&#13;&#10;      &lt;Box style={{ width: '100%', height: 0.5, background: '#D9D3C4', marginTop: 14 }} /&gt;&#13;&#10;      &lt;Text style={{ fontSize: 15, color: 'rgba(44,44,42,0.78)', lineHeight: 1.8, marginTop: 14, fontFamily: 'Microsoft YaHei' }}&gt;&#13;&#10;        范增需要项羽点头。项羽嘴上说「不忍」，却默许了——没阻止、没解散军队、没取消宴会，等于变相批准。&#13;&#10;      &lt;/Text&gt;&#13;&#10;    &lt;/Box&gt;&#13;&#10;&#13;&#10;    &lt;Box style={{ background: '#FFFFFF', border: '0.5px solid #D9D3C4', boxShadow: '0 4px 20px rgba(44,44,42,0.08)', padding: '20px 24px', display: 'flex', flexDirection: 'column', gap: 10 }}&gt;&#13;&#10;      &lt;Text style={{ fontSize: 20, fontWeight: 'bold', color: '#2C2C2A', letterSpacing: 1, fontFamily: 'STZhongsong' }}&gt;三层目的&lt;/Text&gt;&#13;&#10;      &lt;Text style={{ fontSize: 15, lineHeight: 1.7, fontFamily: 'Microsoft YaHei', color: 'rgba(44,44,42,0.82)' }}&gt;&#13;&#10;        &lt;span style={{ fontWeight: 'bold', color: '#2C2C2A' }}&gt;① 表面 · &lt;/span&gt;把刘邦骗到自己的地盘，名正言顺地除掉他。&#13;&#10;      &lt;/Text&gt;&#13;&#10;      &lt;Text style={{ fontSize: 15, lineHeight: 1.7, fontFamily: 'Microsoft YaHei', color: 'rgba(44,44,42,0.82)' }}&gt;&#13;&#10;        &lt;span style={{ fontWeight: 'bold', color: '#2C2C2A' }}&gt;② 深层 · &lt;/span&gt;清算「先入关中者王之」的约定，用武力重新分配。&#13;&#10;      &lt;/Text&gt;&#13;&#10;      &lt;Text style={{ fontSize: 15, lineHeight: 1.7, fontFamily: 'Microsoft YaHei', color: 'rgba(44,44,42,0.82)' }}&gt;&#13;&#10;        &lt;span style={{ fontWeight: 'bold', color: '#A32D2D' }}&gt;③ 根本 · &lt;/span&gt;在诸侯反应过来之前，消灭最大竞争对手，巩固「天下共主」地位。&#13;&#10;      &lt;/Text&gt;&#13;&#10;    &lt;/Box&gt;&#13;&#10;&#13;&#10;    &lt;Box style={{ background: '#2C2C2A', padding: '18px 24px', display: 'flex', flexDirection: 'row', alignItems: 'center', gap: 16 }}&gt;&#13;&#10;      &lt;Box style={{ width: 34, height: 34, background: '#A32D2D', display: 'flex', alignItems: 'center', justifyContent: 'center' }}&gt;&#13;&#10;        &lt;Text style={{ fontSize: 17, color: '#F6F2E7', fontFamily: 'STZhongsong', fontWeight: 'bold' }}&gt;杀&lt;/Text&gt;&#13;&#10;      &lt;/Box&gt;&#13;&#10;      &lt;Text style={{ fontSize: 16, fontWeight: 'bold', color: '#F6F2E7', lineHeight: 1.6, fontFamily: 'Microsoft YaHei' }}&gt;&#13;&#10;        这不是请客吃饭，而是一场披着宴会外衣的政治谋杀。&#13;&#10;      &lt;/Text&gt;&#13;&#10;    &lt;/Box&gt;&#13;&#10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08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931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932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933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190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谁策划了这场鸿门宴？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4152900" y="457200"/>
            <a:ext cx="1866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范增主谋</a:t>
            </a:r>
            <a:r>
              <a:rPr lang="en-US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+ </a:t>
            </a: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项羽首肯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6248400" y="485775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第一章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杀机从何而来</a:t>
            </a:r>
            <a:endParaRPr/>
          </a:p>
        </p:txBody>
      </p:sp>
      <p:sp>
        <p:nvSpPr>
          <p:cNvPr id="937" name=""/>
          <p:cNvSpPr/>
          <p:nvPr/>
        </p:nvSpPr>
        <p:spPr>
          <a:xfrm rot="0" flipH="0" flipV="0">
            <a:off x="609600" y="1123950"/>
            <a:ext cx="5295900" cy="31432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8" name=""/>
          <p:cNvSpPr/>
          <p:nvPr/>
        </p:nvSpPr>
        <p:spPr>
          <a:xfrm rot="0" flipH="0" flipV="0">
            <a:off x="838200" y="1352550"/>
            <a:ext cx="419100" cy="4191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962025" y="1457325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6F2E7"/>
                </a:solidFill>
                <a:latin typeface="STZhongsong"/>
                <a:ea typeface="STZhongsong"/>
              </a:rPr>
              <a:t>范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1390650" y="1314450"/>
            <a:ext cx="1543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2C2C2A"/>
                </a:solidFill>
                <a:latin typeface="STZhongsong"/>
                <a:ea typeface="STZhongsong"/>
              </a:rPr>
              <a:t>范增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1390650" y="1647825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主谋</a:t>
            </a:r>
            <a:r>
              <a:rPr lang="en-US" sz="1050" spc="15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被尊为「亚父」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838200" y="1943100"/>
            <a:ext cx="48387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838200" y="2066925"/>
            <a:ext cx="48387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项羽的首席谋士，被尊为「亚父」——仅次于父亲。他是这场鸿门宴真正的策划者与推动者。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866775" y="2762250"/>
            <a:ext cx="4838700" cy="704850"/>
          </a:xfrm>
          <a:prstGeom prst="rect">
            <a:avLst/>
          </a:prstGeom>
          <a:solidFill>
            <a:srgbClr val="2C2C2A">
              <a:alpha val="5000"/>
            </a:srgbClr>
          </a:solidFill>
          <a:ln/>
        </p:spPr>
        <p:txBody>
          <a:bodyPr/>
          <a:p/>
        </p:txBody>
      </p:sp>
      <p:sp>
        <p:nvSpPr>
          <p:cNvPr id="945" name=""/>
          <p:cNvSpPr/>
          <p:nvPr/>
        </p:nvSpPr>
        <p:spPr>
          <a:xfrm rot="0" flipH="0" flipV="0">
            <a:off x="838200" y="2762250"/>
            <a:ext cx="4867275" cy="704850"/>
          </a:xfrm>
          <a:custGeom>
            <a:pathLst>
              <a:path w="511" h="74">
                <a:moveTo>
                  <a:pt x="0" y="0"/>
                </a:moveTo>
                <a:lnTo>
                  <a:pt x="3" y="0"/>
                </a:lnTo>
                <a:lnTo>
                  <a:pt x="3" y="74"/>
                </a:lnTo>
                <a:lnTo>
                  <a:pt x="0" y="74"/>
                </a:ln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1000125" y="2857500"/>
            <a:ext cx="45434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2C2C2A"/>
                </a:solidFill>
                <a:latin typeface="Microsoft YaHei"/>
                <a:ea typeface="Microsoft YaHei"/>
              </a:rPr>
              <a:t>「刘邦居沛公时，贪于财货，好美姬。今入关，财物无所取，妇女无所幸，此其志不在小。吾令人望其气，皆为龙虎，成五采，此天子气也。急击勿失！」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838200" y="3562350"/>
            <a:ext cx="4838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2C2C2A">
                    <a:alpha val="70000"/>
                  </a:srgbClr>
                </a:solidFill>
                <a:latin typeface="Microsoft YaHei"/>
                <a:ea typeface="Microsoft YaHei"/>
              </a:rPr>
              <a:t>译：以前贪财好色，如今进了关中什么都不拿、女人也不碰，志向不小；我望他头顶云气是龙虎五彩，这是天子气——赶紧动手，别错过！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638175" y="5019675"/>
            <a:ext cx="5295900" cy="126682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949" name=""/>
          <p:cNvSpPr/>
          <p:nvPr/>
        </p:nvSpPr>
        <p:spPr>
          <a:xfrm rot="0" flipH="0" flipV="0">
            <a:off x="609600" y="5019675"/>
            <a:ext cx="5324475" cy="1266825"/>
          </a:xfrm>
          <a:custGeom>
            <a:pathLst>
              <a:path w="559" h="133">
                <a:moveTo>
                  <a:pt x="0" y="0"/>
                </a:moveTo>
                <a:lnTo>
                  <a:pt x="3" y="0"/>
                </a:lnTo>
                <a:lnTo>
                  <a:pt x="3" y="133"/>
                </a:lnTo>
                <a:lnTo>
                  <a:pt x="0" y="133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847725" y="5191125"/>
            <a:ext cx="4848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范增为什么这么急？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847725" y="5495925"/>
            <a:ext cx="48482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目的很明确：在刘邦还没站稳脚跟之前，趁项羽军力最盛的时候，一举除掉他。这不是意气用事，而是一场精心策划的政治清除行动。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6210300" y="1123950"/>
            <a:ext cx="5372100" cy="17716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53" name=""/>
          <p:cNvSpPr/>
          <p:nvPr/>
        </p:nvSpPr>
        <p:spPr>
          <a:xfrm rot="0" flipH="0" flipV="0">
            <a:off x="6438900" y="1352550"/>
            <a:ext cx="419100" cy="419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6562725" y="1457325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6F2E7"/>
                </a:solidFill>
                <a:latin typeface="STZhongsong"/>
                <a:ea typeface="STZhongsong"/>
              </a:rPr>
              <a:t>项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6991350" y="1314450"/>
            <a:ext cx="1543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2C2C2A"/>
                </a:solidFill>
                <a:latin typeface="STZhongsong"/>
                <a:ea typeface="STZhongsong"/>
              </a:rPr>
              <a:t>项羽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6991350" y="1647825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首肯者</a:t>
            </a:r>
            <a:r>
              <a:rPr lang="en-US" sz="1050" spc="15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默许这场杀局</a:t>
            </a:r>
            <a:endParaRPr/>
          </a:p>
        </p:txBody>
      </p:sp>
      <p:sp>
        <p:nvSpPr>
          <p:cNvPr id="957" name=""/>
          <p:cNvSpPr/>
          <p:nvPr/>
        </p:nvSpPr>
        <p:spPr>
          <a:xfrm rot="0" flipH="0" flipV="0">
            <a:off x="6438900" y="1943100"/>
            <a:ext cx="49149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6438900" y="2085975"/>
            <a:ext cx="4914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范增需要项羽点头。项羽嘴上说「不忍」，却默许了——没阻止、没解散军队、没取消宴会，等于变相批准。</a:t>
            </a:r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6210300" y="3371850"/>
            <a:ext cx="5372100" cy="178117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6438900" y="356235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三层目的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6438900" y="3886200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2C2C2A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2C2C2A"/>
                </a:solidFill>
                <a:latin typeface="Microsoft YaHei"/>
                <a:ea typeface="Microsoft YaHei"/>
              </a:rPr>
              <a:t>表面</a:t>
            </a:r>
            <a:r>
              <a:rPr lang="en-US" sz="1125" b="1">
                <a:solidFill>
                  <a:srgbClr val="2C2C2A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把刘邦骗到自己的地盘，名正言顺地除掉他。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6438900" y="4276725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2C2C2A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2C2C2A"/>
                </a:solidFill>
                <a:latin typeface="Microsoft YaHei"/>
                <a:ea typeface="Microsoft YaHei"/>
              </a:rPr>
              <a:t>深层</a:t>
            </a:r>
            <a:r>
              <a:rPr lang="en-US" sz="1125" b="1">
                <a:solidFill>
                  <a:srgbClr val="2C2C2A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清算「先入关中者王之」的约定，用武力重新分配。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438900" y="4667250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A32D2D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A32D2D"/>
                </a:solidFill>
                <a:latin typeface="Microsoft YaHei"/>
                <a:ea typeface="Microsoft YaHei"/>
              </a:rPr>
              <a:t>根本</a:t>
            </a:r>
            <a:r>
              <a:rPr lang="en-US" sz="1125" b="1">
                <a:solidFill>
                  <a:srgbClr val="A32D2D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在诸侯反应过来之前，消灭最大竞争对手，巩固「天下共主」地位。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6210300" y="5619750"/>
            <a:ext cx="5372100" cy="6667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965" name=""/>
          <p:cNvSpPr/>
          <p:nvPr/>
        </p:nvSpPr>
        <p:spPr>
          <a:xfrm rot="0" flipH="0" flipV="0">
            <a:off x="6438900" y="5791200"/>
            <a:ext cx="323850" cy="3238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6524625" y="58578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6F2E7"/>
                </a:solidFill>
                <a:latin typeface="STZhongsong"/>
                <a:ea typeface="STZhongsong"/>
              </a:rPr>
              <a:t>杀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6915150" y="5810250"/>
            <a:ext cx="3657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6F2E7"/>
                </a:solidFill>
                <a:latin typeface="Microsoft YaHei"/>
                <a:ea typeface="Microsoft YaHei"/>
              </a:rPr>
              <a:t>这不是请客吃饭，而是一场披着宴会外衣的政治谋杀。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08 / 32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71" name="" descr="&lt;Slide notes={`好，进入第二部分，也是本期最核心的内容——酒桌上的生死博弈。&#13;&#10;&#13;&#10;四十万对十万，四幕戏：示弱、举玦、闯帐、脱身。咱们一页一页来看。`} style={{ width: 1280, height: 720, background: '#F6F2E7', position: 'relative', overflow: 'hidden' }}&gt;&#13;&#10;&#13;&#10;  &lt;Box style={{ position: 'absolute', left: 0, top: 0, width: 1280, height: 720, overflow: 'hidden' }}&gt;&#13;&#10;    &lt;Image src=&quot;assets/scene_toast.png&quot; style={{ width: '100%', height: '100%', objectFit: 'cover' }} /&gt;&#13;&#10;    &lt;Box style={{ position: 'absolute', left: 0, top: 0, width: 1280, height: 720, background: 'rgba(44,44,42,0.66)' }} /&gt;&#13;&#10;  &lt;/Box&gt;&#13;&#10;&#13;&#10;  &lt;Box style={{ position: 'absolute', left: 0, top: 0, width: 10, height: 720, background: '#2C2C2A' }} /&gt;&#13;&#10;  &lt;Box style={{ position: 'absolute', left: 10, top: 0, width: 3, height: 720, background: '#BA7517', opacity: 0.9 }} /&gt;&#13;&#10;&#13;&#10;  &lt;Box style={{ position: 'absolute', left: 0, top: 0, width: 1280, height: 720, display: 'flex', flexDirection: 'column', alignItems: 'center', justifyContent: 'center' }}&gt;&#13;&#10;    &lt;Text style={{ fontSize: 22, color: '#BA7517', letterSpacing: 12, fontFamily: 'STZhongsong', fontWeight: 'bold' }}&gt;第 二 章&lt;/Text&gt;&#13;&#10;    &lt;Text style={{ fontSize: 66, fontWeight: 'bold', color: '#F6F2E7', letterSpacing: 6, lineHeight: 1.2, marginTop: 26, fontFamily: 'STZhongsong' }}&gt;酒桌上的生死博弈&lt;/Text&gt;&#13;&#10;    &lt;Box style={{ width: 64, height: 3, background: '#BA7517', marginTop: 30 }} /&gt;&#13;&#10;    &lt;Text style={{ fontSize: 20, color: 'rgba(246,242,231,0.82)', letterSpacing: 3, lineHeight: 1.8, marginTop: 28, fontFamily: 'STZhongsong' }}&gt;四十万对十万，一场从头到尾没动几筷菜的饭局。&lt;/Text&gt;&#13;&#10;    &lt;Text style={{ fontSize: 15, color: 'rgba(246,242,231,0.55)', letterSpacing: 4, marginTop: 34, fontFamily: 'Microsoft YaHei' }}&gt;示弱 · 举玦 · 闯帐 · 脱身&lt;/Text&gt;&#13;&#10;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pic>
        <p:nvPicPr>
          <p:cNvPr id="973" name=""/>
          <p:cNvPicPr>
            <a:picLocks noChangeAspect="1"/>
          </p:cNvPicPr>
          <p:nvPr/>
        </p:nvPicPr>
        <p:blipFill>
          <a:blip r:embed="rId1"/>
          <a:srcRect l="0" t="3448" r="0" b="344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C2C2A">
              <a:alpha val="66000"/>
            </a:srgbClr>
          </a:solidFill>
          <a:ln/>
        </p:spPr>
        <p:txBody>
          <a:bodyPr/>
          <a:p/>
        </p:txBody>
      </p:sp>
      <p:sp>
        <p:nvSpPr>
          <p:cNvPr id="975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976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90000"/>
            </a:srgbClr>
          </a:solidFill>
          <a:ln/>
        </p:spPr>
        <p:txBody>
          <a:bodyPr/>
          <a:p/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5429250" y="1971675"/>
            <a:ext cx="1343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900">
                <a:solidFill>
                  <a:srgbClr val="BA7517"/>
                </a:solidFill>
                <a:latin typeface="STZhongsong"/>
                <a:ea typeface="STZhongsong"/>
              </a:rPr>
              <a:t>第</a:t>
            </a:r>
            <a:r>
              <a:rPr lang="en-US" sz="1650" b="1" spc="900">
                <a:solidFill>
                  <a:srgbClr val="BA7517"/>
                </a:solidFill>
                <a:latin typeface="STZhongsong"/>
                <a:ea typeface="STZhongsong"/>
              </a:rPr>
              <a:t> </a:t>
            </a:r>
            <a:r>
              <a:rPr lang="zh-CN" sz="1650" b="1" spc="900">
                <a:solidFill>
                  <a:srgbClr val="BA7517"/>
                </a:solidFill>
                <a:latin typeface="STZhongsong"/>
                <a:ea typeface="STZhongsong"/>
              </a:rPr>
              <a:t>二</a:t>
            </a:r>
            <a:r>
              <a:rPr lang="en-US" sz="1650" b="1" spc="900">
                <a:solidFill>
                  <a:srgbClr val="BA7517"/>
                </a:solidFill>
                <a:latin typeface="STZhongsong"/>
                <a:ea typeface="STZhongsong"/>
              </a:rPr>
              <a:t> </a:t>
            </a:r>
            <a:r>
              <a:rPr lang="zh-CN" sz="1650" b="1" spc="900">
                <a:solidFill>
                  <a:srgbClr val="BA7517"/>
                </a:solidFill>
                <a:latin typeface="STZhongsong"/>
                <a:ea typeface="STZhongsong"/>
              </a:rPr>
              <a:t>章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3352800" y="2476500"/>
            <a:ext cx="5486400" cy="914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950" b="1" spc="450">
                <a:solidFill>
                  <a:srgbClr val="F6F2E7"/>
                </a:solidFill>
                <a:latin typeface="STZhongsong"/>
                <a:ea typeface="STZhongsong"/>
              </a:rPr>
              <a:t>酒桌上的生死博弈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5791200" y="3676650"/>
            <a:ext cx="60960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3686175" y="3971925"/>
            <a:ext cx="4819650" cy="4191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 spc="225">
                <a:solidFill>
                  <a:srgbClr val="F6F2E7">
                    <a:alpha val="82000"/>
                  </a:srgbClr>
                </a:solidFill>
                <a:latin typeface="STZhongsong"/>
                <a:ea typeface="STZhongsong"/>
              </a:rPr>
              <a:t>四十万对十万，一场从头到尾没动几筷菜的饭局。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5019675" y="4714875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F6F2E7">
                    <a:alpha val="55000"/>
                  </a:srgbClr>
                </a:solidFill>
                <a:latin typeface="Microsoft YaHei"/>
                <a:ea typeface="Microsoft YaHei"/>
              </a:rPr>
              <a:t>示弱</a:t>
            </a:r>
            <a:r>
              <a:rPr lang="en-US" sz="1125" spc="300">
                <a:solidFill>
                  <a:srgbClr val="F6F2E7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300">
                <a:solidFill>
                  <a:srgbClr val="F6F2E7">
                    <a:alpha val="55000"/>
                  </a:srgbClr>
                </a:solidFill>
                <a:latin typeface="Microsoft YaHei"/>
                <a:ea typeface="Microsoft YaHei"/>
              </a:rPr>
              <a:t>举玦</a:t>
            </a:r>
            <a:r>
              <a:rPr lang="en-US" sz="1125" spc="300">
                <a:solidFill>
                  <a:srgbClr val="F6F2E7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300">
                <a:solidFill>
                  <a:srgbClr val="F6F2E7">
                    <a:alpha val="55000"/>
                  </a:srgbClr>
                </a:solidFill>
                <a:latin typeface="Microsoft YaHei"/>
                <a:ea typeface="Microsoft YaHei"/>
              </a:rPr>
              <a:t>闯帐</a:t>
            </a:r>
            <a:r>
              <a:rPr lang="en-US" sz="1125" spc="300">
                <a:solidFill>
                  <a:srgbClr val="F6F2E7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300">
                <a:solidFill>
                  <a:srgbClr val="F6F2E7">
                    <a:alpha val="55000"/>
                  </a:srgbClr>
                </a:solidFill>
                <a:latin typeface="Microsoft YaHei"/>
                <a:ea typeface="Microsoft YaHei"/>
              </a:rPr>
              <a:t>脱身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0" name="" descr="&lt;Slide notes={`先看兵力对比：项羽四十万，刘邦十万，四比一。&#13;&#10;&#13;&#10;悬殊到什么地步？悬殊到刘邦没有任何谈判筹码。他唯一能做的，是采纳张良的计策——主动示弱。张良教刘邦怎么说？把「抢先入关」粉饰成「我没想到您来得这么快，我只是先一步进来守关口，等着您来呢」——把野心包装成忠心。&#13;&#10;&#13;&#10;而项羽这个人，性格里的「傲」和「软」同时发作。傲的是：你刘邦算什么东西，也配跟我争？软的是：你都这么低声下气了，我总不能太为难你吧？于是他一开口，就把告密的曹无伤卖了。&#13;&#10;&#13;&#10;注意这个细节，杀机的第一道缝，是项羽自己裂开的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饭局之前：悬殊到没有悬念&lt;/Text&gt;&#13;&#10;    &lt;Text style={{ fontSize: 14, color: 'rgba(44,44,42,0.45)', letterSpacing: 2, fontFamily: 'Microsoft YaHei', marginLeft: 8 }}&gt;第二章 · 生死博弈&lt;/Text&gt;&#13;&#10;  &lt;/Box&gt;&#13;&#10;&#13;&#10;  &lt;Box style={{ position: 'absolute', left: 64, top: 132, width: 1152, display: 'flex', flexDirection: 'row', alignItems: 'flex-end', justifyContent: 'center', gap: 56 }}&gt;&#13;&#10;    &lt;Box style={{ display: 'flex', flexDirection: 'column', alignItems: 'center' }}&gt;&#13;&#10;      &lt;Box style={{ display: 'flex', flexDirection: 'row', alignItems: 'flex-end' }}&gt;&#13;&#10;        &lt;Text style={{ fontSize: 112, fontWeight: 'bold', color: '#2C2C2A', lineHeight: 1.0, fontFamily: 'STZhongsong' }}&gt;40&lt;/Text&gt;&#13;&#10;        &lt;Text style={{ fontSize: 50, fontWeight: 'bold', color: '#2C2C2A', lineHeight: 1.35, fontFamily: 'STZhongsong' }}&gt;万&lt;/Text&gt;&#13;&#10;      &lt;/Box&gt;&#13;&#10;      &lt;Box style={{ width: 40, height: 3, background: '#2C2C2A', marginTop: 16 }} /&gt;&#13;&#10;      &lt;Text style={{ fontSize: 20, fontWeight: 'bold', color: '#2C2C2A', letterSpacing: 2, marginTop: 12, fontFamily: 'STZhongsong' }}&gt;项羽 · 西楚霸王&lt;/Text&gt;&#13;&#10;      &lt;Text style={{ fontSize: 15, color: 'rgba(44,44,42,0.62)', letterSpacing: 1, marginTop: 8, fontFamily: 'Microsoft YaHei' }}&gt;巨鹿新胜，威震诸侯，兵锋直指鸿门&lt;/Text&gt;&#13;&#10;    &lt;/Box&gt;&#13;&#10;&#13;&#10;    &lt;Box style={{ display: 'flex', flexDirection: 'column', alignItems: 'center', paddingBottom: 66 }}&gt;&#13;&#10;      &lt;Box style={{ width: 46, height: 46, borderRadius: 23, border: '1px solid #BA7517', display: 'flex', alignItems: 'center', justifyContent: 'center' }}&gt;&#13;&#10;        &lt;Text style={{ fontSize: 20, color: '#BA7517', fontFamily: 'STZhongsong', fontWeight: 'bold' }}&gt;对&lt;/Text&gt;&#13;&#10;      &lt;/Box&gt;&#13;&#10;      &lt;Text style={{ fontSize: 16, color: '#BA7517', letterSpacing: 3, marginTop: 14, fontFamily: 'Microsoft YaHei', fontWeight: 'bold' }}&gt;兵力 4 : 1&lt;/Text&gt;&#13;&#10;    &lt;/Box&gt;&#13;&#10;&#13;&#10;    &lt;Box style={{ display: 'flex', flexDirection: 'column', alignItems: 'center' }}&gt;&#13;&#10;      &lt;Box style={{ display: 'flex', flexDirection: 'row', alignItems: 'flex-end' }}&gt;&#13;&#10;        &lt;Text style={{ fontSize: 112, fontWeight: 'bold', color: '#BA7517', lineHeight: 1.0, fontFamily: 'STZhongsong' }}&gt;10&lt;/Text&gt;&#13;&#10;        &lt;Text style={{ fontSize: 50, fontWeight: 'bold', color: '#BA7517', lineHeight: 1.35, fontFamily: 'STZhongsong' }}&gt;万&lt;/Text&gt;&#13;&#10;      &lt;/Box&gt;&#13;&#10;      &lt;Box style={{ width: 40, height: 3, background: '#BA7517', marginTop: 16 }} /&gt;&#13;&#10;      &lt;Text style={{ fontSize: 20, fontWeight: 'bold', color: '#2C2C2A', letterSpacing: 2, marginTop: 12, fontFamily: 'STZhongsong' }}&gt;刘邦 · 沛公&lt;/Text&gt;&#13;&#10;      &lt;Text style={{ fontSize: 15, color: 'rgba(44,44,42,0.62)', letterSpacing: 1, marginTop: 8, fontFamily: 'Microsoft YaHei' }}&gt;先入关中，封存府库，退军霸上&lt;/Text&gt;&#13;&#10;    &lt;/Box&gt;&#13;&#10;  &lt;/Box&gt;&#13;&#10;&#13;&#10;  &lt;Box style={{ position: 'absolute', left: 170, top: 424, width: 940 }}&gt;&#13;&#10;    &lt;Box style={{ width: 100, height: 2, background: '#D9D3C4', marginBottom: 22 }} /&gt;&#13;&#10;    &lt;Text style={{ fontSize: 19, color: '#2C2C2A', lineHeight: 1.95, fontFamily: 'Microsoft YaHei' }}&gt;&#13;&#10;      悬殊到这个地步，刘邦没有任何谈判筹码——他唯一能做的，是采纳张良之策&lt;span style={{ fontWeight: 'bold' }}&gt;主动示弱&lt;/span&gt;，把「抢先入关」粉饰成「没想到您来得这么快」。项羽性格里的傲与软同时发作，竟随口把告密的曹无伤卖了出来。&#13;&#10;    &lt;/Text&gt;&#13;&#10;    &lt;Box style={{ display: 'flex', flexDirection: 'row', alignItems: 'center', gap: 12, marginTop: 22 }}&gt;&#13;&#10;      &lt;Box style={{ width: 12, height: 12, background: '#A32D2D' }} /&gt;&#13;&#10;      &lt;Text style={{ fontSize: 19, fontWeight: 'bold', color: '#2C2C2A', fontFamily: 'Microsoft YaHei' }}&gt;杀机的第一道缝，是项羽自己裂开的。&lt;/Text&gt;&#13;&#10;    &lt;/Box&gt;&#13;&#10;  &lt;/Box&gt;&#13;&#10;&#13;&#10;  &lt;Box style={{ position: 'absolute', left: 170, top: 592, width: 940, borderLeft: '3px solid #A32D2D', background: 'rgba(163,45,45,0.06)', padding: '14px 20px', display: 'flex', flexDirection: 'row', alignItems: 'center', gap: 14 }}&gt;&#13;&#10;    &lt;Text style={{ fontSize: 12, letterSpacing: 2, color: '#A32D2D', fontFamily: 'Microsoft YaHei', fontWeight: 'bold', width: 76 }}&gt;中场悬念&lt;/Text&gt;&#13;&#10;    &lt;Text style={{ fontSize: 15, color: 'rgba(44,44,42,0.82)', lineHeight: 1.6, fontFamily: 'Microsoft YaHei' }}&gt;&#13;&#10;      最危险的时刻不是项庄舞剑，而是项羽在席间突然说了一句话——这句话如果付诸行动，刘邦可能当场就交代在那儿了。&#13;&#10;    &lt;/Text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0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829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饭局之前：悬殊到没有悬念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829175" y="4857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第二章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生死博弈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152775" y="1257300"/>
            <a:ext cx="1323975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>
                <a:solidFill>
                  <a:srgbClr val="2C2C2A"/>
                </a:solidFill>
                <a:latin typeface="STZhongsong"/>
                <a:ea typeface="STZhongsong"/>
              </a:rPr>
              <a:t>40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476750" y="1771650"/>
            <a:ext cx="47625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750" b="1">
                <a:solidFill>
                  <a:srgbClr val="2C2C2A"/>
                </a:solidFill>
                <a:latin typeface="STZhongsong"/>
                <a:ea typeface="STZhongsong"/>
              </a:rPr>
              <a:t>万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857625" y="2695575"/>
            <a:ext cx="381000" cy="28575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238500" y="2838450"/>
            <a:ext cx="1628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2C2C2A"/>
                </a:solidFill>
                <a:latin typeface="STZhongsong"/>
                <a:ea typeface="STZhongsong"/>
              </a:rPr>
              <a:t>项羽</a:t>
            </a:r>
            <a:r>
              <a:rPr lang="en-US" sz="1500" b="1" spc="150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500" b="1" spc="150">
                <a:solidFill>
                  <a:srgbClr val="2C2C2A"/>
                </a:solidFill>
                <a:latin typeface="STZhongsong"/>
                <a:ea typeface="STZhongsong"/>
              </a:rPr>
              <a:t>西楚霸王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828925" y="314325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巨鹿新胜，威震诸侯，兵锋直指鸿门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038850" y="1924050"/>
            <a:ext cx="438150" cy="438150"/>
          </a:xfrm>
          <a:prstGeom prst="roundRect">
            <a:avLst>
              <a:gd name="adj" fmla="val 50000"/>
            </a:avLst>
          </a:prstGeom>
          <a:ln w="12700">
            <a:solidFill>
              <a:srgbClr val="BA7517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162675" y="20288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A7517"/>
                </a:solidFill>
                <a:latin typeface="STZhongsong"/>
                <a:ea typeface="STZhongsong"/>
              </a:rPr>
              <a:t>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800725" y="2495550"/>
            <a:ext cx="904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225">
                <a:solidFill>
                  <a:srgbClr val="BA7517"/>
                </a:solidFill>
                <a:latin typeface="Microsoft YaHei"/>
                <a:ea typeface="Microsoft YaHei"/>
              </a:rPr>
              <a:t>兵力</a:t>
            </a:r>
            <a:r>
              <a:rPr lang="en-US" sz="1200" b="1" spc="225">
                <a:solidFill>
                  <a:srgbClr val="BA7517"/>
                </a:solidFill>
                <a:latin typeface="Microsoft YaHei"/>
                <a:ea typeface="Microsoft YaHei"/>
              </a:rPr>
              <a:t> 4 : 1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10450" y="1257300"/>
            <a:ext cx="1323975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>
                <a:solidFill>
                  <a:srgbClr val="BA7517"/>
                </a:solidFill>
                <a:latin typeface="STZhongsong"/>
                <a:ea typeface="STZhongsong"/>
              </a:rPr>
              <a:t>10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734425" y="1771650"/>
            <a:ext cx="47625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750" b="1">
                <a:solidFill>
                  <a:srgbClr val="BA7517"/>
                </a:solidFill>
                <a:latin typeface="STZhongsong"/>
                <a:ea typeface="STZhongsong"/>
              </a:rPr>
              <a:t>万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115300" y="2695575"/>
            <a:ext cx="38100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705725" y="2838450"/>
            <a:ext cx="1209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2C2C2A"/>
                </a:solidFill>
                <a:latin typeface="STZhongsong"/>
                <a:ea typeface="STZhongsong"/>
              </a:rPr>
              <a:t>刘邦</a:t>
            </a:r>
            <a:r>
              <a:rPr lang="en-US" sz="1500" b="1" spc="150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500" b="1" spc="150">
                <a:solidFill>
                  <a:srgbClr val="2C2C2A"/>
                </a:solidFill>
                <a:latin typeface="STZhongsong"/>
                <a:ea typeface="STZhongsong"/>
              </a:rPr>
              <a:t>沛公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239000" y="314325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先入关中，封存府库，退军霸上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1619250" y="4038600"/>
            <a:ext cx="952500" cy="1905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619250" y="4267200"/>
            <a:ext cx="89535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425">
                <a:solidFill>
                  <a:srgbClr val="2C2C2A"/>
                </a:solidFill>
                <a:latin typeface="Microsoft YaHei"/>
                <a:ea typeface="Microsoft YaHei"/>
              </a:rPr>
              <a:t>悬殊到这个地步，刘邦没有任何谈判筹码——他唯一能做的，是采纳张良之策</a:t>
            </a:r>
            <a:r>
              <a:rPr lang="zh-CN" sz="1425" b="1">
                <a:solidFill>
                  <a:srgbClr val="2C2C2A"/>
                </a:solidFill>
                <a:latin typeface="Microsoft YaHei"/>
                <a:ea typeface="Microsoft YaHei"/>
              </a:rPr>
              <a:t>主动示弱</a:t>
            </a:r>
            <a:r>
              <a:rPr lang="zh-CN" sz="1425">
                <a:solidFill>
                  <a:srgbClr val="2C2C2A"/>
                </a:solidFill>
                <a:latin typeface="Microsoft YaHei"/>
                <a:ea typeface="Microsoft YaHei"/>
              </a:rPr>
              <a:t>，把「抢先入关」粉饰成「没想到您来得这么快」。项羽性格里的傲与软同时发作，竟随口把告密的曹无伤卖了出来。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1619250" y="538162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847850" y="5324475"/>
            <a:ext cx="3076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C2C2A"/>
                </a:solidFill>
                <a:latin typeface="Microsoft YaHei"/>
                <a:ea typeface="Microsoft YaHei"/>
              </a:rPr>
              <a:t>杀机的第一道缝，是项羽自己裂开的。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1647825" y="5638800"/>
            <a:ext cx="8924925" cy="542925"/>
          </a:xfrm>
          <a:prstGeom prst="rect">
            <a:avLst/>
          </a:prstGeom>
          <a:solidFill>
            <a:srgbClr val="A32D2D">
              <a:alpha val="6000"/>
            </a:srgbClr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1619250" y="5638800"/>
            <a:ext cx="8953500" cy="542925"/>
          </a:xfrm>
          <a:custGeom>
            <a:pathLst>
              <a:path w="940" h="57">
                <a:moveTo>
                  <a:pt x="0" y="0"/>
                </a:moveTo>
                <a:lnTo>
                  <a:pt x="3" y="0"/>
                </a:lnTo>
                <a:lnTo>
                  <a:pt x="3" y="57"/>
                </a:lnTo>
                <a:lnTo>
                  <a:pt x="0" y="57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838325" y="583882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A32D2D"/>
                </a:solidFill>
                <a:latin typeface="Microsoft YaHei"/>
                <a:ea typeface="Microsoft YaHei"/>
              </a:rPr>
              <a:t>中场悬念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695575" y="5772150"/>
            <a:ext cx="76009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最危险的时刻不是项庄舞剑，而是项羽在席间突然说了一句话——这句话如果付诸行动，刘邦可能当场就交代在那儿了。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10 / 32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1" name="" descr="&lt;Slide notes={`好，宴席开始了。范增一看时机成熟，三次举起玉玦暗示项羽动手——「玦」跟「决」同音，就是「下决心」的意思。但项羽「默然不应」，装没看见。&#13;&#10;&#13;&#10;范增没办法，只得叫项庄进来舞剑助兴——名义上助兴，实际上伺机刺杀。这就是「项庄舞剑，意在沛公」的由来。&#13;&#10;&#13;&#10;但项伯也不甘示弱，「拔剑亦舞，常以身翼蔽沛公」，用身体替刘邦挡剑。同一支剑舞，一攻一守，全在项羽的一念之间——而项羽这一念，始终没有落下去。&#13;&#10;&#13;&#10;那为什么没有落下去？下一页我告诉你那句话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席间博弈：三举玉玦 · 项庄舞剑&lt;/Text&gt;&#13;&#10;    &lt;Text style={{ fontSize: 14, color: 'rgba(44,44,42,0.45)', letterSpacing: 2, fontFamily: 'Microsoft YaHei', marginLeft: 8 }}&gt;第二章 · 生死博弈&lt;/Text&gt;&#13;&#10;  &lt;/Box&gt;&#13;&#10;&#13;&#10;  &lt;Box style={{ position: 'absolute', left: 64, top: 120, width: 700, height: 540, display: 'flex', flexDirection: 'column', justifyContent: 'space-between' }}&gt;&#13;&#10;    &lt;Box style={{ display: 'flex', flexDirection: 'row', gap: 20, alignItems: 'stretch' }}&gt;&#13;&#10;      &lt;Box style={{ width: 3, background: '#BA7517' }} /&gt;&#13;&#10;      &lt;Box&gt;&#13;&#10;        &lt;Text style={{ fontSize: 25, fontWeight: 'bold', color: '#2C2C2A', lineHeight: 1.6, letterSpacing: 1, fontFamily: 'STZhongsong' }}&gt;「举所佩玉玦以示之者三，项王默然不应。」&lt;/Text&gt;&#13;&#10;        &lt;Text style={{ fontSize: 14, color: 'rgba(44,44,42,0.55)', letterSpacing: 1, marginTop: 8, fontFamily: 'Microsoft YaHei' }}&gt;——《史记 · 项羽本纪》&lt;/Text&gt;&#13;&#10;      &lt;/Box&gt;&#13;&#10;    &lt;/Box&gt;&#13;&#10;&#13;&#10;    &lt;Box style={{ display: 'flex', flexDirection: 'row', gap: 20 }}&gt;&#13;&#10;      &lt;Text style={{ fontSize: 17, fontWeight: 'bold', color: '#BA7517', fontFamily: 'STZhongsong', width: 26, paddingTop: 2 }}&gt;壹&lt;/Text&gt;&#13;&#10;      &lt;Box style={{ flex: 1, borderLeft: '0.5px solid #D9D3C4', paddingLeft: 18 }}&gt;&#13;&#10;        &lt;Text style={{ fontSize: 21, fontWeight: 'bold', color: '#2C2C2A', letterSpacing: 1.5, fontFamily: 'STZhongsong' }}&gt;三举玉玦&lt;/Text&gt;&#13;&#10;        &lt;Text style={{ fontSize: 17, color: 'rgba(44,44,42,0.78)', lineHeight: 1.8, marginTop: 6, fontFamily: 'Microsoft YaHei' }}&gt;范增三次举起所佩玉玦示意项羽下手，项羽「默然不应」。&lt;/Text&gt;&#13;&#10;      &lt;/Box&gt;&#13;&#10;    &lt;/Box&gt;&#13;&#10;&#13;&#10;    &lt;Box style={{ display: 'flex', flexDirection: 'row', gap: 20 }}&gt;&#13;&#10;      &lt;Text style={{ fontSize: 17, fontWeight: 'bold', color: '#BA7517', fontFamily: 'STZhongsong', width: 26, paddingTop: 2 }}&gt;贰&lt;/Text&gt;&#13;&#10;      &lt;Box style={{ flex: 1, borderLeft: '0.5px solid #D9D3C4', paddingLeft: 18 }}&gt;&#13;&#10;        &lt;Text style={{ fontSize: 21, fontWeight: 'bold', color: '#2C2C2A', letterSpacing: 1.5, fontFamily: 'STZhongsong' }}&gt;项庄舞剑&lt;/Text&gt;&#13;&#10;        &lt;Text style={{ fontSize: 17, color: 'rgba(44,44,42,0.78)', lineHeight: 1.8, marginTop: 6, fontFamily: 'Microsoft YaHei' }}&gt;范增只得召来项庄，以「君王为人不忍」为由，让他入席敬酒、借舞剑之名伺机刺杀——这就是「项庄舞剑，意在沛公」的由来。&lt;/Text&gt;&#13;&#10;      &lt;/Box&gt;&#13;&#10;    &lt;/Box&gt;&#13;&#10;&#13;&#10;    &lt;Box style={{ display: 'flex', flexDirection: 'row', gap: 20 }}&gt;&#13;&#10;      &lt;Text style={{ fontSize: 17, fontWeight: 'bold', color: '#A32D2D', fontFamily: 'STZhongsong', width: 26, paddingTop: 2 }}&gt;叁&lt;/Text&gt;&#13;&#10;      &lt;Box style={{ flex: 1, borderLeft: '0.5px solid #D9D3C4', paddingLeft: 18 }}&gt;&#13;&#10;        &lt;Text style={{ fontSize: 21, fontWeight: 'bold', color: '#2C2C2A', letterSpacing: 1.5, fontFamily: 'STZhongsong' }}&gt;项伯翼蔽&lt;/Text&gt;&#13;&#10;        &lt;Text style={{ fontSize: 17, color: 'rgba(44,44,42,0.78)', lineHeight: 1.8, marginTop: 6, fontFamily: 'Microsoft YaHei' }}&gt;千钧一发之际，早已与刘邦暗中结盟的项伯也「拔剑亦舞，常以身翼蔽沛公」，用身体替刘邦挡剑——项庄始终不得下手。&lt;/Text&gt;&#13;&#10;      &lt;/Box&gt;&#13;&#10;    &lt;/Box&gt;&#13;&#10;  &lt;/Box&gt;&#13;&#10;&#13;&#10;  &lt;Box style={{ position: 'absolute', left: 800, top: 120, width: 416, height: 540, display: 'flex', flexDirection: 'column' }}&gt;&#13;&#10;    &lt;Box style={{ width: 416, height: 300, overflow: 'hidden' }}&gt;&#13;&#10;      &lt;Image src=&quot;assets/scene_toast.png&quot; style={{ width: '100%', height: '100%', objectFit: 'cover' }} /&gt;&#13;&#10;    &lt;/Box&gt;&#13;&#10;    &lt;Text style={{ fontSize: 14, color: 'rgba(44,44,42,0.55)', letterSpacing: 2, marginTop: 12, fontFamily: 'Microsoft YaHei' }}&gt;军帐夜宴 · 剑影交错&lt;/Text&gt;&#13;&#10;&#13;&#10;    &lt;Box style={{ marginTop: 20, background: 'rgba(44,44,42,0.06)', padding: '20px 22px', display: 'flex', flexDirection: 'column', gap: 14 }}&gt;&#13;&#10;      &lt;Box style={{ display: 'flex', flexDirection: 'row', alignItems: 'center', gap: 12 }}&gt;&#13;&#10;        &lt;Box style={{ width: 10, height: 10, background: '#2C2C2A' }} /&gt;&#13;&#10;        &lt;Text style={{ fontSize: 17, fontWeight: 'bold', color: '#2C2C2A', fontFamily: 'Microsoft YaHei' }}&gt;项庄 —— 舞剑，意在沛公&lt;/Text&gt;&#13;&#10;      &lt;/Box&gt;&#13;&#10;      &lt;Box style={{ display: 'flex', flexDirection: 'row', alignItems: 'center', gap: 12 }}&gt;&#13;&#10;        &lt;Box style={{ width: 10, height: 10, background: '#A32D2D' }} /&gt;&#13;&#10;        &lt;Text style={{ fontSize: 17, fontWeight: 'bold', color: '#2C2C2A', fontFamily: 'Microsoft YaHei' }}&gt;项伯 —— 拔剑亦舞，以身翼蔽&lt;/Text&gt;&#13;&#10;      &lt;/Box&gt;&#13;&#10;      &lt;Box style={{ width: 100, height: 1, background: '#D9D3C4' }} /&gt;&#13;&#10;      &lt;Text style={{ fontSize: 15, color: 'rgba(44,44,42,0.62)', lineHeight: 1.7, fontFamily: 'Microsoft YaHei' }}&gt;同一支剑舞，一攻一守，全在项羽的一念之间——而项羽这一念，始终没有落下去。&lt;/Text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1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46958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席间博弈：三举玉玦</a:t>
            </a:r>
            <a:r>
              <a:rPr lang="en-US" sz="2400" b="1" spc="113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项庄舞剑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695950" y="4857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第二章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生死博弈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1143000"/>
            <a:ext cx="28575" cy="69532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28675" y="1143000"/>
            <a:ext cx="4953000" cy="4572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75" b="1" spc="75">
                <a:solidFill>
                  <a:srgbClr val="2C2C2A"/>
                </a:solidFill>
                <a:latin typeface="STZhongsong"/>
                <a:ea typeface="STZhongsong"/>
              </a:rPr>
              <a:t>「举所佩玉玦以示之者三，项王默然不应。」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28675" y="16764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——《史记</a:t>
            </a:r>
            <a:r>
              <a:rPr lang="en-US" sz="1050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项羽本纪》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2428875"/>
            <a:ext cx="247650" cy="657225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A7517"/>
                </a:solidFill>
                <a:latin typeface="STZhongsong"/>
                <a:ea typeface="STZhongsong"/>
              </a:rPr>
              <a:t>壹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1047750" y="2428875"/>
            <a:ext cx="6238875" cy="657225"/>
          </a:xfrm>
          <a:custGeom>
            <a:pathLst>
              <a:path w="655" h="69">
                <a:moveTo>
                  <a:pt x="0" y="0"/>
                </a:moveTo>
                <a:lnTo>
                  <a:pt x="1" y="0"/>
                </a:lnTo>
                <a:lnTo>
                  <a:pt x="1" y="69"/>
                </a:lnTo>
                <a:lnTo>
                  <a:pt x="0" y="6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28725" y="2428875"/>
            <a:ext cx="6048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13">
                <a:solidFill>
                  <a:srgbClr val="2C2C2A"/>
                </a:solidFill>
                <a:latin typeface="STZhongsong"/>
                <a:ea typeface="STZhongsong"/>
              </a:rPr>
              <a:t>三举玉玦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228725" y="2733675"/>
            <a:ext cx="6048375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范增三次举起所佩玉玦示意项羽下手，项羽「默然不应」。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3676650"/>
            <a:ext cx="247650" cy="100965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A7517"/>
                </a:solidFill>
                <a:latin typeface="STZhongsong"/>
                <a:ea typeface="STZhongsong"/>
              </a:rPr>
              <a:t>贰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1047750" y="3676650"/>
            <a:ext cx="6238875" cy="1009650"/>
          </a:xfrm>
          <a:custGeom>
            <a:pathLst>
              <a:path w="655" h="106">
                <a:moveTo>
                  <a:pt x="0" y="0"/>
                </a:moveTo>
                <a:lnTo>
                  <a:pt x="1" y="0"/>
                </a:lnTo>
                <a:lnTo>
                  <a:pt x="1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228725" y="3676650"/>
            <a:ext cx="6048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13">
                <a:solidFill>
                  <a:srgbClr val="2C2C2A"/>
                </a:solidFill>
                <a:latin typeface="STZhongsong"/>
                <a:ea typeface="STZhongsong"/>
              </a:rPr>
              <a:t>项庄舞剑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228725" y="3981450"/>
            <a:ext cx="6057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范增只得召来项庄，以「君王为人不忍」为由，让他入席敬酒、借舞剑之名伺机刺杀——这就是「项庄舞剑，意在沛公」的由来。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5276850"/>
            <a:ext cx="247650" cy="100965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32D2D"/>
                </a:solidFill>
                <a:latin typeface="STZhongsong"/>
                <a:ea typeface="STZhongsong"/>
              </a:rPr>
              <a:t>叁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1047750" y="5276850"/>
            <a:ext cx="6238875" cy="1009650"/>
          </a:xfrm>
          <a:custGeom>
            <a:pathLst>
              <a:path w="655" h="106">
                <a:moveTo>
                  <a:pt x="0" y="0"/>
                </a:moveTo>
                <a:lnTo>
                  <a:pt x="1" y="0"/>
                </a:lnTo>
                <a:lnTo>
                  <a:pt x="1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228725" y="5276850"/>
            <a:ext cx="6048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13">
                <a:solidFill>
                  <a:srgbClr val="2C2C2A"/>
                </a:solidFill>
                <a:latin typeface="STZhongsong"/>
                <a:ea typeface="STZhongsong"/>
              </a:rPr>
              <a:t>项伯翼蔽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228725" y="5581650"/>
            <a:ext cx="6057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千钧一发之际，早已与刘邦暗中结盟的项伯也「拔剑亦舞，常以身翼蔽沛公」，用身体替刘邦挡剑——项庄始终不得下手。</a:t>
            </a:r>
            <a:endParaRPr/>
          </a:p>
        </p:txBody>
      </p:sp>
      <p:pic>
        <p:nvPicPr>
          <p:cNvPr id="73" name=""/>
          <p:cNvPicPr>
            <a:picLocks noChangeAspect="1"/>
          </p:cNvPicPr>
          <p:nvPr/>
        </p:nvPicPr>
        <p:blipFill>
          <a:blip r:embed="rId1"/>
          <a:srcRect l="8111" t="0" r="8111" b="0"/>
          <a:stretch>
            <a:fillRect/>
          </a:stretch>
        </p:blipFill>
        <p:spPr>
          <a:xfrm rot="0" flipH="0" flipV="0">
            <a:off x="7620000" y="1143000"/>
            <a:ext cx="3962400" cy="2857500"/>
          </a:xfrm>
          <a:prstGeom prst="rect">
            <a:avLst/>
          </a:prstGeom>
          <a:ln/>
        </p:spPr>
      </p:pic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620000" y="4114800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军帐夜宴</a:t>
            </a:r>
            <a:r>
              <a:rPr lang="en-US" sz="1050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剑影交错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620000" y="4467225"/>
            <a:ext cx="3962400" cy="178117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7829550" y="4714875"/>
            <a:ext cx="95250" cy="952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039100" y="46577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项庄</a:t>
            </a:r>
            <a:r>
              <a:rPr lang="en-US" sz="1275" b="1">
                <a:solidFill>
                  <a:srgbClr val="2C2C2A"/>
                </a:solidFill>
                <a:latin typeface="Microsoft YaHei"/>
                <a:ea typeface="Microsoft YaHei"/>
              </a:rPr>
              <a:t> —— </a:t>
            </a: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舞剑，意在沛公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829550" y="5048250"/>
            <a:ext cx="95250" cy="952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039100" y="4991100"/>
            <a:ext cx="2228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项伯</a:t>
            </a:r>
            <a:r>
              <a:rPr lang="en-US" sz="1275" b="1">
                <a:solidFill>
                  <a:srgbClr val="2C2C2A"/>
                </a:solidFill>
                <a:latin typeface="Microsoft YaHei"/>
                <a:ea typeface="Microsoft YaHei"/>
              </a:rPr>
              <a:t> —— </a:t>
            </a: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拔剑亦舞，以身翼蔽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829550" y="5324475"/>
            <a:ext cx="9525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829550" y="5467350"/>
            <a:ext cx="3543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同一支剑舞，一攻一守，全在项羽的一念之间——而项羽这一念，始终没有落下去。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11 / 32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5" name="" descr="&lt;Slide notes={`现在揭晓那个悬念。鸿门宴上最危险的时刻，其实不是项庄舞剑，而是在这之前——项羽在席间说了一句话。&#13;&#10;&#13;&#10;他说：「沛公不先破关中，公岂敢入乎？今人有大功而击之，不义也。不如因善遇之。」翻译过来就是：要不是刘邦先破了关中，你能进来吗？人家有大功你还要打他，不义气啊，不如好好对待他。&#13;&#10;&#13;&#10;这句话的杀伤力有多大？这是项羽当着所有将领的面，说「不能杀刘邦」。这意味着范增的刺杀计划，从根源上就被否定了。项庄就算舞剑舞出花来，主公都说了「不义」，谁敢动手？刘邦听到这句话，心里那块大石头才算真正落地。&#13;&#10;&#13;&#10;所以我说，最危险的时刻不是舞剑，而是项羽这句话——它直接宣判了范增计划的死刑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A32D2D' }} /&gt;&#13;&#10;    &lt;Text style={{ fontSize: 32, fontWeight: 'bold', color: '#2C2C2A', letterSpacing: 1.5, fontFamily: 'STZhongsong' }}&gt;最危险的时刻：项羽那句话&lt;/Text&gt;&#13;&#10;    &lt;Text style={{ fontSize: 20, color: 'rgba(44,44,42,0.55)', letterSpacing: 1, fontFamily: 'STZhongsong', marginLeft: 4 }}&gt;悬念揭晓&lt;/Text&gt;&#13;&#10;    &lt;Text style={{ fontSize: 14, color: 'rgba(44,44,42,0.45)', letterSpacing: 2, fontFamily: 'Microsoft YaHei', marginLeft: 10 }}&gt;第二章 · 生死博弈&lt;/Text&gt;&#13;&#10;  &lt;/Box&gt;&#13;&#10;&#13;&#10;  &lt;Box style={{ position: 'absolute', left: 64, top: 122, width: 660, height: 538, display: 'flex', flexDirection: 'column', justifyContent: 'space-between' }}&gt;&#13;&#10;&#13;&#10;    &lt;Box style={{ background: '#FFFFFF', border: '0.5px solid #D9D3C4', boxShadow: '0 4px 20px rgba(44,44,42,0.08)', padding: '24px 28px', display: 'flex', flexDirection: 'column' }}&gt;&#13;&#10;      &lt;Box style={{ display: 'flex', flexDirection: 'row', alignItems: 'center', gap: 10 }}&gt;&#13;&#10;        &lt;Box style={{ width: 3, height: 18, background: '#BA7517' }} /&gt;&#13;&#10;        &lt;Text style={{ fontSize: 14, letterSpacing: 2, color: '#BA7517', fontWeight: 'bold', fontFamily: 'Microsoft YaHei' }}&gt;项羽原话&lt;/Text&gt;&#13;&#10;      &lt;/Box&gt;&#13;&#10;      &lt;Text style={{ fontSize: 25, fontWeight: 'bold', color: '#2C2C2A', lineHeight: 1.62, letterSpacing: 1, marginTop: 12, fontFamily: 'STZhongsong' }}&gt;&#13;&#10;        「沛公不先破关中，公岂敢入乎？今人有大功而击之，不义也。不如因善遇之。」&#13;&#10;      &lt;/Text&gt;&#13;&#10;      &lt;Text style={{ fontSize: 14, color: 'rgba(44,44,42,0.55)', letterSpacing: 1, marginTop: 12, fontFamily: 'Microsoft YaHei' }}&gt;——《史记 · 项羽本纪》&lt;/Text&gt;&#13;&#10;    &lt;/Box&gt;&#13;&#10;&#13;&#10;    &lt;Box style={{ background: 'rgba(44,44,42,0.06)', borderLeft: '3px solid #BA7517', padding: '20px 26px' }}&gt;&#13;&#10;      &lt;Text style={{ fontSize: 14, letterSpacing: 2, color: 'rgba(44,44,42,0.55)', fontWeight: 'bold', fontFamily: 'Microsoft YaHei' }}&gt;翻译&lt;/Text&gt;&#13;&#10;      &lt;Text style={{ fontSize: 16, color: 'rgba(44,44,42,0.82)', lineHeight: 1.85, marginTop: 8, fontFamily: 'Microsoft YaHei' }}&gt;&#13;&#10;        要不是刘邦先破了关中，你能进来吗？现在人家有大功，你却要打他，这是不义气。不如好好对待他。&#13;&#10;      &lt;/Text&gt;&#13;&#10;    &lt;/Box&gt;&#13;&#10;&#13;&#10;    &lt;Box style={{ display: 'flex', flexDirection: 'row', alignItems: 'center', gap: 14, background: '#2C2C2A', padding: '20px 26px' }}&gt;&#13;&#10;      &lt;Box style={{ width: 12, height: 12, background: '#A32D2D' }} /&gt;&#13;&#10;      &lt;Text style={{ fontSize: 17, fontWeight: 'bold', color: '#F6F2E7', lineHeight: 1.7, fontFamily: 'Microsoft YaHei' }}&gt;&#13;&#10;        它把「杀刘邦」从一次军事行动，变成了当众宣告的「不义之举」——宣判了范增计划的死刑。&#13;&#10;      &lt;/Text&gt;&#13;&#10;    &lt;/Box&gt;&#13;&#10;&#13;&#10;  &lt;/Box&gt;&#13;&#10;&#13;&#10;  &lt;Box style={{ position: 'absolute', left: 756, top: 122, width: 460, height: 538, background: '#2C2C2A', padding: '46px 40px', display: 'flex', flexDirection: 'column' }}&gt;&#13;&#10;    &lt;Text style={{ fontSize: 76, fontWeight: 'bold', color: '#BA7517', letterSpacing: 14, lineHeight: 1.1, fontFamily: 'STZhongsong' }}&gt;不义&lt;/Text&gt;&#13;&#10;    &lt;Box style={{ width: 52, height: 3, background: '#A32D2D', marginTop: 24 }} /&gt;&#13;&#10;    &lt;Text style={{ fontSize: 16, color: 'rgba(246,242,231,0.86)', lineHeight: 1.95, marginTop: 28, fontFamily: 'Microsoft YaHei' }}&gt;&#13;&#10;      项羽当着所有将领的面，公开说「不能杀刘邦」。这不是一句客套话——它等于当众否定了范增的刺杀计划。&#13;&#10;    &lt;/Text&gt;&#13;&#10;    &lt;Text style={{ fontSize: 16, color: 'rgba(246,242,231,0.86)', lineHeight: 1.95, marginTop: 20, fontFamily: 'Microsoft YaHei' }}&gt;&#13;&#10;      项庄就算舞剑舞出花来，主公都说了「不义」，谁还敢动手？&#13;&#10;    &lt;/Text&gt;&#13;&#10;    &lt;Box style={{ marginTop: 'auto', borderTop: '0.5px solid rgba(246,242,231,0.24)', paddingTop: 22 }}&gt;&#13;&#10;      &lt;Text style={{ fontSize: 17, fontWeight: 'bold', color: '#BA7517', lineHeight: 1.8, fontFamily: 'Microsoft YaHei' }}&gt;&#13;&#10;        刘邦听到这一句，心里那块大石头，才算真正落地。&#13;&#10;      &lt;/Text&gt;&#13;&#10;    &lt;/Box&gt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2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829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最危险的时刻：项羽那句话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791075" y="457200"/>
            <a:ext cx="800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悬念揭晓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819775" y="4857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第二章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生死博弈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162050"/>
            <a:ext cx="6286500" cy="19526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876300" y="1390650"/>
            <a:ext cx="28575" cy="1714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00125" y="1400175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A7517"/>
                </a:solidFill>
                <a:latin typeface="Microsoft YaHei"/>
                <a:ea typeface="Microsoft YaHei"/>
              </a:rPr>
              <a:t>项羽原话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76300" y="1676400"/>
            <a:ext cx="57531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875" b="1" spc="75">
                <a:solidFill>
                  <a:srgbClr val="2C2C2A"/>
                </a:solidFill>
                <a:latin typeface="STZhongsong"/>
                <a:ea typeface="STZhongsong"/>
              </a:rPr>
              <a:t>「沛公不先破关中，公岂敢入乎？今人有大功而击之，不义也。不如因善遇之。」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76300" y="2724150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——《史记</a:t>
            </a:r>
            <a:r>
              <a:rPr lang="en-US" sz="1050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项羽本纪》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38175" y="3524250"/>
            <a:ext cx="6286500" cy="130492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3524250"/>
            <a:ext cx="6315075" cy="1304925"/>
          </a:xfrm>
          <a:custGeom>
            <a:pathLst>
              <a:path w="663" h="137">
                <a:moveTo>
                  <a:pt x="0" y="0"/>
                </a:moveTo>
                <a:lnTo>
                  <a:pt x="3" y="0"/>
                </a:lnTo>
                <a:lnTo>
                  <a:pt x="3" y="137"/>
                </a:lnTo>
                <a:lnTo>
                  <a:pt x="0" y="137"/>
                </a:ln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85825" y="3714750"/>
            <a:ext cx="576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翻译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85825" y="3952875"/>
            <a:ext cx="57626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要不是刘邦先破了关中，你能进来吗？现在人家有大功，你却要打他，这是不义气。不如好好对待他。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5238750"/>
            <a:ext cx="6286500" cy="10477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57250" y="570547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95375" y="5429250"/>
            <a:ext cx="5553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 b="1">
                <a:solidFill>
                  <a:srgbClr val="F6F2E7"/>
                </a:solidFill>
                <a:latin typeface="Microsoft YaHei"/>
                <a:ea typeface="Microsoft YaHei"/>
              </a:rPr>
              <a:t>它把「杀刘邦」从一次军事行动，变成了当众宣告的「不义之举」——宣判了范增计划的死刑。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200900" y="1162050"/>
            <a:ext cx="4381500" cy="51244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581900" y="1600200"/>
            <a:ext cx="36195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 spc="1050">
                <a:solidFill>
                  <a:srgbClr val="BA7517"/>
                </a:solidFill>
                <a:latin typeface="STZhongsong"/>
                <a:ea typeface="STZhongsong"/>
              </a:rPr>
              <a:t>不义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581900" y="2790825"/>
            <a:ext cx="495300" cy="28575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581900" y="3086100"/>
            <a:ext cx="3619500" cy="1076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200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项羽当着所有将领的面，公开说「不能杀刘邦」。这不是一句客套话——它等于当众否定了范增的刺杀计划。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581900" y="4352925"/>
            <a:ext cx="3619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200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项庄就算舞剑舞出花来，主公都说了「不义」，谁还敢动手？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581900" y="4924425"/>
            <a:ext cx="3619500" cy="933450"/>
          </a:xfrm>
          <a:custGeom>
            <a:pathLst>
              <a:path w="380" h="98">
                <a:moveTo>
                  <a:pt x="0" y="0"/>
                </a:moveTo>
                <a:lnTo>
                  <a:pt x="380" y="0"/>
                </a:lnTo>
                <a:lnTo>
                  <a:pt x="380" y="1"/>
                </a:lnTo>
                <a:lnTo>
                  <a:pt x="0" y="1"/>
                </a:lnTo>
                <a:close/>
              </a:path>
            </a:pathLst>
          </a:custGeom>
          <a:solidFill>
            <a:srgbClr val="F6F2E7">
              <a:alpha val="24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581900" y="5143500"/>
            <a:ext cx="3619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 b="1">
                <a:solidFill>
                  <a:srgbClr val="BA7517"/>
                </a:solidFill>
                <a:latin typeface="Microsoft YaHei"/>
                <a:ea typeface="Microsoft YaHei"/>
              </a:rPr>
              <a:t>刘邦听到这一句，心里那块大石头，才算真正落地。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12 / 32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15" name="" descr="&lt;Slide notes={`接下来是高潮——樊哙闯帐。&#13;&#10;&#13;&#10;张良在外面一看情况不对，把樊哙叫进来。樊哙「瞋目视项王，头发上指，目眦尽裂」——瞪着眼睛看项羽，头发都竖起来了，眼眶都快裂了。他硬生生撞开卫士冲进来。&#13;&#10;&#13;&#10;项羽不怒反赞：「壮士！赐之卮酒！」赐酒，又赐一条生猪腿。注意，这既是试探也是羞辱——半生不熟的猪腿，看你敢不敢咽。&#13;&#10;&#13;&#10;樊哙怎么做？盾牌一扣地上，猪腿一放盾牌上，拔剑切块，直接生吃。然后站起来对项羽说了一席话——这段话太精彩了，我给大家翻译一下。&#13;&#10;&#13;&#10;一套组合拳：先捧你、再表功、再警告、最后点题。项羽「默然无以应」——又沉默了。注意，樊哙这一闯，不只是勇，更是智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樊哙闯帐&lt;/Text&gt;&#13;&#10;    &lt;Text style={{ fontSize: 20, color: 'rgba(44,44,42,0.55)', letterSpacing: 1, fontFamily: 'STZhongsong', marginLeft: 4 }}&gt;不只勇，更是智&lt;/Text&gt;&#13;&#10;    &lt;Text style={{ fontSize: 14, color: 'rgba(44,44,42,0.45)', letterSpacing: 2, fontFamily: 'Microsoft YaHei', marginLeft: 10 }}&gt;第二章 · 生死博弈&lt;/Text&gt;&#13;&#10;  &lt;/Box&gt;&#13;&#10;&#13;&#10;  &lt;Box style={{ position: 'absolute', left: 64, top: 118, width: 420, height: 264, overflow: 'hidden' }}&gt;&#13;&#10;    &lt;Image src=&quot;assets/scene_fankuai.png&quot; style={{ width: '100%', height: '100%', objectFit: 'cover' }} /&gt;&#13;&#10;    &lt;Box style={{ position: 'absolute', left: 0, bottom: 0, width: 420, height: 84, background: 'linear-gradient(180deg, rgba(44,44,42,0) 0%, rgba(44,44,42,0.76) 100%)' }} /&gt;&#13;&#10;    &lt;Text style={{ position: 'absolute', left: 22, bottom: 20, fontSize: 14, color: '#F6F2E7', letterSpacing: 2, fontFamily: 'Microsoft YaHei' }}&gt;侧其盾以撞，披帷西向立&lt;/Text&gt;&#13;&#10;  &lt;/Box&gt;&#13;&#10;&#13;&#10;  &lt;Box style={{ position: 'absolute', left: 504, top: 118, width: 712, height: 264, display: 'flex', flexDirection: 'column' }}&gt;&#13;&#10;    &lt;Text style={{ fontSize: 21, fontWeight: 'bold', color: '#2C2C2A', lineHeight: 1.5, letterSpacing: 1, fontFamily: 'STZhongsong' }}&gt;「瞋目视项王，头发上指，目眦尽裂。」&lt;/Text&gt;&#13;&#10;    &lt;Text style={{ fontSize: 16, color: 'rgba(44,44,42,0.8)', lineHeight: 1.85, marginTop: 14, fontFamily: 'Microsoft YaHei' }}&gt;&#13;&#10;      危急时刻，张良召来帐外的樊哙。他硬生生撞开交叉拦截的卫士，项羽不怒反赞其壮，赐酒，赐一条&lt;span style={{ fontWeight: 'bold' }}&gt;生彘肩&lt;/span&gt;。&#13;&#10;    &lt;/Text&gt;&#13;&#10;    &lt;Box style={{ marginTop: 16, background: 'rgba(44,44,42,0.06)', borderLeft: '3px solid #A32D2D', padding: '14px 18px' }}&gt;&#13;&#10;      &lt;Text style={{ fontSize: 17, fontWeight: 'bold', color: '#2C2C2A', fontFamily: 'Microsoft YaHei' }}&gt;赐生肉，是试探，也是羞辱&lt;/Text&gt;&#13;&#10;      &lt;Text style={{ fontSize: 15, color: 'rgba(44,44,42,0.74)', lineHeight: 1.8, marginTop: 8, fontFamily: 'Microsoft YaHei' }}&gt;&#13;&#10;        半生不熟的猪腿，看你敢不敢咽。樊哙「覆其盾于地，加彘肩上，拔剑切而啖之」——盾牌一扣、猪腿一搁，拔剑切块，直接生吃。&#13;&#10;      &lt;/Text&gt;&#13;&#10;    &lt;/Box&gt;&#13;&#10;  &lt;/Box&gt;&#13;&#10;&#13;&#10;  &lt;Box style={{ position: 'absolute', left: 64, top: 388, width: 1152, height: 280, background: '#FFFFFF', border: '0.5px solid #D9D3C4', boxShadow: '0 4px 20px rgba(44,44,42,0.08)', padding: '22px 28px', display: 'flex', flexDirection: 'column' }}&gt;&#13;&#10;    &lt;Box style={{ display: 'flex', flexDirection: 'row', alignItems: 'center', gap: 12 }}&gt;&#13;&#10;      &lt;Box style={{ width: 3, height: 18, background: '#BA7517' }} /&gt;&#13;&#10;      &lt;Text style={{ fontSize: 14, letterSpacing: 2, color: '#BA7517', fontWeight: 'bold', fontFamily: 'Microsoft YaHei' }}&gt;樊哙说辞 ·《史记》原文&lt;/Text&gt;&#13;&#10;    &lt;/Box&gt;&#13;&#10;    &lt;Text style={{ fontSize: 15, color: '#2C2C2A', lineHeight: 1.8, marginTop: 10, fontFamily: 'Microsoft YaHei' }}&gt;&#13;&#10;      「臣死且不避，卮酒安足辞！夫秦王有虎狼之心，杀人如不能举，刑人如恐不胜，天下皆叛之。怀王与诸将约曰：『先破秦入咸阳者王之。』今沛公先破秦入咸阳，毫毛不敢有所近，封闭宫室，还军霸上，以待大王来。故遣将守关者，备他盗出入与非常也。劳苦而功高如此，未有封侯之赏，而听细说，欲诛有功之人，此亡秦之续耳。窃为大王不取也！」&#13;&#10;    &lt;/Text&gt;&#13;&#10;    &lt;Text style={{ fontSize: 14, color: 'rgba(44,44,42,0.72)', lineHeight: 1.8, marginTop: 10, fontFamily: 'Microsoft YaHei' }}&gt;&#13;&#10;      译：我连死都不怕，一杯酒算什么？秦王有虎狼之心，杀人唯恐不多，天下都叛了他。怀王约定「先破秦入咸阳的做王」，刘邦先破了却什么都不拿，退军霸上等您来。劳苦功高不封侯，反而听信小人之言要杀有功之人，这是走秦朝的老路——我认为大王不该这样做！&#13;&#10;    &lt;/Text&gt;&#13;&#10;    &lt;Box style={{ marginTop: 'auto', borderTop: '0.5px solid #D9D3C4', paddingTop: 14 }}&gt;&#13;&#10;      &lt;Text style={{ fontSize: 16, fontWeight: 'bold', color: '#2C2C2A', lineHeight: 1.6, fontFamily: 'Microsoft YaHei' }}&gt;&#13;&#10;        先捧 → 再表功 → 再警告 → 最后点题。项羽「默然无以应」——又沉默了。一赐一吃之间，两路人格的交锋全在这条生腿上。&#13;&#10;      &lt;/Text&gt;&#13;&#10;    &lt;/Box&gt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3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1276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樊哙闯帐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238375" y="45720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不只勇，更是智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867150" y="4857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第二章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生死博弈</a:t>
            </a:r>
            <a:endParaRPr/>
          </a:p>
        </p:txBody>
      </p:sp>
      <p:pic>
        <p:nvPicPr>
          <p:cNvPr id="123" name=""/>
          <p:cNvPicPr>
            <a:picLocks noChangeAspect="1"/>
          </p:cNvPicPr>
          <p:nvPr/>
        </p:nvPicPr>
        <p:blipFill>
          <a:blip r:embed="rId1"/>
          <a:srcRect l="0" t="15320" r="0" b="15320"/>
          <a:stretch>
            <a:fillRect/>
          </a:stretch>
        </p:blipFill>
        <p:spPr>
          <a:xfrm rot="0" flipH="0" flipV="0">
            <a:off x="609600" y="1123950"/>
            <a:ext cx="4000500" cy="2514600"/>
          </a:xfrm>
          <a:prstGeom prst="rect">
            <a:avLst/>
          </a:prstGeom>
          <a:ln/>
        </p:spPr>
      </p:pic>
      <p:sp>
        <p:nvSpPr>
          <p:cNvPr id="124" name=""/>
          <p:cNvSpPr/>
          <p:nvPr/>
        </p:nvSpPr>
        <p:spPr>
          <a:xfrm rot="0" flipH="0" flipV="0">
            <a:off x="609600" y="2838450"/>
            <a:ext cx="4000500" cy="800100"/>
          </a:xfrm>
          <a:prstGeom prst="rect">
            <a:avLst/>
          </a:prstGeom>
          <a:gradFill>
            <a:gsLst>
              <a:gs pos="0">
                <a:srgbClr val="2C2C2A">
                  <a:alpha val="0"/>
                </a:srgbClr>
              </a:gs>
              <a:gs pos="100000">
                <a:srgbClr val="2C2C2A">
                  <a:alpha val="76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9150" y="328612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F6F2E7"/>
                </a:solidFill>
                <a:latin typeface="Microsoft YaHei"/>
                <a:ea typeface="Microsoft YaHei"/>
              </a:rPr>
              <a:t>侧其盾以撞，披帷西向立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800600" y="1123950"/>
            <a:ext cx="67818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 spc="75">
                <a:solidFill>
                  <a:srgbClr val="2C2C2A"/>
                </a:solidFill>
                <a:latin typeface="STZhongsong"/>
                <a:ea typeface="STZhongsong"/>
              </a:rPr>
              <a:t>「瞋目视项王，头发上指，目眦尽裂。」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800600" y="1619250"/>
            <a:ext cx="67818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危急时刻，张良召来帐外的樊哙。他硬生生撞开交叉拦截的卫士，项羽不怒反赞其壮，赐酒，赐一条</a:t>
            </a:r>
            <a:r>
              <a:rPr lang="zh-CN" sz="1200" b="1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生彘肩</a:t>
            </a: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829175" y="2457450"/>
            <a:ext cx="6781800" cy="1162050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4800600" y="2457450"/>
            <a:ext cx="6810375" cy="1162050"/>
          </a:xfrm>
          <a:custGeom>
            <a:pathLst>
              <a:path w="715" h="122">
                <a:moveTo>
                  <a:pt x="0" y="0"/>
                </a:moveTo>
                <a:lnTo>
                  <a:pt x="3" y="0"/>
                </a:lnTo>
                <a:lnTo>
                  <a:pt x="3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000625" y="2590800"/>
            <a:ext cx="6410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赐生肉，是试探，也是羞辱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000625" y="2867025"/>
            <a:ext cx="64103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74000"/>
                  </a:srgbClr>
                </a:solidFill>
                <a:latin typeface="Microsoft YaHei"/>
                <a:ea typeface="Microsoft YaHei"/>
              </a:rPr>
              <a:t>半生不熟的猪腿，看你敢不敢咽。樊哙「覆其盾于地，加彘肩上，拔剑切而啖之」——盾牌一扣、猪腿一搁，拔剑切块，直接生吃。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3695700"/>
            <a:ext cx="10972800" cy="2667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876300" y="3905250"/>
            <a:ext cx="28575" cy="1714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19175" y="3914775"/>
            <a:ext cx="1666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A7517"/>
                </a:solidFill>
                <a:latin typeface="Microsoft YaHei"/>
                <a:ea typeface="Microsoft YaHei"/>
              </a:rPr>
              <a:t>樊哙说辞</a:t>
            </a:r>
            <a:r>
              <a:rPr lang="en-US" sz="1050" b="1" spc="150">
                <a:solidFill>
                  <a:srgbClr val="BA7517"/>
                </a:solidFill>
                <a:latin typeface="Microsoft YaHei"/>
                <a:ea typeface="Microsoft YaHei"/>
              </a:rPr>
              <a:t> ·</a:t>
            </a:r>
            <a:r>
              <a:rPr lang="zh-CN" sz="1050" b="1" spc="150">
                <a:solidFill>
                  <a:srgbClr val="BA7517"/>
                </a:solidFill>
                <a:latin typeface="Microsoft YaHei"/>
                <a:ea typeface="Microsoft YaHei"/>
              </a:rPr>
              <a:t>《史记》原文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76300" y="4171950"/>
            <a:ext cx="104394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/>
                </a:solidFill>
                <a:latin typeface="Microsoft YaHei"/>
                <a:ea typeface="Microsoft YaHei"/>
              </a:rPr>
              <a:t>「臣死且不避，卮酒安足辞！夫秦王有虎狼之心，杀人如不能举，刑人如恐不胜，天下皆叛之。怀王与诸将约曰：『先破秦入咸阳者王之。』今沛公先破秦入咸阳，毫毛不敢有所近，封闭宫室，还军霸上，以待大王来。故遣将守关者，备他盗出入与非常也。劳苦而功高如此，未有封侯之赏，而听细说，欲诛有功之人，此亡秦之续耳。窃为大王不取也！」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76300" y="5200650"/>
            <a:ext cx="104394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2C2C2A">
                    <a:alpha val="72000"/>
                  </a:srgbClr>
                </a:solidFill>
                <a:latin typeface="Microsoft YaHei"/>
                <a:ea typeface="Microsoft YaHei"/>
              </a:rPr>
              <a:t>译：我连死都不怕，一杯酒算什么？秦王有虎狼之心，杀人唯恐不多，天下都叛了他。怀王约定「先破秦入咸阳的做王」，刘邦先破了却什么都不拿，退军霸上等您来。劳苦功高不封侯，反而听信小人之言要杀有功之人，这是走秦朝的老路——我认为大王不该这样做！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76300" y="5715000"/>
            <a:ext cx="10439400" cy="447675"/>
          </a:xfrm>
          <a:custGeom>
            <a:pathLst>
              <a:path w="1096" h="47">
                <a:moveTo>
                  <a:pt x="0" y="0"/>
                </a:moveTo>
                <a:lnTo>
                  <a:pt x="1096" y="0"/>
                </a:lnTo>
                <a:lnTo>
                  <a:pt x="1096" y="1"/>
                </a:lnTo>
                <a:lnTo>
                  <a:pt x="0" y="1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76300" y="5857875"/>
            <a:ext cx="10439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先捧</a:t>
            </a:r>
            <a:r>
              <a:rPr lang="en-US" sz="1200" b="1">
                <a:solidFill>
                  <a:srgbClr val="2C2C2A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再表功</a:t>
            </a:r>
            <a:r>
              <a:rPr lang="en-US" sz="1200" b="1">
                <a:solidFill>
                  <a:srgbClr val="2C2C2A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再警告</a:t>
            </a:r>
            <a:r>
              <a:rPr lang="en-US" sz="1200" b="1">
                <a:solidFill>
                  <a:srgbClr val="2C2C2A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最后点题。项羽「默然无以应」——又沉默了。一赐一吃之间，两路人格的交锋全在这条生腿上。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13 / 32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2" name="" descr="&lt;Slide notes={`刘邦借口上厕所，带着樊哙、夏侯婴等四个人，弃车骑马，抄小路狂奔回霸上营地——四十里路，跑出了逃命的速度。让张良留下代为谢罪。&#13;&#10;&#13;&#10;范增呢？接过刘邦托人送来的玉斗，「置之地，拔剑撞而破之」——把玉斗扔地上，拔剑砸碎。然后说了那句千古名言：「竖子不足与谋！」&#13;&#10;&#13;&#10;刘邦逃回去之后第一件事是什么？告诉张良：立诛杀曹无伤。这个投机鬼第一次告密点燃了鸿门宴，第二次差点害死他，回去第一件事就是处理掉。&#13;&#10;&#13;&#10;注意这个细节——刘邦的隐忍和狠辣，在这一刻同时展现了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刘邦脱身&lt;/Text&gt;&#13;&#10;    &lt;Text style={{ fontSize: 20, color: 'rgba(44,44,42,0.55)', letterSpacing: 1, fontFamily: 'STZhongsong', marginLeft: 4 }}&gt;能低头，也能翻脸&lt;/Text&gt;&#13;&#10;    &lt;Text style={{ fontSize: 14, color: 'rgba(44,44,42,0.45)', letterSpacing: 2, fontFamily: 'Microsoft YaHei', marginLeft: 10 }}&gt;第二章 · 生死博弈&lt;/Text&gt;&#13;&#10;  &lt;/Box&gt;&#13;&#10;&#13;&#10;  &lt;Box style={{ position: 'absolute', left: 64, top: 112, width: 1152, height: 208, overflow: 'hidden' }}&gt;&#13;&#10;    &lt;Image src=&quot;assets/scene_escape.png&quot; style={{ width: '100%', height: '100%', objectFit: 'cover' }} /&gt;&#13;&#10;    &lt;Box style={{ position: 'absolute', left: 0, bottom: 0, width: 1152, height: 100, background: 'linear-gradient(180deg, rgba(44,44,42,0) 0%, rgba(44,44,42,0.74) 100%)' }} /&gt;&#13;&#10;    &lt;Text style={{ position: 'absolute', left: 28, bottom: 22, fontSize: 15, color: '#F6F2E7', letterSpacing: 2, fontFamily: 'Microsoft YaHei' }}&gt;弃车骑马，抄小路狂奔回霸山大营&lt;/Text&gt;&#13;&#10;  &lt;/Box&gt;&#13;&#10;&#13;&#10;  &lt;Box style={{ position: 'absolute', left: 64, top: 336, width: 1152, height: 176, background: '#FFFFFF', border: '0.5px solid #D9D3C4', boxShadow: '0 4px 20px rgba(44,44,42,0.08)', display: 'flex', flexDirection: 'row', alignItems: 'center', padding: '0 44px', gap: 44 }}&gt;&#13;&#10;    &lt;Box style={{ width: 400 }}&gt;&#13;&#10;      &lt;Box style={{ width: 3, height: 60, background: '#BA7517', marginBottom: 14 }} /&gt;&#13;&#10;      &lt;Text style={{ fontSize: 27, fontWeight: 'bold', color: '#2C2C2A', lineHeight: 1.55, letterSpacing: 2, fontFamily: 'STZhongsong' }}&gt;「如今人方为刀俎，&lt;br /&gt;我为鱼肉，何辞为？」&lt;/Text&gt;&#13;&#10;    &lt;/Box&gt;&#13;&#10;    &lt;Box style={{ flex: 1, borderLeft: '0.5px solid #D9D3C4', paddingLeft: 44 }}&gt;&#13;&#10;      &lt;Text style={{ fontSize: 16, color: 'rgba(44,44,42,0.78)', lineHeight: 1.9, fontFamily: 'Microsoft YaHei' }}&gt;&#13;&#10;        刘邦借口如厕离席，只带樊哙、夏侯婴等四人弃车骑马，抄小路狂奔回霸山大营，让张良留下代为谢罪。范增接过刘邦托赠的玉斗，「置之地，拔剑撞而破之」——一句&lt;span style={{ fontWeight: 'bold' }}&gt;「竖子不足与谋」&lt;/span&gt;，写尽他对项羽的彻底失望。&#13;&#10;      &lt;/Text&gt;&#13;&#10;    &lt;/Box&gt;&#13;&#10;  &lt;/Box&gt;&#13;&#10;&#13;&#10;  &lt;Box style={{ position: 'absolute', left: 64, top: 522, width: 1152, height: 146, background: '#2C2C2A', display: 'flex', flexDirection: 'row', alignItems: 'center', padding: '0 44px', gap: 44 }}&gt;&#13;&#10;    &lt;Box style={{ width: 330 }}&gt;&#13;&#10;      &lt;Text style={{ fontSize: 12, letterSpacing: 2, color: '#BA7517', fontWeight: 'bold', fontFamily: 'Microsoft YaHei' }}&gt;回营第一件事&lt;/Text&gt;&#13;&#10;      &lt;Text style={{ fontSize: 32, fontWeight: 'bold', color: '#F6F2E7', letterSpacing: 2, marginTop: 10, fontFamily: 'STZhongsong' }}&gt;「立诛杀曹无伤」&lt;/Text&gt;&#13;&#10;    &lt;/Box&gt;&#13;&#10;    &lt;Box style={{ flex: 1, borderLeft: '0.5px solid rgba(246,242,231,0.24)', paddingLeft: 44 }}&gt;&#13;&#10;      &lt;Text style={{ fontSize: 16, color: 'rgba(246,242,231,0.86)', lineHeight: 1.9, fontFamily: 'Microsoft YaHei' }}&gt;&#13;&#10;        这个投机者第一次告密点燃了鸿门宴，第二次差点害死刘邦——回到营帐的第一件事，就是处理掉这个隐患。能低头时低头，能翻脸时绝不手软，这才是刘邦真正可怕的地方。&#13;&#10;      &lt;/Text&gt;&#13;&#10;    &lt;/Box&gt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4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1276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刘邦脱身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238375" y="457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能低头，也能翻脸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067175" y="4857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第二章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生死博弈</a:t>
            </a:r>
            <a:endParaRPr/>
          </a:p>
        </p:txBody>
      </p:sp>
      <p:pic>
        <p:nvPicPr>
          <p:cNvPr id="150" name=""/>
          <p:cNvPicPr>
            <a:picLocks noChangeAspect="1"/>
          </p:cNvPicPr>
          <p:nvPr/>
        </p:nvPicPr>
        <p:blipFill>
          <a:blip r:embed="rId1"/>
          <a:srcRect l="0" t="35057" r="0" b="35057"/>
          <a:stretch>
            <a:fillRect/>
          </a:stretch>
        </p:blipFill>
        <p:spPr>
          <a:xfrm rot="0" flipH="0" flipV="0">
            <a:off x="609600" y="1066800"/>
            <a:ext cx="10972800" cy="1981200"/>
          </a:xfrm>
          <a:prstGeom prst="rect">
            <a:avLst/>
          </a:prstGeom>
          <a:ln/>
        </p:spPr>
      </p:pic>
      <p:sp>
        <p:nvSpPr>
          <p:cNvPr id="151" name=""/>
          <p:cNvSpPr/>
          <p:nvPr/>
        </p:nvSpPr>
        <p:spPr>
          <a:xfrm rot="0" flipH="0" flipV="0">
            <a:off x="609600" y="2095500"/>
            <a:ext cx="10972800" cy="952500"/>
          </a:xfrm>
          <a:prstGeom prst="rect">
            <a:avLst/>
          </a:prstGeom>
          <a:gradFill>
            <a:gsLst>
              <a:gs pos="0">
                <a:srgbClr val="2C2C2A">
                  <a:alpha val="0"/>
                </a:srgbClr>
              </a:gs>
              <a:gs pos="100000">
                <a:srgbClr val="2C2C2A">
                  <a:alpha val="74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76300" y="2667000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6F2E7"/>
                </a:solidFill>
                <a:latin typeface="Microsoft YaHei"/>
                <a:ea typeface="Microsoft YaHei"/>
              </a:rPr>
              <a:t>弃车骑马，抄小路狂奔回霸山大营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3200400"/>
            <a:ext cx="10972800" cy="167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1028700" y="3209925"/>
            <a:ext cx="28575" cy="571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28700" y="3914775"/>
            <a:ext cx="3810000" cy="962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2025" b="1" spc="150">
                <a:solidFill>
                  <a:srgbClr val="2C2C2A"/>
                </a:solidFill>
                <a:latin typeface="STZhongsong"/>
                <a:ea typeface="STZhongsong"/>
              </a:rPr>
              <a:t>「如今人方为刀俎，</a:t>
            </a:r>
            <a:endParaRPr/>
          </a:p>
          <a:p>
            <a:pPr>
              <a:lnSpc>
                <a:spcPct val="155000"/>
              </a:lnSpc>
            </a:pPr>
            <a:r>
              <a:rPr lang="zh-CN" sz="2025" b="1" spc="150">
                <a:solidFill>
                  <a:srgbClr val="2C2C2A"/>
                </a:solidFill>
                <a:latin typeface="STZhongsong"/>
                <a:ea typeface="STZhongsong"/>
              </a:rPr>
              <a:t>我为鱼肉，何辞为？」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257800" y="3514725"/>
            <a:ext cx="5915025" cy="1047750"/>
          </a:xfrm>
          <a:custGeom>
            <a:pathLst>
              <a:path w="621" h="110">
                <a:moveTo>
                  <a:pt x="0" y="0"/>
                </a:moveTo>
                <a:lnTo>
                  <a:pt x="1" y="0"/>
                </a:lnTo>
                <a:lnTo>
                  <a:pt x="1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686425" y="3514725"/>
            <a:ext cx="54864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刘邦借口如厕离席，只带樊哙、夏侯婴等四人弃车骑马，抄小路狂奔回霸山大营，让张良留下代为谢罪。范增接过刘邦托赠的玉斗，「置之地，拔剑撞而破之」——一句</a:t>
            </a:r>
            <a:r>
              <a:rPr lang="zh-CN" sz="1200" b="1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「竖子不足与谋」</a:t>
            </a:r>
            <a:r>
              <a:rPr lang="zh-CN" sz="120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，写尽他对项羽的彻底失望。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4972050"/>
            <a:ext cx="10972800" cy="13906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28700" y="5362575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BA7517"/>
                </a:solidFill>
                <a:latin typeface="Microsoft YaHei"/>
                <a:ea typeface="Microsoft YaHei"/>
              </a:rPr>
              <a:t>回营第一件事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28700" y="5600700"/>
            <a:ext cx="3143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F6F2E7"/>
                </a:solidFill>
                <a:latin typeface="STZhongsong"/>
                <a:ea typeface="STZhongsong"/>
              </a:rPr>
              <a:t>「立诛杀曹无伤」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591050" y="5324475"/>
            <a:ext cx="6581775" cy="695325"/>
          </a:xfrm>
          <a:custGeom>
            <a:pathLst>
              <a:path w="691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F6F2E7">
              <a:alpha val="24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019675" y="5324475"/>
            <a:ext cx="61531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这个投机者第一次告密点燃了鸿门宴，第二次差点害死刘邦——回到营帐的第一件事，就是处理掉这个隐患。能低头时低头，能翻脸时绝不手软，这才是刘邦真正可怕的地方。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14 / 32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6" name="" descr="&lt;Slide notes={`好，进入第三部分——藏在细节里的人性。&#13;&#10;&#13;&#10;一场饭局，六个人的选择，六种人性的底色。看懂他们为什么那样选，才看得懂这场宴为什么那样收场。&#13;&#10;&#13;&#10;在此之前，我先插一张人物关系图，帮大家理清一下各方势力。`} style={{ width: 1280, height: 720, background: '#F6F2E7', position: 'relative', overflow: 'hidden' }}&gt;&#13;&#10;&#13;&#10;  &lt;Box style={{ position: 'absolute', left: 13, top: 0, width: 860, height: 720, overflow: 'hidden' }}&gt;&#13;&#10;    &lt;Image src=&quot;assets/scene_xiangyu.png&quot; style={{ width: '100%', height: '100%', objectFit: 'cover', opacity: 0.26 }} /&gt;&#13;&#10;    &lt;Box style={{ position: 'absolute', left: 0, top: 0, width: 860, height: 720, background: 'linear-gradient(270deg, #F6F2E7 0%, rgba(246,242,231,0) 40%)' }} /&gt;&#13;&#10;  &lt;/Box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873, top: 0, width: 407, height: 720, background: '#2C2C2A', padding: '52px 44px 48px 44px', display: 'flex', flexDirection: 'column' }}&gt;&#13;&#10;    &lt;Text style={{ fontSize: 104, fontWeight: 'bold', color: '#BA7517', lineHeight: 1.0, fontFamily: 'STZhongsong', letterSpacing: 2 }}&gt;03&lt;/Text&gt;&#13;&#10;    &lt;Box style={{ width: 46, height: 3, background: '#A32D2D', marginTop: 26 }} /&gt;&#13;&#10;    &lt;Text style={{ fontSize: 50, fontWeight: 'bold', color: '#F6F2E7', lineHeight: 1.3, letterSpacing: 3, marginTop: 28, fontFamily: 'STZhongsong' }}&gt;藏在细节里的人性&lt;/Text&gt;&#13;&#10;    &lt;Box style={{ marginTop: 'auto' }}&gt;&#13;&#10;      &lt;Text style={{ fontSize: 15, color: 'rgba(246,242,231,0.62)', letterSpacing: 2, lineHeight: 1.9, fontFamily: 'Microsoft YaHei' }}&gt;项伯 · 曹无伤 · 刘邦 · 范增&lt;br /&gt;项羽 · 张良&lt;/Text&gt;&#13;&#10;    &lt;/Box&gt;&#13;&#10;  &lt;/Box&gt;&#13;&#10;&#13;&#10;  &lt;Box style={{ position: 'absolute', left: 96, top: 0, width: 660, height: 720, display: 'flex', flexDirection: 'column', justifyContent: 'center' }}&gt;&#13;&#10;    &lt;Box style={{ display: 'flex', flexDirection: 'row', gap: 22, alignItems: 'stretch' }}&gt;&#13;&#10;      &lt;Box style={{ width: 3, background: '#BA7517', opacity: 0.85 }} /&gt;&#13;&#10;      &lt;Text style={{ fontSize: 30, color: '#2C2C2A', lineHeight: 1.75, letterSpacing: 2, fontFamily: 'STZhongsong' }}&gt;&#13;&#10;        一场饭局，六个人的选择，&lt;br /&gt;六种人性的底色。&#13;&#10;      &lt;/Text&gt;&#13;&#10;    &lt;/Box&gt;&#13;&#10;    &lt;Text style={{ fontSize: 16, color: 'rgba(44,44,42,0.62)', lineHeight: 2.0, marginTop: 34, fontFamily: 'Microsoft YaHei' }}&gt;&#13;&#10;      看懂他们为什么那样选，才看得懂这场宴为什么那样收场。&#13;&#10;    &lt;/Text&gt;&#13;&#10;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Id1">
            <a:alphaModFix amt="26000"/>
          </a:blip>
          <a:srcRect l="0" t="3809" r="0" b="3809"/>
          <a:stretch>
            <a:fillRect/>
          </a:stretch>
        </p:blipFill>
        <p:spPr>
          <a:xfrm rot="0" flipH="0" flipV="0">
            <a:off x="123825" y="0"/>
            <a:ext cx="8191500" cy="6858000"/>
          </a:xfrm>
          <a:prstGeom prst="rect">
            <a:avLst/>
          </a:prstGeom>
          <a:ln/>
        </p:spPr>
      </p:pic>
      <p:sp>
        <p:nvSpPr>
          <p:cNvPr id="169" name=""/>
          <p:cNvSpPr/>
          <p:nvPr/>
        </p:nvSpPr>
        <p:spPr>
          <a:xfrm rot="0" flipH="0" flipV="0">
            <a:off x="123825" y="0"/>
            <a:ext cx="8191500" cy="6858000"/>
          </a:xfrm>
          <a:prstGeom prst="rect">
            <a:avLst/>
          </a:prstGeom>
          <a:gradFill>
            <a:gsLst>
              <a:gs pos="0">
                <a:srgbClr val="F6F2E7"/>
              </a:gs>
              <a:gs pos="40000">
                <a:srgbClr val="F6F2E7">
                  <a:alpha val="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8315325" y="0"/>
            <a:ext cx="3876675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734425" y="495300"/>
            <a:ext cx="303847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 spc="150">
                <a:solidFill>
                  <a:srgbClr val="BA7517"/>
                </a:solidFill>
                <a:latin typeface="STZhongsong"/>
                <a:ea typeface="STZhongsong"/>
              </a:rPr>
              <a:t>03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734425" y="1933575"/>
            <a:ext cx="438150" cy="28575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734425" y="2228850"/>
            <a:ext cx="3038475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3750" b="1" spc="225">
                <a:solidFill>
                  <a:srgbClr val="F6F2E7"/>
                </a:solidFill>
                <a:latin typeface="STZhongsong"/>
                <a:ea typeface="STZhongsong"/>
              </a:rPr>
              <a:t>藏在细节里的人性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734425" y="5743575"/>
            <a:ext cx="3038475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项伯</a:t>
            </a:r>
            <a:r>
              <a:rPr lang="en-US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曹无伤</a:t>
            </a:r>
            <a:r>
              <a:rPr lang="en-US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刘邦</a:t>
            </a:r>
            <a:r>
              <a:rPr lang="en-US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范增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项羽</a:t>
            </a:r>
            <a:r>
              <a:rPr lang="en-US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张良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52525" y="2486025"/>
            <a:ext cx="3657600" cy="12001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2250" spc="150">
                <a:solidFill>
                  <a:srgbClr val="2C2C2A"/>
                </a:solidFill>
                <a:latin typeface="STZhongsong"/>
                <a:ea typeface="STZhongsong"/>
              </a:rPr>
              <a:t>一场饭局，六个人的选择，</a:t>
            </a:r>
            <a:endParaRPr/>
          </a:p>
          <a:p>
            <a:pPr>
              <a:lnSpc>
                <a:spcPct val="175000"/>
              </a:lnSpc>
            </a:pPr>
            <a:r>
              <a:rPr lang="zh-CN" sz="2250" spc="150">
                <a:solidFill>
                  <a:srgbClr val="2C2C2A"/>
                </a:solidFill>
                <a:latin typeface="STZhongsong"/>
                <a:ea typeface="STZhongsong"/>
              </a:rPr>
              <a:t>六种人性的底色。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14400" y="4010025"/>
            <a:ext cx="6286500" cy="3714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看懂他们为什么那样选，才看得懂这场宴为什么那样收场。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914400" y="2486025"/>
            <a:ext cx="28575" cy="120015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notes={`来，插一张人物关系图，帮大家理清各方势力。&#13;&#10;&#13;&#10;左边是楚军阵营：项羽是老大；范增是军师「亚父」，老谋深算，对项羽又恨又爱；项伯是项羽的叔叔——注意这个人，他是双面角色，早年杀人被张良救过，后来跟刘邦结了亲家，鸿门宴上他站在刘邦这边挡剑；项庄就是那个舞剑要杀刘邦的武将。&#13;&#10;&#13;&#10;右边是汉军阵营：刘邦是老大；张良是军师——注意这个人才是真正的全场 MVP，从头到尾在幕后操盘；樊哙是猛将，那个闯帐吃生猪腿的；还有曹无伤——这个人是刘邦手下的左司马，但他是投机分子，两边都卖，最后被刘邦回去第一件事就杀了。&#13;&#10;&#13;&#10;特别留意两条跨阵营的暗线：一条是张良救过项伯的命，这份恩情把项伯拉进了刘营；另一条是刘邦「约为婚姻」，把项伯彻底绑上了自己的战车。&#13;&#10;&#13;&#10;理清了人物关系，咱们再看每个人在饭局上的选择，就全明白了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人物关系图：谁站在谁那边&lt;/Text&gt;&#13;&#10;    &lt;Text style={{ fontSize: 20, color: 'rgba(44,44,42,0.55)', letterSpacing: 1, fontFamily: 'STZhongsong', marginLeft: 4 }}&gt;八个人 · 两个阵营 · 两条暗线&lt;/Text&gt;&#13;&#10;    &lt;Text style={{ fontSize: 14, color: 'rgba(44,44,42,0.45)', letterSpacing: 2, fontFamily: 'Microsoft YaHei', marginLeft: 10 }}&gt;第三章 · 藏在细节里的人性&lt;/Text&gt;&#13;&#10;  &lt;/Box&gt;&#13;&#10;&#13;&#10;  &lt;Box style={{ position: 'absolute', left: 64, top: 118, width: 556, height: 430, display: 'flex', flexDirection: 'column' }}&gt;&#13;&#10;    &lt;Box style={{ background: '#2C2C2A', padding: '10px 20px', display: 'flex', flexDirection: 'row', alignItems: 'center', gap: 12 }}&gt;&#13;&#10;      &lt;Text style={{ fontSize: 18, fontWeight: 'bold', color: '#F6F2E7', letterSpacing: 3, fontFamily: 'STZhongsong' }}&gt;楚 军 阵 营&lt;/Text&gt;&#13;&#10;      &lt;Text style={{ fontSize: 13, color: 'rgba(246,242,231,0.6)', letterSpacing: 1, fontFamily: 'Microsoft YaHei', marginLeft: 'auto' }}&gt;四十万&lt;/Text&gt;&#13;&#10;    &lt;/Box&gt;&#13;&#10;    &lt;Box style={{ display: 'flex', flexDirection: 'column', justifyContent: 'space-between', flex: 1, marginTop: 14 }}&gt;&#13;&#10;      &lt;Box style={{ background: '#FFFFFF', border: '0.5px solid #D9D3C4', padding: '14px 18px', display: 'flex', flexDirection: 'row', gap: 16, alignItems: 'center' }}&gt;&#13;&#10;        &lt;Box style={{ width: 104 }}&gt;&#13;&#10;          &lt;Text style={{ fontSize: 19, fontWeight: 'bold', color: '#2C2C2A', fontFamily: 'STZhongsong' }}&gt;项羽&lt;/Text&gt;&#13;&#10;          &lt;Text style={{ fontSize: 12, color: '#BA7517', marginTop: 3, fontFamily: 'Microsoft YaHei' }}&gt;西楚霸王&lt;/Text&gt;&#13;&#10;        &lt;/Box&gt;&#13;&#10;        &lt;Box style={{ flex: 1, borderLeft: '0.5px solid #D9D3C4', paddingLeft: 16 }}&gt;&#13;&#10;          &lt;Text style={{ fontSize: 14, color: 'rgba(44,44,42,0.78)', lineHeight: 1.7, fontFamily: 'Microsoft YaHei' }}&gt;最高军事统帅 —— 骄傲、重名节、优柔寡断&lt;/Text&gt;&#13;&#10;        &lt;/Box&gt;&#13;&#10;      &lt;/Box&gt;&#13;&#10;      &lt;Box style={{ background: '#FFFFFF', border: '0.5px solid #D9D3C4', padding: '14px 18px', display: 'flex', flexDirection: 'row', gap: 16, alignItems: 'center' }}&gt;&#13;&#10;        &lt;Box style={{ width: 104 }}&gt;&#13;&#10;          &lt;Text style={{ fontSize: 19, fontWeight: 'bold', color: '#2C2C2A', fontFamily: 'STZhongsong' }}&gt;范增&lt;/Text&gt;&#13;&#10;          &lt;Text style={{ fontSize: 12, color: '#BA7517', marginTop: 3, fontFamily: 'Microsoft YaHei' }}&gt;亚父 · 首席谋士&lt;/Text&gt;&#13;&#10;        &lt;/Box&gt;&#13;&#10;        &lt;Box style={{ flex: 1, borderLeft: '0.5px solid #D9D3C4', paddingLeft: 16 }}&gt;&#13;&#10;          &lt;Text style={{ fontSize: 14, color: 'rgba(44,44,42,0.78)', lineHeight: 1.7, fontFamily: 'Microsoft YaHei' }}&gt;老谋深算、急躁，对项羽又恨又爱&lt;/Text&gt;&#13;&#10;        &lt;/Box&gt;&#13;&#10;      &lt;/Box&gt;&#13;&#10;      &lt;Box style={{ background: '#FFFFFF', border: '0.5px solid #A32D2D', padding: '14px 18px', display: 'flex', flexDirection: 'row', gap: 16, alignItems: 'center' }}&gt;&#13;&#10;        &lt;Box style={{ width: 104 }}&gt;&#13;&#10;          &lt;Text style={{ fontSize: 19, fontWeight: 'bold', color: '#A32D2D', fontFamily: 'STZhongsong' }}&gt;项伯&lt;/Text&gt;&#13;&#10;          &lt;Text style={{ fontSize: 12, color: '#BA7517', marginTop: 3, fontFamily: 'Microsoft YaHei' }}&gt;项羽叔父 · 双面&lt;/Text&gt;&#13;&#10;        &lt;/Box&gt;&#13;&#10;        &lt;Box style={{ flex: 1, borderLeft: '0.5px solid #D9D3C4', paddingLeft: 16 }}&gt;&#13;&#10;          &lt;Text style={{ fontSize: 14, color: 'rgba(44,44,42,0.78)', lineHeight: 1.7, fontFamily: 'Microsoft YaHei' }}&gt;缺政治远见、重私恩、自认「主持公道」&lt;/Text&gt;&#13;&#10;        &lt;/Box&gt;&#13;&#10;      &lt;/Box&gt;&#13;&#10;      &lt;Box style={{ background: '#FFFFFF', border: '0.5px solid #D9D3C4', padding: '14px 18px', display: 'flex', flexDirection: 'row', gap: 16, alignItems: 'center' }}&gt;&#13;&#10;        &lt;Box style={{ width: 104 }}&gt;&#13;&#10;          &lt;Text style={{ fontSize: 19, fontWeight: 'bold', color: '#2C2C2A', fontFamily: 'STZhongsong' }}&gt;项庄&lt;/Text&gt;&#13;&#10;          &lt;Text style={{ fontSize: 12, color: '#BA7517', marginTop: 3, fontFamily: 'Microsoft YaHei' }}&gt;武将 · 刺客&lt;/Text&gt;&#13;&#10;        &lt;/Box&gt;&#13;&#10;        &lt;Box style={{ flex: 1, borderLeft: '0.5px solid #D9D3C4', paddingLeft: 16 }}&gt;&#13;&#10;          &lt;Text style={{ fontSize: 14, color: 'rgba(44,44,42,0.78)', lineHeight: 1.7, fontFamily: 'Microsoft YaHei' }}&gt;执行者，听令行事&lt;/Text&gt;&#13;&#10;        &lt;/Box&gt;&#13;&#10;      &lt;/Box&gt;&#13;&#10;    &lt;/Box&gt;&#13;&#10;  &lt;/Box&gt;&#13;&#10;&#13;&#10;  &lt;Box style={{ position: 'absolute', left: 652, top: 118, width: 564, height: 430, display: 'flex', flexDirection: 'column' }}&gt;&#13;&#10;    &lt;Box style={{ background: '#BA7517', padding: '10px 20px', display: 'flex', flexDirection: 'row', alignItems: 'center', gap: 12 }}&gt;&#13;&#10;      &lt;Text style={{ fontSize: 18, fontWeight: 'bold', color: '#F6F2E7', letterSpacing: 3, fontFamily: 'STZhongsong' }}&gt;汉 军 阵 营&lt;/Text&gt;&#13;&#10;      &lt;Text style={{ fontSize: 13, color: 'rgba(246,242,231,0.75)', letterSpacing: 1, fontFamily: 'Microsoft YaHei', marginLeft: 'auto' }}&gt;十万&lt;/Text&gt;&#13;&#10;    &lt;/Box&gt;&#13;&#10;    &lt;Box style={{ display: 'flex', flexDirection: 'column', justifyContent: 'space-between', flex: 1, marginTop: 14 }}&gt;&#13;&#10;      &lt;Box style={{ background: '#FFFFFF', border: '0.5px solid #D9D3C4', padding: '14px 18px', display: 'flex', flexDirection: 'row', gap: 16, alignItems: 'center' }}&gt;&#13;&#10;        &lt;Box style={{ width: 104 }}&gt;&#13;&#10;          &lt;Text style={{ fontSize: 19, fontWeight: 'bold', color: '#2C2C2A', fontFamily: 'STZhongsong' }}&gt;刘邦&lt;/Text&gt;&#13;&#10;          &lt;Text style={{ fontSize: 12, color: '#BA7517', marginTop: 3, fontFamily: 'Microsoft YaHei' }}&gt;沛公 · 待定关中王&lt;/Text&gt;&#13;&#10;        &lt;/Box&gt;&#13;&#10;        &lt;Box style={{ flex: 1, borderLeft: '0.5px solid #D9D3C4', paddingLeft: 16 }}&gt;&#13;&#10;          &lt;Text style={{ fontSize: 14, color: 'rgba(44,44,42,0.78)', lineHeight: 1.7, fontFamily: 'Microsoft YaHei' }}&gt;能屈能伸、隐忍狠辣、善于用人&lt;/Text&gt;&#13;&#10;        &lt;/Box&gt;&#13;&#10;      &lt;/Box&gt;&#13;&#10;      &lt;Box style={{ background: '#FFFFFF', border: '0.5px solid #D9D3C4', padding: '14px 18px', display: 'flex', flexDirection: 'row', gap: 16, alignItems: 'center' }}&gt;&#13;&#10;        &lt;Box style={{ width: 104 }}&gt;&#13;&#10;          &lt;Text style={{ fontSize: 19, fontWeight: 'bold', color: '#2C2C2A', fontFamily: 'STZhongsong' }}&gt;张良&lt;/Text&gt;&#13;&#10;          &lt;Text style={{ fontSize: 12, color: '#BA7517', marginTop: 3, fontFamily: 'Microsoft YaHei' }}&gt;谋士 · 总操盘手&lt;/Text&gt;&#13;&#10;        &lt;/Box&gt;&#13;&#10;        &lt;Box style={{ flex: 1, borderLeft: '0.5px solid #D9D3C4', paddingLeft: 16 }}&gt;&#13;&#10;          &lt;Text style={{ fontSize: 14, color: 'rgba(44,44,42,0.78)', lineHeight: 1.7, fontFamily: 'Microsoft YaHei' }}&gt;冷静、深谋远虑，逢凶化吉全靠算计&lt;/Text&gt;&#13;&#10;        &lt;/Box&gt;&#13;&#10;      &lt;/Box&gt;&#13;&#10;      &lt;Box style={{ background: '#FFFFFF', border: '0.5px solid #D9D3C4', padding: '14px 18px', display: 'flex', flexDirection: 'row', gap: 16, alignItems: 'center' }}&gt;&#13;&#10;        &lt;Box style={{ width: 104 }}&gt;&#13;&#10;          &lt;Text style={{ fontSize: 19, fontWeight: 'bold', color: '#2C2C2A', fontFamily: 'STZhongsong' }}&gt;樊哙&lt;/Text&gt;&#13;&#10;          &lt;Text style={{ fontSize: 12, color: '#BA7517', marginTop: 3, fontFamily: 'Microsoft YaHei' }}&gt;猛将 · 冲锋队&lt;/Text&gt;&#13;&#10;        &lt;/Box&gt;&#13;&#10;        &lt;Box style={{ flex: 1, borderLeft: '0.5px solid #D9D3C4', paddingLeft: 16 }}&gt;&#13;&#10;          &lt;Text style={{ fontSize: 14, color: 'rgba(44,44,42,0.78)', lineHeight: 1.7, fontFamily: 'Microsoft YaHei' }}&gt;勇猛、直率、忠诚&lt;/Text&gt;&#13;&#10;        &lt;/Box&gt;&#13;&#10;      &lt;/Box&gt;&#13;&#10;      &lt;Box style={{ background: '#FFFFFF', border: '0.5px solid #A32D2D', padding: '14px 18px', display: 'flex', flexDirection: 'row', gap: 16, alignItems: 'center' }}&gt;&#13;&#10;        &lt;Box style={{ width: 104 }}&gt;&#13;&#10;          &lt;Text style={{ fontSize: 19, fontWeight: 'bold', color: '#A32D2D', fontFamily: 'STZhongsong' }}&gt;曹无伤&lt;/Text&gt;&#13;&#10;          &lt;Text style={{ fontSize: 12, color: '#BA7517', marginTop: 3, fontFamily: 'Microsoft YaHei' }}&gt;左司马 · 叛徒&lt;/Text&gt;&#13;&#10;        &lt;/Box&gt;&#13;&#10;        &lt;Box style={{ flex: 1, borderLeft: '0.5px solid #D9D3C4', paddingLeft: 16 }}&gt;&#13;&#10;          &lt;Text style={{ fontSize: 14, color: 'rgba(44,44,42,0.78)', lineHeight: 1.7, fontFamily: 'Microsoft YaHei' }}&gt;投机主义者，见风使舵&lt;/Text&gt;&#13;&#10;        &lt;/Box&gt;&#13;&#10;      &lt;/Box&gt;&#13;&#10;    &lt;/Box&gt;&#13;&#10;  &lt;/Box&gt;&#13;&#10;&#13;&#10;  &lt;Box style={{ position: 'absolute', left: 64, top: 566, width: 1152, height: 102, background: '#2C2C2A', padding: '16px 26px', display: 'flex', flexDirection: 'column', justifyContent: 'center' }}&gt;&#13;&#10;    &lt;Text style={{ fontSize: 14, letterSpacing: 2, color: '#BA7517', fontWeight: 'bold', fontFamily: 'Microsoft YaHei' }}&gt;跨阵营的两条暗线&lt;/Text&gt;&#13;&#10;    &lt;Box style={{ display: 'flex', flexDirection: 'row', gap: 40, marginTop: 8 }}&gt;&#13;&#10;      &lt;Text style={{ fontSize: 15, color: 'rgba(246,242,231,0.86)', lineHeight: 1.6, fontFamily: 'Microsoft YaHei' }}&gt;&#13;&#10;        张良 &lt;span style={{ color: '#BA7517', fontWeight: 'bold' }}&gt;——曾救项伯一命——&lt;/span&gt; 项伯：报恩让他深夜私闯刘营&#13;&#10;      &lt;/Text&gt;&#13;&#10;      &lt;Text style={{ fontSize: 15, color: 'rgba(246,242,231,0.86)', lineHeight: 1.6, fontFamily: 'Microsoft YaHei' }}&gt;&#13;&#10;        刘邦 &lt;span style={{ color: '#BA7517', fontWeight: 'bold' }}&gt;——「约为婚姻」——&lt;/span&gt; 项伯：乱世里的一份政治保险&#13;&#10;      &lt;/Text&gt;&#13;&#10;    &lt;/Box&gt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6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829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人物关系图：谁站在谁那边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791075" y="457200"/>
            <a:ext cx="2886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八个人</a:t>
            </a:r>
            <a:r>
              <a:rPr lang="en-US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两个阵营</a:t>
            </a:r>
            <a:r>
              <a:rPr lang="en-US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两条暗线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905750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第三章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藏在细节里的人性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1123950"/>
            <a:ext cx="5295900" cy="4000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00100" y="1219200"/>
            <a:ext cx="1057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楚</a:t>
            </a:r>
            <a:r>
              <a:rPr lang="en-US" sz="1350" b="1" spc="225">
                <a:solidFill>
                  <a:srgbClr val="F6F2E7"/>
                </a:solidFill>
                <a:latin typeface="STZhongsong"/>
                <a:ea typeface="STZhongsong"/>
              </a:rPr>
              <a:t> </a:t>
            </a: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军</a:t>
            </a:r>
            <a:r>
              <a:rPr lang="en-US" sz="1350" b="1" spc="225">
                <a:solidFill>
                  <a:srgbClr val="F6F2E7"/>
                </a:solidFill>
                <a:latin typeface="STZhongsong"/>
                <a:ea typeface="STZhongsong"/>
              </a:rPr>
              <a:t> </a:t>
            </a: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阵</a:t>
            </a:r>
            <a:r>
              <a:rPr lang="en-US" sz="1350" b="1" spc="225">
                <a:solidFill>
                  <a:srgbClr val="F6F2E7"/>
                </a:solidFill>
                <a:latin typeface="STZhongsong"/>
                <a:ea typeface="STZhongsong"/>
              </a:rPr>
              <a:t> </a:t>
            </a: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营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314950" y="1247775"/>
            <a:ext cx="400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6F2E7">
                    <a:alpha val="60000"/>
                  </a:srgbClr>
                </a:solidFill>
                <a:latin typeface="Microsoft YaHei"/>
                <a:ea typeface="Microsoft YaHei"/>
              </a:rPr>
              <a:t>四十万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1657350"/>
            <a:ext cx="52959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81050" y="1790700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C2C2A"/>
                </a:solidFill>
                <a:latin typeface="STZhongsong"/>
                <a:ea typeface="STZhongsong"/>
              </a:rPr>
              <a:t>项羽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81050" y="203835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西楚霸王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1924050" y="1847850"/>
            <a:ext cx="3819525" cy="276225"/>
          </a:xfrm>
          <a:custGeom>
            <a:pathLst>
              <a:path w="401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2085975" y="1847850"/>
            <a:ext cx="36480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最高军事统帅</a:t>
            </a:r>
            <a:r>
              <a:rPr lang="en-US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骄傲、重名节、优柔寡断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2628900"/>
            <a:ext cx="52959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81050" y="2762250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C2C2A"/>
                </a:solidFill>
                <a:latin typeface="STZhongsong"/>
                <a:ea typeface="STZhongsong"/>
              </a:rPr>
              <a:t>范增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81050" y="300990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亚父</a:t>
            </a:r>
            <a:r>
              <a:rPr lang="en-US" sz="90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首席谋士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1924050" y="2819400"/>
            <a:ext cx="3819525" cy="276225"/>
          </a:xfrm>
          <a:custGeom>
            <a:pathLst>
              <a:path w="401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085975" y="2819400"/>
            <a:ext cx="36480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老谋深算、急躁，对项羽又恨又爱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3590925"/>
            <a:ext cx="52959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A32D2D"/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81050" y="3724275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A32D2D"/>
                </a:solidFill>
                <a:latin typeface="STZhongsong"/>
                <a:ea typeface="STZhongsong"/>
              </a:rPr>
              <a:t>项伯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81050" y="39719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项羽叔父</a:t>
            </a:r>
            <a:r>
              <a:rPr lang="en-US" sz="90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双面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1924050" y="3781425"/>
            <a:ext cx="3819525" cy="276225"/>
          </a:xfrm>
          <a:custGeom>
            <a:pathLst>
              <a:path w="401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2085975" y="3781425"/>
            <a:ext cx="36480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缺政治远见、重私恩、自认「主持公道」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4562475"/>
            <a:ext cx="52959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81050" y="4695825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C2C2A"/>
                </a:solidFill>
                <a:latin typeface="STZhongsong"/>
                <a:ea typeface="STZhongsong"/>
              </a:rPr>
              <a:t>项庄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81050" y="49434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武将</a:t>
            </a:r>
            <a:r>
              <a:rPr lang="en-US" sz="90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刺客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1924050" y="4752975"/>
            <a:ext cx="3819525" cy="276225"/>
          </a:xfrm>
          <a:custGeom>
            <a:pathLst>
              <a:path w="401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2085975" y="4752975"/>
            <a:ext cx="36480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执行者，听令行事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210300" y="1123950"/>
            <a:ext cx="5372100" cy="4000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400800" y="1219200"/>
            <a:ext cx="1057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汉</a:t>
            </a:r>
            <a:r>
              <a:rPr lang="en-US" sz="1350" b="1" spc="225">
                <a:solidFill>
                  <a:srgbClr val="F6F2E7"/>
                </a:solidFill>
                <a:latin typeface="STZhongsong"/>
                <a:ea typeface="STZhongsong"/>
              </a:rPr>
              <a:t> </a:t>
            </a: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军</a:t>
            </a:r>
            <a:r>
              <a:rPr lang="en-US" sz="1350" b="1" spc="225">
                <a:solidFill>
                  <a:srgbClr val="F6F2E7"/>
                </a:solidFill>
                <a:latin typeface="STZhongsong"/>
                <a:ea typeface="STZhongsong"/>
              </a:rPr>
              <a:t> </a:t>
            </a: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阵</a:t>
            </a:r>
            <a:r>
              <a:rPr lang="en-US" sz="1350" b="1" spc="225">
                <a:solidFill>
                  <a:srgbClr val="F6F2E7"/>
                </a:solidFill>
                <a:latin typeface="STZhongsong"/>
                <a:ea typeface="STZhongsong"/>
              </a:rPr>
              <a:t> </a:t>
            </a:r>
            <a:r>
              <a:rPr lang="zh-CN" sz="1350" b="1" spc="225">
                <a:solidFill>
                  <a:srgbClr val="F6F2E7"/>
                </a:solidFill>
                <a:latin typeface="STZhongsong"/>
                <a:ea typeface="STZhongsong"/>
              </a:rPr>
              <a:t>营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125200" y="124777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6F2E7">
                    <a:alpha val="75000"/>
                  </a:srgbClr>
                </a:solidFill>
                <a:latin typeface="Microsoft YaHei"/>
                <a:ea typeface="Microsoft YaHei"/>
              </a:rPr>
              <a:t>十万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210300" y="1657350"/>
            <a:ext cx="53721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381750" y="1790700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C2C2A"/>
                </a:solidFill>
                <a:latin typeface="STZhongsong"/>
                <a:ea typeface="STZhongsong"/>
              </a:rPr>
              <a:t>刘邦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381750" y="203835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沛公</a:t>
            </a:r>
            <a:r>
              <a:rPr lang="en-US" sz="90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待定关中王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524750" y="1847850"/>
            <a:ext cx="3895725" cy="276225"/>
          </a:xfrm>
          <a:custGeom>
            <a:pathLst>
              <a:path w="409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686675" y="1847850"/>
            <a:ext cx="37242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能屈能伸、隐忍狠辣、善于用人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210300" y="2628900"/>
            <a:ext cx="53721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381750" y="2762250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C2C2A"/>
                </a:solidFill>
                <a:latin typeface="STZhongsong"/>
                <a:ea typeface="STZhongsong"/>
              </a:rPr>
              <a:t>张良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381750" y="300990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谋士</a:t>
            </a:r>
            <a:r>
              <a:rPr lang="en-US" sz="90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总操盘手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7524750" y="2819400"/>
            <a:ext cx="3895725" cy="276225"/>
          </a:xfrm>
          <a:custGeom>
            <a:pathLst>
              <a:path w="409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686675" y="2819400"/>
            <a:ext cx="37242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冷静、深谋远虑，逢凶化吉全靠算计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210300" y="3590925"/>
            <a:ext cx="53721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381750" y="3724275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C2C2A"/>
                </a:solidFill>
                <a:latin typeface="STZhongsong"/>
                <a:ea typeface="STZhongsong"/>
              </a:rPr>
              <a:t>樊哙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381750" y="39719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猛将</a:t>
            </a:r>
            <a:r>
              <a:rPr lang="en-US" sz="90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冲锋队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7524750" y="3781425"/>
            <a:ext cx="3895725" cy="276225"/>
          </a:xfrm>
          <a:custGeom>
            <a:pathLst>
              <a:path w="409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686675" y="3781425"/>
            <a:ext cx="37242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勇猛、直率、忠诚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210300" y="4562475"/>
            <a:ext cx="537210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A32D2D"/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381750" y="4695825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A32D2D"/>
                </a:solidFill>
                <a:latin typeface="STZhongsong"/>
                <a:ea typeface="STZhongsong"/>
              </a:rPr>
              <a:t>曹无伤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381750" y="49434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左司马</a:t>
            </a:r>
            <a:r>
              <a:rPr lang="en-US" sz="90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A7517"/>
                </a:solidFill>
                <a:latin typeface="Microsoft YaHei"/>
                <a:ea typeface="Microsoft YaHei"/>
              </a:rPr>
              <a:t>叛徒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524750" y="4752975"/>
            <a:ext cx="3895725" cy="276225"/>
          </a:xfrm>
          <a:custGeom>
            <a:pathLst>
              <a:path w="409" h="29">
                <a:moveTo>
                  <a:pt x="0" y="0"/>
                </a:moveTo>
                <a:lnTo>
                  <a:pt x="1" y="0"/>
                </a:lnTo>
                <a:lnTo>
                  <a:pt x="1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686675" y="4752975"/>
            <a:ext cx="37242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投机主义者，见风使舵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5391150"/>
            <a:ext cx="10972800" cy="9715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57250" y="5619750"/>
            <a:ext cx="1047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A7517"/>
                </a:solidFill>
                <a:latin typeface="Microsoft YaHei"/>
                <a:ea typeface="Microsoft YaHei"/>
              </a:rPr>
              <a:t>跨阵营的两条暗线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57250" y="5857875"/>
            <a:ext cx="3705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张良</a:t>
            </a:r>
            <a:r>
              <a:rPr lang="en-US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BA7517"/>
                </a:solidFill>
                <a:latin typeface="Microsoft YaHei"/>
                <a:ea typeface="Microsoft YaHei"/>
              </a:rPr>
              <a:t>——曾救项伯一命——</a:t>
            </a:r>
            <a:r>
              <a:rPr lang="en-US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项伯：报恩让他深夜私闯刘营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943475" y="5857875"/>
            <a:ext cx="3705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刘邦</a:t>
            </a:r>
            <a:r>
              <a:rPr lang="en-US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BA7517"/>
                </a:solidFill>
                <a:latin typeface="Microsoft YaHei"/>
                <a:ea typeface="Microsoft YaHei"/>
              </a:rPr>
              <a:t>——「约为婚姻」——</a:t>
            </a:r>
            <a:r>
              <a:rPr lang="en-US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F6F2E7">
                    <a:alpha val="86000"/>
                  </a:srgbClr>
                </a:solidFill>
                <a:latin typeface="Microsoft YaHei"/>
                <a:ea typeface="Microsoft YaHei"/>
              </a:rPr>
              <a:t>项伯：乱世里的一份政治保险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16 / 32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41" name="" descr="&lt;Slide notes={`好，来看项羽。&#13;&#10;&#13;&#10;人们常说项羽在鸿门宴上优柔寡断、政治幼稚——但我认为可以再往下挖一层。他未必是不想杀刘邦，而是从骨子里「杀不了」。&#13;&#10;&#13;&#10;项羽是春秋贵族精神的最后一代传人，一生信奉「堂堂正正地打」，不在背后捅刀子。在已经来赔罪的客人背后动手，在他看来就是「弑客」，比打仗输了还丢人。&#13;&#10;&#13;&#10;但除此之外，还有一种更深层的心理——轻蔑。不是犹豫，不是不忍，而是根本没把刘邦放在眼里。你们想，项羽什么来头？巨鹿之战破釜沉舟、九战九捷、消灭秦军主力、自封西楚霸王、分封十八路诸侯——他是当时天下最有权势的人。在他眼里刘邦算什么？一个靠走捷径进关中的「运气货」。&#13;&#10;&#13;&#10;让他来赴宴已经是给面子了。项羽至死都看不起刘邦，垓下被围时还喊话：「汉人把我抓了？你们为什么不一起投降？」&#13;&#10;&#13;&#10;这种轻蔑比犹豫更致命。因为它不是弱点，而是一种认知偏差——他真心觉得刘邦不构成威胁。而恰恰是这种「不把你放在眼里」，放了刘邦一条生路，也放了整个未来王朝一条生路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项羽：为什么「杀不了」&lt;/Text&gt;&#13;&#10;    &lt;Text style={{ fontSize: 20, color: 'rgba(44,44,42,0.55)', letterSpacing: 1, fontFamily: 'STZhongsong', marginLeft: 4 }}&gt;两种心理：贵族的高贵 · 霸主的轻蔑&lt;/Text&gt;&#13;&#10;    &lt;Text style={{ fontSize: 14, color: 'rgba(44,44,42,0.45)', letterSpacing: 2, fontFamily: 'Microsoft YaHei', marginLeft: 10 }}&gt;第三章 · 藏在细节里的人性&lt;/Text&gt;&#13;&#10;  &lt;/Box&gt;&#13;&#10;&#13;&#10;  &lt;Box style={{ position: 'absolute', left: 64, top: 118, width: 556, height: 540, display: 'flex', flexDirection: 'column', justifyContent: 'space-between' }}&gt;&#13;&#10;    &lt;Box&gt;&#13;&#10;      &lt;Text style={{ fontSize: 24, fontWeight: 'bold', color: '#BA7517', letterSpacing: 1, fontFamily: 'STZhongsong' }}&gt;不是不想杀，而是「杀不了」&lt;/Text&gt;&#13;&#10;      &lt;Box style={{ width: 52, height: 3, background: '#2C2C2A', marginTop: 16 }} /&gt;&#13;&#10;    &lt;/Box&gt;&#13;&#10;&#13;&#10;    &lt;Text style={{ fontSize: 16, color: 'rgba(44,44,42,0.8)', lineHeight: 1.9, fontFamily: 'Microsoft YaHei' }}&gt;&#13;&#10;      人们常把项羽的犹豫归结为「政治幼稚」，其实可以再往下挖一层：他未必是不想杀刘邦，而是从骨子里&lt;span style={{ fontWeight: 'bold' }}&gt;「杀不了」&lt;/span&gt;。&#13;&#10;    &lt;/Text&gt;&#13;&#10;&#13;&#10;    &lt;Text style={{ fontSize: 16, color: 'rgba(44,44,42,0.8)', lineHeight: 1.9, fontFamily: 'Microsoft YaHei' }}&gt;&#13;&#10;      项羽是春秋贵族精神的最后一代传人，一生信奉「堂堂正正地打」，而不是「阴谋诡计地赢」。在已经跪地称臣、亲自登门谢罪的客人背后痛下杀手，在他看来等同于「弑客」，比战场失利更让他抬不起头。&#13;&#10;    &lt;/Text&gt;&#13;&#10;&#13;&#10;    &lt;Box style={{ background: 'rgba(44,44,42,0.06)', borderLeft: '3px solid #A32D2D', padding: '18px 22px', display: 'flex', flexDirection: 'row', gap: 12, alignItems: 'flex-start' }}&gt;&#13;&#10;      &lt;Box style={{ width: 12, height: 12, background: '#A32D2D', marginTop: 7 }} /&gt;&#13;&#10;      &lt;Text style={{ fontSize: 17, fontWeight: 'bold', color: '#2C2C2A', lineHeight: 1.7, fontFamily: 'Microsoft YaHei' }}&gt;&#13;&#10;        这不是愚蠢，而是一种已经不合时宜的高贵——那把始终没有落下的剑，才格外令人唏嘘。&#13;&#10;      &lt;/Text&gt;&#13;&#10;    &lt;/Box&gt;&#13;&#10;  &lt;/Box&gt;&#13;&#10;&#13;&#10;  &lt;Box style={{ position: 'absolute', left: 656, top: 118, width: 560, height: 540, display: 'flex', flexDirection: 'column' }}&gt;&#13;&#10;    &lt;Box style={{ width: 560, height: 214, overflow: 'hidden' }}&gt;&#13;&#10;      &lt;Image src=&quot;assets/scene_xiangyu.png&quot; style={{ width: '100%', height: '100%', objectFit: 'cover' }} /&gt;&#13;&#10;      &lt;Box style={{ position: 'absolute', left: 0, bottom: 0, width: 560, height: 90, background: 'linear-gradient(180deg, rgba(44,44,42,0) 0%, rgba(44,44,42,0.76) 100%)' }} /&gt;&#13;&#10;      &lt;Text style={{ position: 'absolute', left: 24, bottom: 22, fontSize: 15, color: '#F6F2E7', letterSpacing: 2, fontFamily: 'Microsoft YaHei' }}&gt;按剑端坐，眉头微蹙&lt;/Text&gt;&#13;&#10;    &lt;/Box&gt;&#13;&#10;&#13;&#10;    &lt;Box style={{ marginTop: 20, background: '#FFFFFF', border: '0.5px solid #D9D3C4', boxShadow: '0 4px 20px rgba(44,44,42,0.08)', padding: '20px 24px', display: 'flex', flexDirection: 'column' }}&gt;&#13;&#10;      &lt;Text style={{ fontSize: 20, fontWeight: 'bold', color: '#2C2C2A', letterSpacing: 1, fontFamily: 'STZhongsong' }}&gt;更深一层：轻蔑&lt;/Text&gt;&#13;&#10;      &lt;Text style={{ fontSize: 15, color: 'rgba(44,44,42,0.78)', lineHeight: 1.8, marginTop: 10, fontFamily: 'Microsoft YaHei' }}&gt;&#13;&#10;        不是犹豫，不是不忍，而是根本没把刘邦放在眼里。那时项羽是天下最有权势的人，在他眼里，刘邦不过是个靠走捷径进关中的「运气货」。&#13;&#10;      &lt;/Text&gt;&#13;&#10;      &lt;Box style={{ marginTop: 10, borderLeft: '3px solid #BA7517', background: 'rgba(44,44,42,0.05)', padding: '10px 14px' }}&gt;&#13;&#10;        &lt;Text style={{ fontSize: 13, color: '#2C2C2A', lineHeight: 1.7, fontFamily: 'Microsoft YaHei' }}&gt;&#13;&#10;          「汉为吾虏哉？何不俱降？」——垓下被围时，项羽仍这样对汉军喊话。&#13;&#10;        &lt;/Text&gt;&#13;&#10;      &lt;/Box&gt;&#13;&#10;      &lt;Text style={{ fontSize: 15, fontWeight: 'bold', color: '#2C2C2A', lineHeight: 1.75, marginTop: 10, fontFamily: 'Microsoft YaHei' }}&gt;&#13;&#10;        这种轻蔑比犹豫更致命——它让项羽真心觉得刘邦不构成威胁，也放走了整个未来王朝的命数。&#13;&#10;      &lt;/Text&gt;&#13;&#10;    &lt;/Box&gt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7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514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项羽：为什么「杀不了」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476750" y="457200"/>
            <a:ext cx="3343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两种心理：贵族的高贵</a:t>
            </a:r>
            <a:r>
              <a:rPr lang="en-US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霸主的轻蔑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048625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第三章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藏在细节里的人性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5295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75">
                <a:solidFill>
                  <a:srgbClr val="BA7517"/>
                </a:solidFill>
                <a:latin typeface="STZhongsong"/>
                <a:ea typeface="STZhongsong"/>
              </a:rPr>
              <a:t>不是不想杀，而是「杀不了」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1552575"/>
            <a:ext cx="495300" cy="28575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2959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人们常把项羽的犹豫归结为「政治幼稚」，其实可以再往下挖一层：他未必是不想杀刘邦，而是从骨子里</a:t>
            </a:r>
            <a:r>
              <a:rPr lang="zh-CN" sz="1200" b="1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「杀不了」</a:t>
            </a: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3562350"/>
            <a:ext cx="52959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项羽是春秋贵族精神的最后一代传人，一生信奉「堂堂正正地打」，而不是「阴谋诡计地赢」。在已经跪地称臣、亲自登门谢罪的客人背后痛下杀手，在他看来等同于「弑客」，比战场失利更让他抬不起头。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38175" y="5257800"/>
            <a:ext cx="5295900" cy="1009650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09600" y="5257800"/>
            <a:ext cx="5324475" cy="1009650"/>
          </a:xfrm>
          <a:custGeom>
            <a:pathLst>
              <a:path w="559" h="106">
                <a:moveTo>
                  <a:pt x="0" y="0"/>
                </a:moveTo>
                <a:lnTo>
                  <a:pt x="3" y="0"/>
                </a:lnTo>
                <a:lnTo>
                  <a:pt x="3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847725" y="549592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066800" y="5429250"/>
            <a:ext cx="46291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这不是愚蠢，而是一种已经不合时宜的高贵——那把始终没有落下的剑，才格外令人唏嘘。</a:t>
            </a:r>
            <a:endParaRPr/>
          </a:p>
        </p:txBody>
      </p:sp>
      <p:pic>
        <p:nvPicPr>
          <p:cNvPr id="257" name=""/>
          <p:cNvPicPr>
            <a:picLocks noChangeAspect="1"/>
          </p:cNvPicPr>
          <p:nvPr/>
        </p:nvPicPr>
        <p:blipFill>
          <a:blip r:embed="rId1"/>
          <a:srcRect l="0" t="28916" r="0" b="28916"/>
          <a:stretch>
            <a:fillRect/>
          </a:stretch>
        </p:blipFill>
        <p:spPr>
          <a:xfrm rot="0" flipH="0" flipV="0">
            <a:off x="6248400" y="1123950"/>
            <a:ext cx="5334000" cy="2038350"/>
          </a:xfrm>
          <a:prstGeom prst="rect">
            <a:avLst/>
          </a:prstGeom>
          <a:ln/>
        </p:spPr>
      </p:pic>
      <p:sp>
        <p:nvSpPr>
          <p:cNvPr id="258" name=""/>
          <p:cNvSpPr/>
          <p:nvPr/>
        </p:nvSpPr>
        <p:spPr>
          <a:xfrm rot="0" flipH="0" flipV="0">
            <a:off x="6248400" y="3352800"/>
            <a:ext cx="5334000" cy="2562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477000" y="35433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更深一层：轻蔑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477000" y="3867150"/>
            <a:ext cx="4876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不是犹豫，不是不忍，而是根本没把刘邦放在眼里。那时项羽是天下最有权势的人，在他眼里，刘邦不过是个靠走捷径进关中的「运气货」。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505575" y="4581525"/>
            <a:ext cx="4876800" cy="447675"/>
          </a:xfrm>
          <a:prstGeom prst="rect">
            <a:avLst/>
          </a:prstGeom>
          <a:solidFill>
            <a:srgbClr val="2C2C2A">
              <a:alpha val="5000"/>
            </a:srgbClr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477000" y="4581525"/>
            <a:ext cx="4905375" cy="447675"/>
          </a:xfrm>
          <a:custGeom>
            <a:pathLst>
              <a:path w="515" h="47">
                <a:moveTo>
                  <a:pt x="0" y="0"/>
                </a:moveTo>
                <a:lnTo>
                  <a:pt x="3" y="0"/>
                </a:lnTo>
                <a:lnTo>
                  <a:pt x="3" y="47"/>
                </a:lnTo>
                <a:lnTo>
                  <a:pt x="0" y="47"/>
                </a:ln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638925" y="4676775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2C2C2A"/>
                </a:solidFill>
                <a:latin typeface="Microsoft YaHei"/>
                <a:ea typeface="Microsoft YaHei"/>
              </a:rPr>
              <a:t>「汉为吾虏哉？何不俱降？」——垓下被围时，项羽仍这样对汉军喊话。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477000" y="5124450"/>
            <a:ext cx="48768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 b="1">
                <a:solidFill>
                  <a:srgbClr val="2C2C2A"/>
                </a:solidFill>
                <a:latin typeface="Microsoft YaHei"/>
                <a:ea typeface="Microsoft YaHei"/>
              </a:rPr>
              <a:t>这种轻蔑比犹豫更致命——它让项羽真心觉得刘邦不构成威胁，也放走了整个未来王朝的命数。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248400" y="2305050"/>
            <a:ext cx="5334000" cy="857250"/>
          </a:xfrm>
          <a:prstGeom prst="rect">
            <a:avLst/>
          </a:prstGeom>
          <a:gradFill>
            <a:gsLst>
              <a:gs pos="0">
                <a:srgbClr val="2C2C2A">
                  <a:alpha val="0"/>
                </a:srgbClr>
              </a:gs>
              <a:gs pos="100000">
                <a:srgbClr val="2C2C2A">
                  <a:alpha val="76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477000" y="278130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6F2E7"/>
                </a:solidFill>
                <a:latin typeface="Microsoft YaHei"/>
                <a:ea typeface="Microsoft YaHei"/>
              </a:rPr>
              <a:t>按剑端坐，眉头微蹙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17 / 32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70" name="" descr="&lt;Slide notes={`好，来看刘邦。很多人觉得他就是个「流氓皇帝」，但其实他是全场最清醒的人。&#13;&#10;&#13;&#10;你们看，鸿门宴前刘邦做了什么？他不是冲上去就干的，他做了两手准备：一套是说辞——把「抢先入关」包装成「没想到您来得这么快」；另一套是关系网——通过项伯打通项羽这边。这说明他不是临时抱佛脚，他是带着完整剧本来的。&#13;&#10;&#13;&#10;宴席上刘邦怎么说自己？「臣与将军戮力而攻秦，将军战河北，臣战河南」——我是给您打辅助的。「然不自意能先入关破秦」——不是我厉害，是运气好。「今者有小人之言，令将军与臣有郤」——都是小人挑拨。这一套话说下来，项羽的杀心卸了大半。&#13;&#10;&#13;&#10;但刘邦真正可怕的不是会说话，是他跑完之后做的事。他借口上厕所，带四个人抄小路狂奔四十里回去——这不是怂，是理性：面子不重要，命才重要。然后他第一件事是什么？立诛杀曹无伤。能低头时低头，能翻脸时绝不手软。&#13;&#10;&#13;&#10;还有一个细节他装傻。项羽当众说「此沛公左司马曹无伤言之」，把曹无伤卖了。刘邦什么反应？史书没写，但我们可以推断——他一定装作非常震惊的样子，绝不会当场揭穿。他不能打项羽的脸，也不能让在场的人知道内部有叛徒。这种隐忍，比任何勇猛都可怕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刘邦：能屈能伸的背后&lt;/Text&gt;&#13;&#10;    &lt;Text style={{ fontSize: 20, color: 'rgba(44,44,42,0.55)', letterSpacing: 1, fontFamily: 'STZhongsong', marginLeft: 4 }}&gt;极致的清醒与狠辣&lt;/Text&gt;&#13;&#10;    &lt;Text style={{ fontSize: 14, color: 'rgba(44,44,42,0.45)', letterSpacing: 2, fontFamily: 'Microsoft YaHei', marginLeft: 10 }}&gt;第三章 · 藏在细节里的人性&lt;/Text&gt;&#13;&#10;  &lt;/Box&gt;&#13;&#10;&#13;&#10;  &lt;Box style={{ position: 'absolute', left: 64, top: 118, width: 556, height: 540, display: 'flex', flexDirection: 'column', justifyContent: 'space-between' }}&gt;&#13;&#10;&#13;&#10;    &lt;Box style={{ background: '#FFFFFF', border: '0.5px solid #D9D3C4', boxShadow: '0 4px 20px rgba(44,44,42,0.08)', padding: '20px 24px' }}&gt;&#13;&#10;      &lt;Text style={{ fontSize: 20, fontWeight: 'bold', color: '#2C2C2A', letterSpacing: 1, fontFamily: 'STZhongsong' }}&gt;赴宴之前：两套预案&lt;/Text&gt;&#13;&#10;      &lt;Text style={{ fontSize: 15, color: 'rgba(44,44,42,0.8)', lineHeight: 1.8, marginTop: 10, fontFamily: 'Microsoft YaHei' }}&gt;&#13;&#10;        刘邦不是临时抱佛脚，他做了两手准备——&lt;span style={{ fontWeight: 'bold', color: '#2C2C2A' }}&gt;① 说辞&lt;/span&gt;：采纳张良之策，把「抢先入关」包装成「没想到您来得这么快」，把野心粉饰成忠心；&lt;span style={{ fontWeight: 'bold', color: '#2C2C2A' }}&gt;② 关系网&lt;/span&gt;：通过项伯打通项羽这边，提前铺好退路。&#13;&#10;      &lt;/Text&gt;&#13;&#10;    &lt;/Box&gt;&#13;&#10;&#13;&#10;    &lt;Box style={{ background: '#FFFFFF', border: '0.5px solid #D9D3C4', boxShadow: '0 4px 20px rgba(44,44,42,0.08)', padding: '20px 24px', display: 'flex', flexDirection: 'column', gap: 12 }}&gt;&#13;&#10;      &lt;Text style={{ fontSize: 20, fontWeight: 'bold', color: '#2C2C2A', letterSpacing: 1, fontFamily: 'STZhongsong' }}&gt;席间话术：三句话卸掉杀心&lt;/Text&gt;&#13;&#10;      &lt;Box style={{ display: 'flex', flexDirection: 'row', gap: 14 }}&gt;&#13;&#10;        &lt;Box style={{ width: 3, background: '#BA7517' }} /&gt;&#13;&#10;        &lt;Box&gt;&#13;&#10;          &lt;Text style={{ fontSize: 15, fontWeight: 'bold', color: '#2C2C2A', lineHeight: 1.6, fontFamily: 'STZhongsong' }}&gt;「臣与将军戮力而攻秦，将军战河北，臣战河南」&lt;/Text&gt;&#13;&#10;          &lt;Text style={{ fontSize: 13, color: 'rgba(44,44,42,0.62)', marginTop: 3, fontFamily: 'Microsoft YaHei' }}&gt;潜台词：我把您当大哥，打的是您吩咐的仗&lt;/Text&gt;&#13;&#10;        &lt;/Box&gt;&#13;&#10;      &lt;/Box&gt;&#13;&#10;      &lt;Box style={{ display: 'flex', flexDirection: 'row', gap: 14 }}&gt;&#13;&#10;        &lt;Box style={{ width: 3, background: '#BA7517' }} /&gt;&#13;&#10;        &lt;Box&gt;&#13;&#10;          &lt;Text style={{ fontSize: 15, fontWeight: 'bold', color: '#2C2C2A', lineHeight: 1.6, fontFamily: 'STZhongsong' }}&gt;「然不自意能先入关破秦」&lt;/Text&gt;&#13;&#10;          &lt;Text style={{ fontSize: 13, color: 'rgba(44,44,42,0.62)', marginTop: 3, fontFamily: 'Microsoft YaHei' }}&gt;潜台词：不是我本事大，是运气好&lt;/Text&gt;&#13;&#10;        &lt;/Box&gt;&#13;&#10;      &lt;/Box&gt;&#13;&#10;      &lt;Box style={{ display: 'flex', flexDirection: 'row', gap: 14 }}&gt;&#13;&#10;        &lt;Box style={{ width: 3, background: '#A32D2D' }} /&gt;&#13;&#10;        &lt;Box&gt;&#13;&#10;          &lt;Text style={{ fontSize: 15, fontWeight: 'bold', color: '#2C2C2A', lineHeight: 1.6, fontFamily: 'STZhongsong' }}&gt;「今者有小人之言，令将军与臣有郤」&lt;/Text&gt;&#13;&#10;          &lt;Text style={{ fontSize: 13, color: 'rgba(44,44,42,0.62)', marginTop: 3, fontFamily: 'Microsoft YaHei' }}&gt;潜台词：都是小人挑拨，我绝无二心&lt;/Text&gt;&#13;&#10;        &lt;/Box&gt;&#13;&#10;      &lt;/Box&gt;&#13;&#10;    &lt;/Box&gt;&#13;&#10;&#13;&#10;  &lt;/Box&gt;&#13;&#10;&#13;&#10;  &lt;Box style={{ position: 'absolute', left: 652, top: 118, width: 564, height: 540, display: 'flex', flexDirection: 'column', justifyContent: 'space-between' }}&gt;&#13;&#10;&#13;&#10;    &lt;Box style={{ background: 'rgba(44,44,42,0.06)', borderLeft: '3px solid #BA7517', padding: '20px 24px' }}&gt;&#13;&#10;      &lt;Text style={{ fontSize: 20, fontWeight: 'bold', color: '#2C2C2A', letterSpacing: 1, fontFamily: 'STZhongsong' }}&gt;真正的特质：极致的清醒&lt;/Text&gt;&#13;&#10;      &lt;Text style={{ fontSize: 15, color: 'rgba(44,44,42,0.8)', lineHeight: 1.8, marginTop: 10, fontFamily: 'Microsoft YaHei' }}&gt;&#13;&#10;        人们常把刘邦归结为「善于用人」，但这只是表面。他清楚自己每一步该做什么、不该做什么，清楚什么时候该低头、什么时候该翻脸。&#13;&#10;      &lt;/Text&gt;&#13;&#10;    &lt;/Box&gt;&#13;&#10;&#13;&#10;    &lt;Box style={{ background: '#FFFFFF', border: '0.5px solid #D9D3C4', boxShadow: '0 4px 20px rgba(44,44,42,0.08)', padding: '20px 24px' }}&gt;&#13;&#10;      &lt;Text style={{ fontSize: 20, fontWeight: 'bold', color: '#2C2C2A', letterSpacing: 1, fontFamily: 'STZhongsong' }}&gt;逃跑之后：低头与翻脸&lt;/Text&gt;&#13;&#10;      &lt;Text style={{ fontSize: 15, color: 'rgba(44,44,42,0.8)', lineHeight: 1.8, marginTop: 10, fontFamily: 'Microsoft YaHei' }}&gt;&#13;&#10;        借口如厕，只带四人抄小路狂奔四十里回营——这不是怯懦，是极致的理性：面子不重要，命才重要。&#13;&#10;      &lt;/Text&gt;&#13;&#10;      &lt;Text style={{ fontSize: 15, color: 'rgba(44,44,42,0.8)', lineHeight: 1.8, marginTop: 10, fontFamily: 'Microsoft YaHei' }}&gt;&#13;&#10;        回营第一件事就是「立诛杀曹无伤」。能低头时低头，能翻脸时绝不手软——这才是他最可怕的地方。&#13;&#10;      &lt;/Text&gt;&#13;&#10;      &lt;Text style={{ fontSize: 15, color: 'rgba(44,44,42,0.8)', lineHeight: 1.8, marginTop: 10, fontFamily: 'Microsoft YaHei' }}&gt;&#13;&#10;        还有一层：项羽当众把「此沛公左司马曹无伤言之」说了出来，刘邦只能装作震惊愤怒——打项羽的脸，就等于告诉所有人「你们中间有叛徒」。这种隐忍，比任何勇猛都可怕。&#13;&#10;      &lt;/Text&gt;&#13;&#10;    &lt;/Box&gt;&#13;&#10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8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190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刘邦：能屈能伸的背后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152900" y="457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极致的清醒与狠辣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981700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第三章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藏在细节里的人性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1123950"/>
            <a:ext cx="5295900" cy="16383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1314450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赴宴之前：两套预案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1638300"/>
            <a:ext cx="48387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刘邦不是临时抱佛脚，他做了两手准备——</a:t>
            </a:r>
            <a:r>
              <a:rPr lang="en-US" sz="1125" b="1">
                <a:solidFill>
                  <a:srgbClr val="2C2C2A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2C2C2A"/>
                </a:solidFill>
                <a:latin typeface="Microsoft YaHei"/>
                <a:ea typeface="Microsoft YaHei"/>
              </a:rPr>
              <a:t>说辞</a:t>
            </a: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：采纳张良之策，把「抢先入关」包装成「没想到您来得这么快」，把野心粉饰成忠心；</a:t>
            </a:r>
            <a:r>
              <a:rPr lang="en-US" sz="1125" b="1">
                <a:solidFill>
                  <a:srgbClr val="2C2C2A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2C2C2A"/>
                </a:solidFill>
                <a:latin typeface="Microsoft YaHei"/>
                <a:ea typeface="Microsoft YaHei"/>
              </a:rPr>
              <a:t>关系网</a:t>
            </a: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：通过项伯打通项羽这边，提前铺好退路。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3943350"/>
            <a:ext cx="5295900" cy="2324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4133850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席间话术：三句话卸掉杀心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38200" y="4476750"/>
            <a:ext cx="28575" cy="4572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000125" y="447675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2C2C2A"/>
                </a:solidFill>
                <a:latin typeface="STZhongsong"/>
                <a:ea typeface="STZhongsong"/>
              </a:rPr>
              <a:t>「臣与将军戮力而攻秦，将军战河北，臣战河南」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00125" y="4781550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潜台词：我把您当大哥，打的是您吩咐的仗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38200" y="5048250"/>
            <a:ext cx="28575" cy="4572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000125" y="5048250"/>
            <a:ext cx="1857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2C2C2A"/>
                </a:solidFill>
                <a:latin typeface="STZhongsong"/>
                <a:ea typeface="STZhongsong"/>
              </a:rPr>
              <a:t>「然不自意能先入关破秦」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00125" y="535305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潜台词：不是我本事大，是运气好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838200" y="5619750"/>
            <a:ext cx="28575" cy="4572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00125" y="5619750"/>
            <a:ext cx="24288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2C2C2A"/>
                </a:solidFill>
                <a:latin typeface="STZhongsong"/>
                <a:ea typeface="STZhongsong"/>
              </a:rPr>
              <a:t>「今者有小人之言，令将军与臣有郤」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000125" y="5924550"/>
            <a:ext cx="2428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潜台词：都是小人挑拨，我绝无二心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238875" y="1123950"/>
            <a:ext cx="5372100" cy="132397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210300" y="1123950"/>
            <a:ext cx="5400675" cy="1323975"/>
          </a:xfrm>
          <a:custGeom>
            <a:pathLst>
              <a:path w="567" h="139">
                <a:moveTo>
                  <a:pt x="0" y="0"/>
                </a:moveTo>
                <a:lnTo>
                  <a:pt x="3" y="0"/>
                </a:lnTo>
                <a:lnTo>
                  <a:pt x="3" y="139"/>
                </a:lnTo>
                <a:lnTo>
                  <a:pt x="0" y="139"/>
                </a:ln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467475" y="1314450"/>
            <a:ext cx="4886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真正的特质：极致的清醒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467475" y="1638300"/>
            <a:ext cx="48863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人们常把刘邦归结为「善于用人」，但这只是表面。他清楚自己每一步该做什么、不该做什么，清楚什么时候该低头、什么时候该翻脸。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210300" y="3200400"/>
            <a:ext cx="5372100" cy="30670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438900" y="339090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逃跑之后：低头与翻脸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438900" y="3714750"/>
            <a:ext cx="4914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借口如厕，只带四人抄小路狂奔四十里回营——这不是怯懦，是极致的理性：面子不重要，命才重要。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438900" y="4429125"/>
            <a:ext cx="4914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回营第一件事就是「立诛杀曹无伤」。能低头时低头，能翻脸时绝不手软——这才是他最可怕的地方。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438900" y="5143500"/>
            <a:ext cx="4914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还有一层：项羽当众把「此沛公左司马曹无伤言之」说了出来，刘邦只能装作震惊愤怒——打项羽的脸，就等于告诉所有人「你们中间有叛徒」。这种隐忍，比任何勇猛都可怕。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18 / 32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04" name="" descr="&lt;Slide notes={`好，来看范增。这个人很有意思——他是全场最清醒的人，也是最无力的人。为什么？因为他看得太清楚了，却唯独看不透项羽。&#13;&#10;&#13;&#10;范增是谁？项羽的首席谋士，被尊为亚父，就是仅次于父亲的意思。他为什么这么急着想杀刘邦？因为他一眼就看穿了——刘邦以前贪财好色，现在进了关中什么都不拿、女人也不碰，这个人志向不小。&#13;&#10;&#13;&#10;注意这句话的分量。一个七十岁的老人，一辈子在乱世中摸爬滚打，他不是在猜，他是在预言。他说「急击勿失」的时候，机会还在项羽手里。但项羽呢？默然不应。&#13;&#10;&#13;&#10;范增的悲剧在于：他是一个完美的战略家，却遇上了一个不适合做霸主的人。他所有的计谋都是对的，问题不在计谋本身，而在于执行计谋的那个人是项羽。&#13;&#10;&#13;&#10;后来项羽分封诸侯，范增没再劝了。不是不想劝，是知道说了也没用。他最后跟项羽说：「天下事大定矣，君王自为之」——天下事已经定了，您自己做吧。这不是放手，这是彻底绝望。&#13;&#10;&#13;&#10;然后他请求告老还乡，项羽答应了。他在回家的路上发病死了。七十岁的老人，一辈子给别人出主意，最后死在回家的路上——这个结局，比任何悲剧都让人感慨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范增：最清醒，也最无力&lt;/Text&gt;&#13;&#10;    &lt;Text style={{ fontSize: 20, color: 'rgba(44,44,42,0.55)', letterSpacing: 1, fontFamily: 'STZhongsong', marginLeft: 4 }}&gt;看得透天子的气，看不透君主的嘴&lt;/Text&gt;&#13;&#10;    &lt;Text style={{ fontSize: 14, color: 'rgba(44,44,42,0.45)', letterSpacing: 2, fontFamily: 'Microsoft YaHei', marginLeft: 10 }}&gt;第三章 · 藏在细节里的人性&lt;/Text&gt;&#13;&#10;  &lt;/Box&gt;&#13;&#10;&#13;&#10;  &lt;Box style={{ position: 'absolute', left: 64, top: 118, width: 556, height: 540, display: 'flex', flexDirection: 'column', justifyContent: 'space-between' }}&gt;&#13;&#10;&#13;&#10;    &lt;Box style={{ background: '#FFFFFF', border: '0.5px solid #D9D3C4', boxShadow: '0 4px 20px rgba(44,44,42,0.08)', padding: '16px 22px' }}&gt;&#13;&#10;      &lt;Text style={{ fontSize: 20, fontWeight: 'bold', color: '#2C2C2A', letterSpacing: 1, fontFamily: 'STZhongsong' }}&gt;看得清场上所有人，唯独看不透项羽&lt;/Text&gt;&#13;&#10;      &lt;Text style={{ fontSize: 15, color: 'rgba(44,44,42,0.8)', lineHeight: 1.8, marginTop: 10, fontFamily: 'Microsoft YaHei' }}&gt;&#13;&#10;        他比场上所有人都看得清楚——看得清刘邦的野心，看得清项伯的摇摆，看得清曹无伤的投机——但他唯独看不透项羽。&#13;&#10;      &lt;/Text&gt;&#13;&#10;      &lt;Text style={{ fontSize: 15, color: 'rgba(44,44,42,0.8)', lineHeight: 1.8, marginTop: 10, fontFamily: 'Microsoft YaHei' }}&gt;&#13;&#10;        他为什么能被尊为「亚父」？因为他不是只会出主意的谋士，而是真正懂政治的人。&#13;&#10;      &lt;/Text&gt;&#13;&#10;    &lt;/Box&gt;&#13;&#10;&#13;&#10;    &lt;Box style={{ background: '#2C2C2A', padding: '22px 24px', display: 'flex', flexDirection: 'column', gap: 14 }}&gt;&#13;&#10;      &lt;Box style={{ display: 'flex', flexDirection: 'row', alignItems: 'center', gap: 14 }}&gt;&#13;&#10;        &lt;Box style={{ width: 92 }}&gt;&#13;&#10;          &lt;Text style={{ fontSize: 12, letterSpacing: 2, color: 'rgba(246,242,231,0.6)', fontFamily: 'Microsoft YaHei' }}&gt;宴前 · 锐利&lt;/Text&gt;&#13;&#10;        &lt;/Box&gt;&#13;&#10;        &lt;Text style={{ fontSize: 16, fontWeight: 'bold', color: '#BA7517', fontFamily: 'STZhongsong' }}&gt;「急击勿失！」&lt;/Text&gt;&#13;&#10;        &lt;Text style={{ fontSize: 13, color: 'rgba(246,242,231,0.66)', fontFamily: 'Microsoft YaHei', marginLeft: 'auto' }}&gt;战略判断&lt;/Text&gt;&#13;&#10;      &lt;/Box&gt;&#13;&#10;      &lt;Box style={{ display: 'flex', flexDirection: 'row', alignItems: 'center', gap: 14 }}&gt;&#13;&#10;        &lt;Box style={{ width: 92 }}&gt;&#13;&#10;          &lt;Text style={{ fontSize: 12, letterSpacing: 2, color: 'rgba(246,242,231,0.6)', fontFamily: 'Microsoft YaHei' }}&gt;宴后 · 崩溃&lt;/Text&gt;&#13;&#10;        &lt;/Box&gt;&#13;&#10;        &lt;Text style={{ fontSize: 16, fontWeight: 'bold', color: '#A32D2D', fontFamily: 'STZhongsong' }}&gt;「竖子不足与谋！」&lt;/Text&gt;&#13;&#10;        &lt;Text style={{ fontSize: 13, color: 'rgba(246,242,231,0.66)', fontFamily: 'Microsoft YaHei', marginLeft: 'auto' }}&gt;情感崩溃&lt;/Text&gt;&#13;&#10;      &lt;/Box&gt;&#13;&#10;      &lt;Box style={{ borderTop: '0.5px solid rgba(246,242,231,0.24)', paddingTop: 12 }}&gt;&#13;&#10;        &lt;Text style={{ fontSize: 14, color: 'rgba(246,242,231,0.82)', lineHeight: 1.75, fontFamily: 'Microsoft YaHei' }}&gt;&#13;&#10;          八个字里，是从「机会还在手上」到「机会已经飞走」的全部落差。&#13;&#10;        &lt;/Text&gt;&#13;&#10;      &lt;/Box&gt;&#13;&#10;    &lt;/Box&gt;&#13;&#10;&#13;&#10;    &lt;Box style={{ background: 'rgba(44,44,42,0.06)', borderLeft: '3px solid #A32D2D', padding: '18px 22px' }}&gt;&#13;&#10;      &lt;Text style={{ fontSize: 15, fontWeight: 'bold', color: '#2C2C2A', lineHeight: 1.75, fontFamily: 'Microsoft YaHei' }}&gt;&#13;&#10;        悲剧在于：他是一个完美的战略家，却遇上了一个不适合做霸主的人——问题不在计谋，而在执行计谋的那个人。&#13;&#10;      &lt;/Text&gt;&#13;&#10;    &lt;/Box&gt;&#13;&#10;&#13;&#10;  &lt;/Box&gt;&#13;&#10;&#13;&#10;  &lt;Box style={{ position: 'absolute', left: 652, top: 118, width: 564, height: 540, display: 'flex', flexDirection: 'column', justifyContent: 'space-between' }}&gt;&#13;&#10;&#13;&#10;    &lt;Box style={{ background: '#FFFFFF', border: '0.5px solid #D9D3C4', boxShadow: '0 4px 20px rgba(44,44,42,0.08)', padding: '16px 22px' }}&gt;&#13;&#10;      &lt;Text style={{ fontSize: 20, fontWeight: 'bold', color: '#2C2C2A', letterSpacing: 1, fontFamily: 'STZhongsong' }}&gt;砸的不是玉斗，是自己的失望&lt;/Text&gt;&#13;&#10;      &lt;Text style={{ fontSize: 15, color: 'rgba(44,44,42,0.8)', lineHeight: 1.8, marginTop: 10, fontFamily: 'Microsoft YaHei' }}&gt;&#13;&#10;        宴前何等锐利——「吾令人望其气，皆为龙虎，成五采，此天子气也」，一眼定生死。宴后他做了什么？&#13;&#10;      &lt;/Text&gt;&#13;&#10;      &lt;Box style={{ marginTop: 12, borderLeft: '3px solid #A32D2D', background: 'rgba(163,45,45,0.06)', padding: '10px 14px' }}&gt;&#13;&#10;        &lt;Text style={{ fontSize: 15, fontWeight: 'bold', color: '#2C2C2A', lineHeight: 1.7, fontFamily: 'Microsoft YaHei' }}&gt;&#13;&#10;          「置之地，拔剑撞而破之」——把玉斗扔在地上，拔剑砸碎。&#13;&#10;        &lt;/Text&gt;&#13;&#10;      &lt;/Box&gt;&#13;&#10;      &lt;Text style={{ fontSize: 15, color: 'rgba(44,44,42,0.8)', lineHeight: 1.8, marginTop: 10, fontFamily: 'Microsoft YaHei' }}&gt;&#13;&#10;        一个老谋士不该有的失态：他不是在砸玉斗，是在砸自己的失望。&#13;&#10;      &lt;/Text&gt;&#13;&#10;    &lt;/Box&gt;&#13;&#10;&#13;&#10;    &lt;Box style={{ background: '#FFFFFF', border: '0.5px solid #D9D3C4', boxShadow: '0 4px 20px rgba(44,44,42,0.08)', padding: '16px 22px' }}&gt;&#13;&#10;      &lt;Text style={{ fontSize: 20, fontWeight: 'bold', color: '#2C2C2A', letterSpacing: 1, fontFamily: 'STZhongsong' }}&gt;最后的话，与最后的结局&lt;/Text&gt;&#13;&#10;      &lt;Text style={{ fontSize: 15, color: 'rgba(44,44,42,0.8)', lineHeight: 1.8, marginTop: 10, fontFamily: 'Microsoft YaHei' }}&gt;&#13;&#10;        后来项羽分封诸侯，范增没有再劝——不是不想，是知道说了也没用。他最后说：&#13;&#10;      &lt;/Text&gt;&#13;&#10;      &lt;Text style={{ fontSize: 16, fontWeight: 'bold', color: '#2C2C2A', lineHeight: 1.7, marginTop: 8, fontFamily: 'STZhongsong' }}&gt;&#13;&#10;        「天下事大定矣，君王自为之。」&#13;&#10;      &lt;/Text&gt;&#13;&#10;      &lt;Text style={{ fontSize: 14, color: 'rgba(44,44,42,0.72)', lineHeight: 1.75, marginTop: 10, fontFamily: 'Microsoft YaHei' }}&gt;&#13;&#10;        这一年范增已七十岁。鸿门宴后他渐被边缘化，最终告老还乡，病死途中——一辈子替别人出主意的人，死在回家的路上。&#13;&#10;      &lt;/Text&gt;&#13;&#10;    &lt;/Box&gt;&#13;&#10;&#13;&#10;    &lt;Box style={{ background: '#2C2C2A', padding: '14px 24px', display: 'flex', flexDirection: 'row', alignItems: 'center', gap: 14 }}&gt;&#13;&#10;      &lt;Box style={{ width: 10, height: 10, background: '#A32D2D' }} /&gt;&#13;&#10;      &lt;Text style={{ fontSize: 16, fontWeight: 'bold', color: '#F6F2E7', lineHeight: 1.6, fontFamily: 'Microsoft YaHei' }}&gt;&#13;&#10;        一个看透了局势却无力改变的人，比一个糊涂的人更让人唏嘘。&#13;&#10;      &lt;/Text&gt;&#13;&#10;    &lt;/Box&gt;&#13;&#10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19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3514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范增：最清醒，也最无力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476750" y="457200"/>
            <a:ext cx="3000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看得透天子的气，看不透君主的嘴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705725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第三章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藏在细节里的人性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09600" y="1123950"/>
            <a:ext cx="5295900" cy="1962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19150" y="127635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看得清场上所有人，唯独看不透项羽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19150" y="1600200"/>
            <a:ext cx="4876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他比场上所有人都看得清楚——看得清刘邦的野心，看得清项伯的摇摆，看得清曹无伤的投机——但他唯独看不透项羽。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19150" y="2314575"/>
            <a:ext cx="4876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他为什么能被尊为「亚父」？因为他不是只会出主意的谋士，而是真正懂政治的人。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3467100"/>
            <a:ext cx="5295900" cy="1476375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370522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6F2E7">
                    <a:alpha val="60000"/>
                  </a:srgbClr>
                </a:solidFill>
                <a:latin typeface="Microsoft YaHei"/>
                <a:ea typeface="Microsoft YaHei"/>
              </a:rPr>
              <a:t>宴前</a:t>
            </a:r>
            <a:r>
              <a:rPr lang="en-US" sz="900" spc="150">
                <a:solidFill>
                  <a:srgbClr val="F6F2E7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 spc="150">
                <a:solidFill>
                  <a:srgbClr val="F6F2E7">
                    <a:alpha val="60000"/>
                  </a:srgbClr>
                </a:solidFill>
                <a:latin typeface="Microsoft YaHei"/>
                <a:ea typeface="Microsoft YaHei"/>
              </a:rPr>
              <a:t>锐利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847850" y="36766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A7517"/>
                </a:solidFill>
                <a:latin typeface="STZhongsong"/>
                <a:ea typeface="STZhongsong"/>
              </a:rPr>
              <a:t>「急击勿失！」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181600" y="36957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6F2E7">
                    <a:alpha val="66000"/>
                  </a:srgbClr>
                </a:solidFill>
                <a:latin typeface="Microsoft YaHei"/>
                <a:ea typeface="Microsoft YaHei"/>
              </a:rPr>
              <a:t>战略判断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8200" y="40290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6F2E7">
                    <a:alpha val="60000"/>
                  </a:srgbClr>
                </a:solidFill>
                <a:latin typeface="Microsoft YaHei"/>
                <a:ea typeface="Microsoft YaHei"/>
              </a:rPr>
              <a:t>宴后</a:t>
            </a:r>
            <a:r>
              <a:rPr lang="en-US" sz="900" spc="150">
                <a:solidFill>
                  <a:srgbClr val="F6F2E7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 spc="150">
                <a:solidFill>
                  <a:srgbClr val="F6F2E7">
                    <a:alpha val="60000"/>
                  </a:srgbClr>
                </a:solidFill>
                <a:latin typeface="Microsoft YaHei"/>
                <a:ea typeface="Microsoft YaHei"/>
              </a:rPr>
              <a:t>崩溃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847850" y="40005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TZhongsong"/>
                <a:ea typeface="STZhongsong"/>
              </a:rPr>
              <a:t>「竖子不足与谋！」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181600" y="4019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6F2E7">
                    <a:alpha val="66000"/>
                  </a:srgbClr>
                </a:solidFill>
                <a:latin typeface="Microsoft YaHei"/>
                <a:ea typeface="Microsoft YaHei"/>
              </a:rPr>
              <a:t>情感崩溃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838200" y="4324350"/>
            <a:ext cx="4838700" cy="419100"/>
          </a:xfrm>
          <a:custGeom>
            <a:pathLst>
              <a:path w="508" h="44">
                <a:moveTo>
                  <a:pt x="0" y="0"/>
                </a:moveTo>
                <a:lnTo>
                  <a:pt x="508" y="0"/>
                </a:lnTo>
                <a:lnTo>
                  <a:pt x="508" y="1"/>
                </a:lnTo>
                <a:lnTo>
                  <a:pt x="0" y="1"/>
                </a:lnTo>
                <a:close/>
              </a:path>
            </a:pathLst>
          </a:custGeom>
          <a:solidFill>
            <a:srgbClr val="F6F2E7">
              <a:alpha val="24000"/>
            </a:srgbClr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38200" y="4448175"/>
            <a:ext cx="4838700" cy="2857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6F2E7">
                    <a:alpha val="82000"/>
                  </a:srgbClr>
                </a:solidFill>
                <a:latin typeface="Microsoft YaHei"/>
                <a:ea typeface="Microsoft YaHei"/>
              </a:rPr>
              <a:t>八个字里，是从「机会还在手上」到「机会已经飞走」的全部落差。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38175" y="5324475"/>
            <a:ext cx="5295900" cy="94297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09600" y="5324475"/>
            <a:ext cx="5324475" cy="942975"/>
          </a:xfrm>
          <a:custGeom>
            <a:pathLst>
              <a:path w="559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47725" y="5495925"/>
            <a:ext cx="48482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 b="1">
                <a:solidFill>
                  <a:srgbClr val="2C2C2A"/>
                </a:solidFill>
                <a:latin typeface="Microsoft YaHei"/>
                <a:ea typeface="Microsoft YaHei"/>
              </a:rPr>
              <a:t>悲剧在于：他是一个完美的战略家，却遇上了一个不适合做霸主的人——问题不在计谋，而在执行计谋的那个人。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210300" y="1123950"/>
            <a:ext cx="5372100" cy="22574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419850" y="12763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砸的不是玉斗，是自己的失望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419850" y="1600200"/>
            <a:ext cx="4953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宴前何等锐利——「吾令人望其气，皆为龙虎，成五采，此天子气也」，一眼定生死。宴后他做了什么？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448425" y="2333625"/>
            <a:ext cx="4953000" cy="485775"/>
          </a:xfrm>
          <a:prstGeom prst="rect">
            <a:avLst/>
          </a:prstGeom>
          <a:solidFill>
            <a:srgbClr val="A32D2D">
              <a:alpha val="6000"/>
            </a:srgbClr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6419850" y="2333625"/>
            <a:ext cx="4981575" cy="485775"/>
          </a:xfrm>
          <a:custGeom>
            <a:pathLst>
              <a:path w="523" h="51">
                <a:moveTo>
                  <a:pt x="0" y="0"/>
                </a:moveTo>
                <a:lnTo>
                  <a:pt x="3" y="0"/>
                </a:lnTo>
                <a:lnTo>
                  <a:pt x="3" y="51"/>
                </a:lnTo>
                <a:lnTo>
                  <a:pt x="0" y="51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581775" y="2428875"/>
            <a:ext cx="465772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2C2C2A"/>
                </a:solidFill>
                <a:latin typeface="Microsoft YaHei"/>
                <a:ea typeface="Microsoft YaHei"/>
              </a:rPr>
              <a:t>「置之地，拔剑撞而破之」——把玉斗扔在地上，拔剑砸碎。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419850" y="2914650"/>
            <a:ext cx="49530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一个老谋士不该有的失态：他不是在砸玉斗，是在砸自己的失望。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210300" y="3400425"/>
            <a:ext cx="5372100" cy="22955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419850" y="355282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2C2C2A"/>
                </a:solidFill>
                <a:latin typeface="STZhongsong"/>
                <a:ea typeface="STZhongsong"/>
              </a:rPr>
              <a:t>最后的话，与最后的结局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419850" y="3876675"/>
            <a:ext cx="4953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后来项羽分封诸侯，范增没有再劝——不是不想，是知道说了也没用。他最后说：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419850" y="4572000"/>
            <a:ext cx="49530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「天下事大定矣，君王自为之。」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419850" y="4981575"/>
            <a:ext cx="49530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2C2C2A">
                    <a:alpha val="72000"/>
                  </a:srgbClr>
                </a:solidFill>
                <a:latin typeface="Microsoft YaHei"/>
                <a:ea typeface="Microsoft YaHei"/>
              </a:rPr>
              <a:t>这一年范增已七十岁。鸿门宴后他渐被边缘化，最终告老还乡，病死途中——一辈子替别人出主意的人，死在回家的路上。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210300" y="5705475"/>
            <a:ext cx="5372100" cy="561975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6438900" y="5943600"/>
            <a:ext cx="95250" cy="952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667500" y="5838825"/>
            <a:ext cx="4267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6F2E7"/>
                </a:solidFill>
                <a:latin typeface="Microsoft YaHei"/>
                <a:ea typeface="Microsoft YaHei"/>
              </a:rPr>
              <a:t>一个看透了局势却无力改变的人，比一个糊涂的人更让人唏嘘。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19 / 32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76" name="" descr="&lt;Slide notes={`在继续看张良、项伯、曹无伤之前，我想插一页对比——项羽和刘邦的决策风格。同一件事，这两个人会怎么做？&#13;&#10;&#13;&#10;面对强敌：项羽正面硬刚，破釜沉舟；刘邦绕开硬仗，走捷径。&#13;&#10;&#13;&#10;面对盟友：项羽猜忌打压，分封时处处防备；刘邦拉拢结盟，韩信、彭越、英布一个个收编。&#13;&#10;&#13;&#10;面对危机：项羽情绪化，宴席上把曹无伤卖了；刘邦极度冷静，装孙子、示弱、跑路不丢人。&#13;&#10;&#13;&#10;面对功劳：项羽想的是「有功之人要控制」；刘邦想的是「有功之人要重用」。&#13;&#10;&#13;&#10;面对失败：项羽说「天亡我，非战之罪也」——怪老天；刘邦先找自己的问题。&#13;&#10;&#13;&#10;最后看用人：项羽任人唯亲，项伯、项庄都是自家人；刘邦唯才是举——张良是韩国贵族、陈平是叛将、韩信是个 nobody。&#13;&#10;&#13;&#10;同一件事，两种活法。项羽赢在武力，刘邦赢在脑子。但说到底，项羽输在性格，刘邦赢在能屈能伸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项羽 vs 刘邦：同一件事，两种选择&lt;/Text&gt;&#13;&#10;    &lt;Text style={{ fontSize: 14, color: 'rgba(44,44,42,0.45)', letterSpacing: 2, fontFamily: 'Microsoft YaHei', marginLeft: 8 }}&gt;第三章 · 藏在细节里的人性&lt;/Text&gt;&#13;&#10;  &lt;/Box&gt;&#13;&#10;&#13;&#10;  &lt;Box style={{ position: 'absolute', left: 64, top: 116, width: 1152, height: 484, border: '0.5px solid #D9D3C4', boxShadow: '0 4px 20px rgba(44,44,42,0.08)', overflow: 'hidden' }}&gt;&#13;&#10;&#13;&#10;    &lt;Box style={{ display: 'flex', flexDirection: 'row', background: '#2C2C2A', height: 46 }}&gt;&#13;&#10;      &lt;Box style={{ width: 176, padding: '0 20px', display: 'flex', alignItems: 'center' }}&gt;&#13;&#10;        &lt;Text style={{ fontSize: 15, letterSpacing: 3, color: 'rgba(246,242,231,0.7)', fontFamily: 'Microsoft YaHei' }}&gt;场景&lt;/Text&gt;&#13;&#10;      &lt;/Box&gt;&#13;&#10;      &lt;Box style={{ flex: 1, padding: '0 20px', display: 'flex', alignItems: 'center', borderLeft: '0.5px solid rgba(246,242,231,0.2)' }}&gt;&#13;&#10;        &lt;Text style={{ fontSize: 17, fontWeight: 'bold', letterSpacing: 2, color: '#F6F2E7', fontFamily: 'STZhongsong' }}&gt;项羽的选择&lt;/Text&gt;&#13;&#10;      &lt;/Box&gt;&#13;&#10;      &lt;Box style={{ flex: 1, padding: '0 20px', display: 'flex', alignItems: 'center', borderLeft: '0.5px solid rgba(246,242,231,0.2)' }}&gt;&#13;&#10;        &lt;Text style={{ fontSize: 17, fontWeight: 'bold', letterSpacing: 2, color: '#BA7517', fontFamily: 'STZhongsong' }}&gt;刘邦的选择&lt;/Text&gt;&#13;&#10;      &lt;/Box&gt;&#13;&#10;    &lt;/Box&gt;&#13;&#10;&#13;&#10;    &lt;Box style={{ display: 'flex', flexDirection: 'row', background: '#FFFFFF', height: 73, borderBottom: '0.5px solid #D9D3C4' }}&gt;&#13;&#10;      &lt;Box style={{ width: 176, padding: '0 20px', display: 'flex', alignItems: 'center' }}&gt;&#13;&#10;        &lt;Text style={{ fontSize: 16, fontWeight: 'bold', color: '#2C2C2A', fontFamily: 'STZhongsong' }}&gt;面对强敌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正面硬刚，破釜沉舟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绕开硬仗，走捷径&lt;/Text&gt;&#13;&#10;      &lt;/Box&gt;&#13;&#10;    &lt;/Box&gt;&#13;&#10;&#13;&#10;    &lt;Box style={{ display: 'flex', flexDirection: 'row', background: 'rgba(44,44,42,0.04)', height: 73, borderBottom: '0.5px solid #D9D3C4' }}&gt;&#13;&#10;      &lt;Box style={{ width: 176, padding: '0 20px', display: 'flex', alignItems: 'center' }}&gt;&#13;&#10;        &lt;Text style={{ fontSize: 16, fontWeight: 'bold', color: '#2C2C2A', fontFamily: 'STZhongsong' }}&gt;面对盟友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猜忌打压，分封时处处防备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拉拢结盟，韩信、彭越、英布逐个收编&lt;/Text&gt;&#13;&#10;      &lt;/Box&gt;&#13;&#10;    &lt;/Box&gt;&#13;&#10;&#13;&#10;    &lt;Box style={{ display: 'flex', flexDirection: 'row', background: '#FFFFFF', height: 73, borderBottom: '0.5px solid #D9D3C4' }}&gt;&#13;&#10;      &lt;Box style={{ width: 176, padding: '0 20px', display: 'flex', alignItems: 'center' }}&gt;&#13;&#10;        &lt;Text style={{ fontSize: 16, fontWeight: 'bold', color: '#2C2C2A', fontFamily: 'STZhongsong' }}&gt;面对危机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情绪化——宴席上卖掉队友（曹无伤）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极度冷静——装孙子、示弱，跑路不丢人&lt;/Text&gt;&#13;&#10;      &lt;/Box&gt;&#13;&#10;    &lt;/Box&gt;&#13;&#10;&#13;&#10;    &lt;Box style={{ display: 'flex', flexDirection: 'row', background: 'rgba(44,44,42,0.04)', height: 73, borderBottom: '0.5px solid #D9D3C4' }}&gt;&#13;&#10;      &lt;Box style={{ width: 176, padding: '0 20px', display: 'flex', alignItems: 'center' }}&gt;&#13;&#10;        &lt;Text style={{ fontSize: 16, fontWeight: 'bold', color: '#2C2C2A', fontFamily: 'STZhongsong' }}&gt;面对功劳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「有功之人」要控制，不能让他壮大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「有功之人」要重用，哪怕将来可能威胁我&lt;/Text&gt;&#13;&#10;      &lt;/Box&gt;&#13;&#10;    &lt;/Box&gt;&#13;&#10;&#13;&#10;    &lt;Box style={{ display: 'flex', flexDirection: 'row', background: '#FFFFFF', height: 73, borderBottom: '0.5px solid #D9D3C4' }}&gt;&#13;&#10;      &lt;Box style={{ width: 176, padding: '0 20px', display: 'flex', alignItems: 'center' }}&gt;&#13;&#10;        &lt;Text style={{ fontSize: 16, fontWeight: 'bold', color: '#2C2C2A', fontFamily: 'STZhongsong' }}&gt;面对失败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「天亡我，非战之罪也」——怪老天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先找自己的问题（垓下之言）&lt;/Text&gt;&#13;&#10;      &lt;/Box&gt;&#13;&#10;    &lt;/Box&gt;&#13;&#10;&#13;&#10;    &lt;Box style={{ display: 'flex', flexDirection: 'row', background: 'rgba(44,44,42,0.04)', height: 73 }}&gt;&#13;&#10;      &lt;Box style={{ width: 176, padding: '0 20px', display: 'flex', alignItems: 'center' }}&gt;&#13;&#10;        &lt;Text style={{ fontSize: 16, fontWeight: 'bold', color: '#2C2C2A', fontFamily: 'STZhongsong' }}&gt;用 人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任人唯亲（项伯、项庄都是自家人）&lt;/Text&gt;&#13;&#10;      &lt;/Box&gt;&#13;&#10;      &lt;Box style={{ flex: 1, padding: '0 20px', display: 'flex', alignItems: 'center', borderLeft: '0.5px solid #D9D3C4' }}&gt;&#13;&#10;        &lt;Text style={{ fontSize: 15, color: 'rgba(44,44,42,0.8)', fontFamily: 'Microsoft YaHei' }}&gt;唯才是举（张良、陈平、韩信，出身各异）&lt;/Text&gt;&#13;&#10;      &lt;/Box&gt;&#13;&#10;    &lt;/Box&gt;&#13;&#10;&#13;&#10;  &lt;/Box&gt;&#13;&#10;&#13;&#10;  &lt;Box style={{ position: 'absolute', left: 64, top: 616, width: 1152, display: 'flex', flexDirection: 'row', alignItems: 'center', gap: 12, background: 'rgba(44,44,42,0.06)', padding: '16px 22px' }}&gt;&#13;&#10;    &lt;Box style={{ width: 12, height: 12, background: '#A32D2D' }} /&gt;&#13;&#10;    &lt;Text style={{ fontSize: 17, fontWeight: 'bold', color: '#2C2C2A', lineHeight: 1.6, fontFamily: 'Microsoft YaHei' }}&gt;同一件事，两种活法。项羽赢在武力，刘邦赢在脑子——但说到底，项羽输在性格，刘邦赢在能屈能伸。&lt;/Text&gt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0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5038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项羽</a:t>
            </a:r>
            <a:r>
              <a:rPr lang="en-US" sz="2400" b="1" spc="113">
                <a:solidFill>
                  <a:srgbClr val="2C2C2A"/>
                </a:solidFill>
                <a:latin typeface="STZhongsong"/>
                <a:ea typeface="STZhongsong"/>
              </a:rPr>
              <a:t> vs </a:t>
            </a: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刘邦：同一件事，两种选择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38850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第三章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藏在细节里的人性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09600" y="1104900"/>
            <a:ext cx="10972800" cy="4610100"/>
          </a:xfrm>
          <a:prstGeom prst="rect">
            <a:avLst/>
          </a:prstGeom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609600" y="1104900"/>
            <a:ext cx="10972800" cy="4381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00100" y="123825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2286000" y="1104900"/>
            <a:ext cx="4657725" cy="438150"/>
          </a:xfrm>
          <a:custGeom>
            <a:pathLst>
              <a:path w="489" h="46">
                <a:moveTo>
                  <a:pt x="0" y="0"/>
                </a:moveTo>
                <a:lnTo>
                  <a:pt x="1" y="0"/>
                </a:lnTo>
                <a:lnTo>
                  <a:pt x="1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6F2E7">
              <a:alpha val="20000"/>
            </a:srgbClr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2486025" y="1228725"/>
            <a:ext cx="904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F6F2E7"/>
                </a:solidFill>
                <a:latin typeface="STZhongsong"/>
                <a:ea typeface="STZhongsong"/>
              </a:rPr>
              <a:t>项羽的选择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934200" y="1104900"/>
            <a:ext cx="4657725" cy="438150"/>
          </a:xfrm>
          <a:custGeom>
            <a:pathLst>
              <a:path w="489" h="46">
                <a:moveTo>
                  <a:pt x="0" y="0"/>
                </a:moveTo>
                <a:lnTo>
                  <a:pt x="1" y="0"/>
                </a:lnTo>
                <a:lnTo>
                  <a:pt x="1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6F2E7">
              <a:alpha val="20000"/>
            </a:srgbClr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134225" y="1228725"/>
            <a:ext cx="904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BA7517"/>
                </a:solidFill>
                <a:latin typeface="STZhongsong"/>
                <a:ea typeface="STZhongsong"/>
              </a:rPr>
              <a:t>刘邦的选择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1543050"/>
            <a:ext cx="10972800" cy="695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09600" y="1543050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面对强敌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2286000" y="1543050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486025" y="18097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正面硬刚，破釜沉舟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934200" y="1543050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134225" y="18097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绕开硬仗，走捷径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09600" y="2238375"/>
            <a:ext cx="10972800" cy="695325"/>
          </a:xfrm>
          <a:prstGeom prst="rect">
            <a:avLst/>
          </a:prstGeom>
          <a:solidFill>
            <a:srgbClr val="2C2C2A">
              <a:alpha val="4000"/>
            </a:srgbClr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609600" y="2238375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00100" y="2495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面对盟友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2286000" y="2238375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2486025" y="25050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猜忌打压，分封时处处防备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6934200" y="2238375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134225" y="250507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拉拢结盟，韩信、彭越、英布逐个收编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2933700"/>
            <a:ext cx="10972800" cy="695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09600" y="2933700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00100" y="3190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面对危机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2286000" y="2933700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2486025" y="3200400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情绪化——宴席上卖掉队友（曹无伤）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934200" y="2933700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134225" y="3200400"/>
            <a:ext cx="2600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极度冷静——装孙子、示弱，跑路不丢人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3629025"/>
            <a:ext cx="10972800" cy="695325"/>
          </a:xfrm>
          <a:prstGeom prst="rect">
            <a:avLst/>
          </a:prstGeom>
          <a:solidFill>
            <a:srgbClr val="2C2C2A">
              <a:alpha val="4000"/>
            </a:srgbClr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609600" y="3629025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00100" y="3886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面对功劳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2286000" y="3629025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2486025" y="389572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「有功之人」要控制，不能让他壮大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934200" y="3629025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134225" y="3895725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「有功之人」要重用，哪怕将来可能威胁我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4324350"/>
            <a:ext cx="10972800" cy="695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609600" y="4324350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00100" y="45815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面对失败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2286000" y="4324350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2486025" y="4591050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「天亡我，非战之罪也」——怪老天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934200" y="4324350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134225" y="45910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先找自己的问题（垓下之言）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09600" y="5019675"/>
            <a:ext cx="10972800" cy="695325"/>
          </a:xfrm>
          <a:prstGeom prst="rect">
            <a:avLst/>
          </a:prstGeom>
          <a:solidFill>
            <a:srgbClr val="2C2C2A">
              <a:alpha val="4000"/>
            </a:srgbClr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00100" y="5276850"/>
            <a:ext cx="36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用</a:t>
            </a:r>
            <a:r>
              <a:rPr lang="en-US" sz="1200" b="1">
                <a:solidFill>
                  <a:srgbClr val="2C2C2A"/>
                </a:solidFill>
                <a:latin typeface="STZhongsong"/>
                <a:ea typeface="STZhongsong"/>
              </a:rPr>
              <a:t> </a:t>
            </a: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人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2286000" y="5019675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2486025" y="528637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任人唯亲（项伯、项庄都是自家人）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934200" y="5019675"/>
            <a:ext cx="4657725" cy="695325"/>
          </a:xfrm>
          <a:custGeom>
            <a:pathLst>
              <a:path w="48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134225" y="5286375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唯才是举（张良、陈平、韩信，出身各异）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09600" y="5867400"/>
            <a:ext cx="10972800" cy="61912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819150" y="612457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047750" y="6019800"/>
            <a:ext cx="74771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同一件事，两种活法。项羽赢在武力，刘邦赢在脑子——但说到底，项羽输在性格，刘邦赢在能屈能伸。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20 / 32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37" name="" descr="&lt;Slide notes={`好，来看另外三个人。&#13;&#10;&#13;&#10;首先是项伯。这个人很有意思，早年杀人被通缉，靠张良救命。后来他深夜潜入刘邦营帐，最初只是想拉张良一起走——注意，这时候他还没想背叛项羽。但刘邦一见他，立刻「奉卮酒为寿，约为婚姻」，给他灌迷魂汤。在乱世里，这等于给项伯买了一份政治保险。加上项伯缺乏政治远见，真信了刘邦「秋毫无犯」的说辞，认为杀有功之臣「不义」，于是一步步站到了刘邦一边。他一生都在做「好人」，却从没想过「好人」在这个乱世里到底意味着什么。简单说：报恩、联姻、自认主持公道。&#13;&#10;&#13;&#10;然后是曹无伤。这个人就是典型的乱世投机者。项羽四十万压境，刘邦只有十万，他一眼看出绝对劣势，想给自己留后路，去项羽那里谋前程，于是冒险告密。他的话极毒——专挑「欲王关中」这句戳项羽逆鳞的点。但他犯了个致命错误：他以为项羽会欣赏一个来投奔的叛徒，却不知自己在对方眼里，只是一枚随时可以丢弃的棋子。结果呢？一回霸上，刘邦立诛杀曹无伤。投机者最大的错误，就是选错了庄家。&#13;&#10;&#13;&#10;最后是张良——这位才是真正的全场 MVP。项伯深夜来报，他第一时间转告刘邦；替刘邦拟定谦卑说辞，精准踩中项羽吃软不吃硬的性格；危急时算准时机召樊哙闯帐；刘邦脱身后，还是他留下周旋善后。整套流程环环相扣，没有一步是偶然的。他极其了解对手，底色是一个「冷」字。没有张良，鸿门宴上刘邦未必能活着走出去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三张面孔&lt;/Text&gt;&#13;&#10;    &lt;Text style={{ fontSize: 20, color: 'rgba(44,44,42,0.55)', letterSpacing: 1, fontFamily: 'STZhongsong', marginLeft: 4 }}&gt;项伯 · 曹无伤 · 张良&lt;/Text&gt;&#13;&#10;    &lt;Text style={{ fontSize: 14, color: 'rgba(44,44,42,0.45)', letterSpacing: 2, fontFamily: 'Microsoft YaHei', marginLeft: 10 }}&gt;第三章 · 藏在细节里的人性&lt;/Text&gt;&#13;&#10;  &lt;/Box&gt;&#13;&#10;&#13;&#10;  &lt;Box style={{ position: 'absolute', left: 64, top: 124, width: 1152, height: 520, display: 'flex', flexDirection: 'row', gap: 32 }}&gt;&#13;&#10;&#13;&#10;    &lt;Box style={{ flex: 1, background: '#FFFFFF', border: '0.5px solid #D9D3C4', boxShadow: '0 4px 20px rgba(44,44,42,0.08)', padding: '24px 26px', display: 'flex', flexDirection: 'column' }}&gt;&#13;&#10;      &lt;Box style={{ display: 'flex', flexDirection: 'row', alignItems: 'center', gap: 14 }}&gt;&#13;&#10;        &lt;Box style={{ width: 44, height: 44, background: '#2C2C2A', display: 'flex', alignItems: 'center', justifyContent: 'center' }}&gt;&#13;&#10;          &lt;Text style={{ fontSize: 19, color: '#F6F2E7', fontFamily: 'STZhongsong', fontWeight: 'bold' }}&gt;项&lt;/Text&gt;&#13;&#10;        &lt;/Box&gt;&#13;&#10;        &lt;Box&gt;&#13;&#10;          &lt;Text style={{ fontSize: 26, fontWeight: 'bold', color: '#2C2C2A', letterSpacing: 2, fontFamily: 'STZhongsong' }}&gt;项伯&lt;/Text&gt;&#13;&#10;          &lt;Text style={{ fontSize: 14, color: '#BA7517', letterSpacing: 2, marginTop: 3, fontFamily: 'Microsoft YaHei' }}&gt;从报恩到联姻&lt;/Text&gt;&#13;&#10;        &lt;/Box&gt;&#13;&#10;      &lt;/Box&gt;&#13;&#10;      &lt;Box style={{ width: '100%', height: 0.5, background: '#D9D3C4', marginTop: 18 }} /&gt;&#13;&#10;      &lt;Text style={{ fontSize: 15, color: 'rgba(44,44,42,0.78)', lineHeight: 1.85, marginTop: 16, fontFamily: 'Microsoft YaHei' }}&gt;&#13;&#10;        早年杀人被通缉，靠张良救命。深夜潜入刘营，最初只为拉张良一起走，并无背叛项羽之意。刘邦一见他，立刻「奉卮酒为寿，约为婚姻」——在乱世里等于给项伯买了一份政治保险。加上他缺乏政治远见，真信了刘邦「秋毫无犯」的说辞，认为杀有功之臣「不义」，于是一步步站到了刘邦一边。&#13;&#10;      &lt;/Text&gt;&#13;&#10;      &lt;Text style={{ fontSize: 15, fontWeight: 'bold', color: '#A32D2D', lineHeight: 1.85, marginTop: 12, fontFamily: 'Microsoft YaHei' }}&gt;&#13;&#10;        他一生都在做「好人」，却从未想过「好人」在这个乱世里意味着什么。&#13;&#10;      &lt;/Text&gt;&#13;&#10;      &lt;Box style={{ marginTop: 'auto', display: 'flex', flexDirection: 'row', alignItems: 'center', gap: 10 }}&gt;&#13;&#10;        &lt;Box style={{ width: 3, height: 20, background: '#BA7517' }} /&gt;&#13;&#10;        &lt;Text style={{ fontSize: 16, fontWeight: 'bold', color: '#2C2C2A', fontFamily: 'Microsoft YaHei' }}&gt;报恩 → 联姻 → 自认「主持公道」&lt;/Text&gt;&#13;&#10;      &lt;/Box&gt;&#13;&#10;    &lt;/Box&gt;&#13;&#10;&#13;&#10;    &lt;Box style={{ flex: 1, background: '#FFFFFF', border: '0.5px solid #D9D3C4', boxShadow: '0 4px 20px rgba(44,44,42,0.08)', padding: '24px 26px', display: 'flex', flexDirection: 'column' }}&gt;&#13;&#10;      &lt;Box style={{ display: 'flex', flexDirection: 'row', alignItems: 'center', gap: 14 }}&gt;&#13;&#10;        &lt;Box style={{ width: 44, height: 44, background: '#A32D2D', display: 'flex', alignItems: 'center', justifyContent: 'center' }}&gt;&#13;&#10;          &lt;Text style={{ fontSize: 19, color: '#F6F2E7', fontFamily: 'STZhongsong', fontWeight: 'bold' }}&gt;曹&lt;/Text&gt;&#13;&#10;        &lt;/Box&gt;&#13;&#10;        &lt;Box&gt;&#13;&#10;          &lt;Text style={{ fontSize: 26, fontWeight: 'bold', color: '#2C2C2A', letterSpacing: 2, fontFamily: 'STZhongsong' }}&gt;曹无伤&lt;/Text&gt;&#13;&#10;          &lt;Text style={{ fontSize: 14, color: '#BA7517', letterSpacing: 2, marginTop: 3, fontFamily: 'Microsoft YaHei' }}&gt;乱世投机者&lt;/Text&gt;&#13;&#10;        &lt;/Box&gt;&#13;&#10;      &lt;/Box&gt;&#13;&#10;      &lt;Box style={{ width: '100%', height: 0.5, background: '#D9D3C4', marginTop: 18 }} /&gt;&#13;&#10;      &lt;Text style={{ fontSize: 15, color: 'rgba(44,44,42,0.78)', lineHeight: 1.85, marginTop: 16, fontFamily: 'Microsoft YaHei' }}&gt;&#13;&#10;        项羽四十万大军压境、刘邦只有十万，作为刘邦部下的左司马，他一眼看出绝对劣势，想给自己留后路、到项羽那里谋个前程，于是冒险告密。而且他的话极毒——不挑别的，专挑「欲王关中」这句戳项羽逆鳞的点，把一份普通的军事情报，变成了点燃鸿门宴的导火索。&#13;&#10;      &lt;/Text&gt;&#13;&#10;      &lt;Text style={{ fontSize: 15, fontWeight: 'bold', color: '#A32D2D', lineHeight: 1.85, marginTop: 12, fontFamily: 'Microsoft YaHei' }}&gt;&#13;&#10;        他以为项羽会欣赏一个来投奔的叛徒，却不知自己在对方眼里，只是一枚随时可以丢弃的棋子。&#13;&#10;      &lt;/Text&gt;&#13;&#10;      &lt;Box style={{ marginTop: 'auto', display: 'flex', flexDirection: 'row', alignItems: 'center', gap: 10 }}&gt;&#13;&#10;        &lt;Box style={{ width: 3, height: 20, background: '#A32D2D' }} /&gt;&#13;&#10;        &lt;Text style={{ fontSize: 16, fontWeight: 'bold', color: '#2C2C2A', fontFamily: 'Microsoft YaHei' }}&gt;一回霸上，「立诛杀曹无伤」&lt;/Text&gt;&#13;&#10;      &lt;/Box&gt;&#13;&#10;    &lt;/Box&gt;&#13;&#10;&#13;&#10;    &lt;Box style={{ flex: 1, background: '#FFFFFF', border: '0.5px solid #D9D3C4', boxShadow: '0 4px 20px rgba(44,44,42,0.08)', padding: '24px 26px', display: 'flex', flexDirection: 'column' }}&gt;&#13;&#10;      &lt;Box style={{ display: 'flex', flexDirection: 'row', alignItems: 'center', gap: 14 }}&gt;&#13;&#10;        &lt;Box style={{ width: 44, height: 44, background: '#BA7517', display: 'flex', alignItems: 'center', justifyContent: 'center' }}&gt;&#13;&#10;          &lt;Text style={{ fontSize: 19, color: '#F6F2E7', fontFamily: 'STZhongsong', fontWeight: 'bold' }}&gt;张&lt;/Text&gt;&#13;&#10;        &lt;/Box&gt;&#13;&#10;        &lt;Box&gt;&#13;&#10;          &lt;Text style={{ fontSize: 26, fontWeight: 'bold', color: '#2C2C2A', letterSpacing: 2, fontFamily: 'STZhongsong' }}&gt;张良&lt;/Text&gt;&#13;&#10;          &lt;Text style={{ fontSize: 14, color: '#BA7517', letterSpacing: 2, marginTop: 3, fontFamily: 'Microsoft YaHei' }}&gt;隐形操盘 · 总导演&lt;/Text&gt;&#13;&#10;        &lt;/Box&gt;&#13;&#10;      &lt;/Box&gt;&#13;&#10;      &lt;Box style={{ width: '100%', height: 0.5, background: '#D9D3C4', marginTop: 18 }} /&gt;&#13;&#10;      &lt;Text style={{ fontSize: 15, color: 'rgba(44,44,42,0.78)', lineHeight: 1.85, marginTop: 16, fontFamily: 'Microsoft YaHei' }}&gt;&#13;&#10;        真正在幕后牵线的，是这位被低估的第三人。项伯深夜来报，他第一时间转告刘邦，把信息差牢牢攥在手里；替刘邦拟定对项羽的谦卑说辞，精准踩中项羽吃软不吃硬的性格；危急时算准时机召樊哙闯帐；刘邦脱身后，还是他主动留下周旋善后。&#13;&#10;      &lt;/Text&gt;&#13;&#10;      &lt;Text style={{ fontSize: 15, fontWeight: 'bold', color: '#A32D2D', lineHeight: 1.85, marginTop: 12, fontFamily: 'Microsoft YaHei' }}&gt;&#13;&#10;        他极为了解对手：知道项羽吃软不吃硬，知道项伯重义轻利，也知道范增主战、项羽主和的矛盾并加以利用。底色是一个「冷」字。&#13;&#10;      &lt;/Text&gt;&#13;&#10;      &lt;Box style={{ marginTop: 'auto', display: 'flex', flexDirection: 'row', alignItems: 'center', gap: 10 }}&gt;&#13;&#10;        &lt;Box style={{ width: 3, height: 20, background: '#BA7517' }} /&gt;&#13;&#10;        &lt;Text style={{ fontSize: 16, fontWeight: 'bold', color: '#2C2C2A', fontFamily: 'Microsoft YaHei' }}&gt;逢凶化吉，全在层层算计&lt;/Text&gt;&#13;&#10;      &lt;/Box&gt;&#13;&#10;    &lt;/Box&gt;&#13;&#10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1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1276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三张面孔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2238375" y="457200"/>
            <a:ext cx="2085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项伯</a:t>
            </a:r>
            <a:r>
              <a:rPr lang="en-US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曹无伤</a:t>
            </a:r>
            <a:r>
              <a:rPr lang="en-US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 · </a:t>
            </a: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张良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552950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第三章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藏在细节里的人性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1181100"/>
            <a:ext cx="3457575" cy="495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857250" y="1447800"/>
            <a:ext cx="419100" cy="4191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81075" y="1552575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6F2E7"/>
                </a:solidFill>
                <a:latin typeface="STZhongsong"/>
                <a:ea typeface="STZhongsong"/>
              </a:rPr>
              <a:t>项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409700" y="1409700"/>
            <a:ext cx="914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2C2C2A"/>
                </a:solidFill>
                <a:latin typeface="STZhongsong"/>
                <a:ea typeface="STZhongsong"/>
              </a:rPr>
              <a:t>项伯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409700" y="17430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从报恩到联姻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857250" y="2076450"/>
            <a:ext cx="2962275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57250" y="2238375"/>
            <a:ext cx="2962275" cy="2228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早年杀人被通缉，靠张良救命。深夜潜入刘营，最初只为拉张良一起走，并无背叛项羽之意。刘邦一见他，立刻「奉卮酒为寿，约为婚姻」——在乱世里等于给项伯买了一份政治保险。加上他缺乏政治远见，真信了刘邦「秋毫无犯」的说辞，认为杀有功之臣「不义」，于是一步步站到了刘邦一边。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57250" y="4581525"/>
            <a:ext cx="29622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 b="1">
                <a:solidFill>
                  <a:srgbClr val="A32D2D"/>
                </a:solidFill>
                <a:latin typeface="Microsoft YaHei"/>
                <a:ea typeface="Microsoft YaHei"/>
              </a:rPr>
              <a:t>他一生都在做「好人」，却从未想过「好人」在这个乱世里意味着什么。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857250" y="5715000"/>
            <a:ext cx="28575" cy="190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981075" y="571500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报恩</a:t>
            </a:r>
            <a:r>
              <a:rPr lang="en-US" sz="1200" b="1">
                <a:solidFill>
                  <a:srgbClr val="2C2C2A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联姻</a:t>
            </a:r>
            <a:r>
              <a:rPr lang="en-US" sz="1200" b="1">
                <a:solidFill>
                  <a:srgbClr val="2C2C2A"/>
                </a:solidFill>
                <a:latin typeface="Microsoft YaHei"/>
                <a:ea typeface="Microsoft YaHei"/>
              </a:rPr>
              <a:t> → 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自认「主持公道」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4371975" y="1181100"/>
            <a:ext cx="3448050" cy="495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4619625" y="1447800"/>
            <a:ext cx="419100" cy="4191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743450" y="1552575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6F2E7"/>
                </a:solidFill>
                <a:latin typeface="STZhongsong"/>
                <a:ea typeface="STZhongsong"/>
              </a:rPr>
              <a:t>曹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5172075" y="1409700"/>
            <a:ext cx="800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2C2C2A"/>
                </a:solidFill>
                <a:latin typeface="STZhongsong"/>
                <a:ea typeface="STZhongsong"/>
              </a:rPr>
              <a:t>曹无伤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5172075" y="17430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乱世投机者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4619625" y="2076450"/>
            <a:ext cx="295275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619625" y="2238375"/>
            <a:ext cx="2952750" cy="1905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项羽四十万大军压境、刘邦只有十万，作为刘邦部下的左司马，他一眼看出绝对劣势，想给自己留后路、到项羽那里谋个前程，于是冒险告密。而且他的话极毒——不挑别的，专挑「欲王关中」这句戳项羽逆鳞的点，把一份普通的军事情报，变成了点燃鸿门宴的导火索。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619625" y="4257675"/>
            <a:ext cx="295275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 b="1">
                <a:solidFill>
                  <a:srgbClr val="A32D2D"/>
                </a:solidFill>
                <a:latin typeface="Microsoft YaHei"/>
                <a:ea typeface="Microsoft YaHei"/>
              </a:rPr>
              <a:t>他以为项羽会欣赏一个来投奔的叛徒，却不知自己在对方眼里，只是一枚随时可以丢弃的棋子。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4619625" y="5715000"/>
            <a:ext cx="28575" cy="1905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743450" y="5715000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一回霸上，「立诛杀曹无伤」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124825" y="1181100"/>
            <a:ext cx="3457575" cy="495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8372475" y="1447800"/>
            <a:ext cx="419100" cy="4191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496300" y="1552575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6F2E7"/>
                </a:solidFill>
                <a:latin typeface="STZhongsong"/>
                <a:ea typeface="STZhongsong"/>
              </a:rPr>
              <a:t>张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924925" y="1409700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2C2C2A"/>
                </a:solidFill>
                <a:latin typeface="STZhongsong"/>
                <a:ea typeface="STZhongsong"/>
              </a:rPr>
              <a:t>张良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924925" y="17430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隐形操盘</a:t>
            </a:r>
            <a:r>
              <a:rPr lang="en-US" sz="1050" spc="150">
                <a:solidFill>
                  <a:srgbClr val="BA7517"/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BA7517"/>
                </a:solidFill>
                <a:latin typeface="Microsoft YaHei"/>
                <a:ea typeface="Microsoft YaHei"/>
              </a:rPr>
              <a:t>总导演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8372475" y="2076450"/>
            <a:ext cx="2962275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372475" y="2238375"/>
            <a:ext cx="2962275" cy="1905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真正在幕后牵线的，是这位被低估的第三人。项伯深夜来报，他第一时间转告刘邦，把信息差牢牢攥在手里；替刘邦拟定对项羽的谦卑说辞，精准踩中项羽吃软不吃硬的性格；危急时算准时机召樊哙闯帐；刘邦脱身后，还是他主动留下周旋善后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372475" y="4257675"/>
            <a:ext cx="2962275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 b="1">
                <a:solidFill>
                  <a:srgbClr val="A32D2D"/>
                </a:solidFill>
                <a:latin typeface="Microsoft YaHei"/>
                <a:ea typeface="Microsoft YaHei"/>
              </a:rPr>
              <a:t>他极为了解对手：知道项羽吃软不吃硬，知道项伯重义轻利，也知道范增主战、项羽主和的矛盾并加以利用。底色是一个「冷」字。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8372475" y="5715000"/>
            <a:ext cx="28575" cy="190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496300" y="57150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逢凶化吉，全在层层算计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21 / 32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78" name="" descr="&lt;Slide notes={`好，进入第四部分——越考究，越有味道。&#13;&#10;&#13;&#10;三个细节，一处地图，还有五条辟谣。这部分可能有点硬核，但相信我，听完你会对鸿门宴有完全不同的理解。`} style={{ width: 1280, height: 720, background: '#F6F2E7', position: 'relative', overflow: 'hidden' }}&gt;&#13;&#10;&#13;&#10;  &lt;Box style={{ position: 'absolute', left: 13, top: 0, width: 577, height: 720, overflow: 'hidden' }}&gt;&#13;&#10;    &lt;Image src=&quot;assets/scene_table.png&quot; style={{ width: '100%', height: '100%', objectFit: 'cover', opacity: 0.30 }} /&gt;&#13;&#10;    &lt;Box style={{ position: 'absolute', left: 0, top: 0, width: 577, height: 720, background: 'linear-gradient(270deg, #F6F2E7 0%, rgba(246,242,231,0) 42%)' }} /&gt;&#13;&#10;  &lt;/Box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36, top: 0, width: 580, height: 720, display: 'flex', flexDirection: 'column', justifyContent: 'center' }}&gt;&#13;&#10;    &lt;Text style={{ fontSize: 104, fontWeight: 'bold', color: '#BA7517', lineHeight: 1.0, fontFamily: 'STZhongsong', letterSpacing: 2 }}&gt;04&lt;/Text&gt;&#13;&#10;    &lt;Box style={{ width: 46, height: 3, background: '#A32D2D', marginTop: 26 }} /&gt;&#13;&#10;    &lt;Text style={{ fontSize: 54, fontWeight: 'bold', color: '#2C2C2A', lineHeight: 1.3, letterSpacing: 4, marginTop: 26, fontFamily: 'STZhongsong' }}&gt;越考究，越有味道&lt;/Text&gt;&#13;&#10;    &lt;Text style={{ fontSize: 26, color: '#2C2C2A', lineHeight: 1.7, letterSpacing: 2, marginTop: 30, fontFamily: 'STZhongsong' }}&gt;三个细节，一处地图，五条辟谣。&lt;/Text&gt;&#13;&#10;    &lt;Text style={{ fontSize: 15, color: 'rgba(44,44,42,0.55)', letterSpacing: 3, marginTop: 30, fontFamily: 'Microsoft YaHei' }}&gt;座次 · 分餐 · 四十里 · 辟谣&lt;/Text&gt;&#13;&#10;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pic>
        <p:nvPicPr>
          <p:cNvPr id="480" name=""/>
          <p:cNvPicPr>
            <a:picLocks noChangeAspect="1"/>
          </p:cNvPicPr>
          <p:nvPr/>
        </p:nvPicPr>
        <p:blipFill>
          <a:blip r:embed="rId1">
            <a:alphaModFix amt="30000"/>
          </a:blip>
          <a:srcRect l="25791" t="0" r="25791" b="0"/>
          <a:stretch>
            <a:fillRect/>
          </a:stretch>
        </p:blipFill>
        <p:spPr>
          <a:xfrm rot="0" flipH="0" flipV="0">
            <a:off x="123825" y="0"/>
            <a:ext cx="5495925" cy="6858000"/>
          </a:xfrm>
          <a:prstGeom prst="rect">
            <a:avLst/>
          </a:prstGeom>
          <a:ln/>
        </p:spPr>
      </p:pic>
      <p:sp>
        <p:nvSpPr>
          <p:cNvPr id="481" name=""/>
          <p:cNvSpPr/>
          <p:nvPr/>
        </p:nvSpPr>
        <p:spPr>
          <a:xfrm rot="0" flipH="0" flipV="0">
            <a:off x="123825" y="0"/>
            <a:ext cx="5495925" cy="6858000"/>
          </a:xfrm>
          <a:prstGeom prst="rect">
            <a:avLst/>
          </a:prstGeom>
          <a:gradFill>
            <a:gsLst>
              <a:gs pos="0">
                <a:srgbClr val="F6F2E7"/>
              </a:gs>
              <a:gs pos="42000">
                <a:srgbClr val="F6F2E7">
                  <a:alpha val="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57900" y="1543050"/>
            <a:ext cx="55245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 spc="150">
                <a:solidFill>
                  <a:srgbClr val="BA7517"/>
                </a:solidFill>
                <a:latin typeface="STZhongsong"/>
                <a:ea typeface="STZhongsong"/>
              </a:rPr>
              <a:t>04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57900" y="2981325"/>
            <a:ext cx="438150" cy="28575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057900" y="3257550"/>
            <a:ext cx="5524500" cy="8096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050" b="1" spc="300">
                <a:solidFill>
                  <a:srgbClr val="2C2C2A"/>
                </a:solidFill>
                <a:latin typeface="STZhongsong"/>
                <a:ea typeface="STZhongsong"/>
              </a:rPr>
              <a:t>越考究，越有味道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57900" y="4352925"/>
            <a:ext cx="55245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 spc="150">
                <a:solidFill>
                  <a:srgbClr val="2C2C2A"/>
                </a:solidFill>
                <a:latin typeface="STZhongsong"/>
                <a:ea typeface="STZhongsong"/>
              </a:rPr>
              <a:t>三个细节，一处地图，五条辟谣。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057900" y="5153025"/>
            <a:ext cx="552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座次</a:t>
            </a:r>
            <a:r>
              <a:rPr lang="en-US" sz="1125" spc="22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22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分餐</a:t>
            </a:r>
            <a:r>
              <a:rPr lang="en-US" sz="1125" spc="22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22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四十里</a:t>
            </a:r>
            <a:r>
              <a:rPr lang="en-US" sz="1125" spc="22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22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辟谣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89" name="" descr="&lt;Slide notes={`先看座次。《史记》原文是：「项王、项伯东向坐，亚父南向坐，沛公北向坐，张良西向侍。」&#13;&#10;&#13;&#10;翻译一下：项羽坐东面西——最尊贵的位子；范增坐南面北——次尊；刘邦坐北面南——臣子的位子；张良坐西面东——伺候人的位子。&#13;&#10;&#13;&#10;你们看，一个座位就把主臣关系写得明明白白。项羽虽然嘴上说不杀，但座位还是把你放在臣子的位置上——这是一种姿态，也是一种试探。而刘邦呢？老老实实坐了臣位，进一步证明「我没有野心」。更讽刺的是：该出手的人不出手，该坐高位的人乖乖坐着。&#13;&#10;&#13;&#10;再看分餐制——汉代没有圆桌聚餐，每人一张矮案、一套食具，跪坐而食。所以如果拍鸿门宴，摆一张大圆桌就完全错了。&#13;&#10;&#13;&#10;最后看距离——鸿门到刘邦驻军的霸上，不过四十里。四十里，就是刘邦命悬一线的生死距离。他跑回去的时候弃车骑马抄小路狂奔，说明他是真的怕项羽反悔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座次、分餐与那关键的四十里&lt;/Text&gt;&#13;&#10;    &lt;Text style={{ fontSize: 14, color: 'rgba(44,44,42,0.45)', letterSpacing: 2, fontFamily: 'Microsoft YaHei', marginLeft: 8 }}&gt;第四章 · 越考究越有味道&lt;/Text&gt;&#13;&#10;  &lt;/Box&gt;&#13;&#10;&#13;&#10;  &lt;Box style={{ position: 'absolute', left: 64, top: 120, width: 420, height: 540, display: 'flex', flexDirection: 'column', justifyContent: 'space-between' }}&gt;&#13;&#10;    &lt;Box style={{ width: 420, height: 246, overflow: 'hidden' }}&gt;&#13;&#10;      &lt;Image src=&quot;assets/scene_table.png&quot; style={{ width: '100%', height: '100%', objectFit: 'cover' }} /&gt;&#13;&#10;      &lt;Box style={{ position: 'absolute', left: 0, bottom: 0, width: 420, height: 86, background: 'linear-gradient(180deg, rgba(44,44,42,0) 0%, rgba(44,44,42,0.78) 100%)' }} /&gt;&#13;&#10;      &lt;Text style={{ position: 'absolute', left: 22, bottom: 22, fontSize: 14, color: '#F6F2E7', letterSpacing: 2, fontFamily: 'Microsoft YaHei' }}&gt;汉代 · 各人各案，跪坐而食&lt;/Text&gt;&#13;&#10;    &lt;/Box&gt;&#13;&#10;&#13;&#10;    &lt;Box style={{ borderLeft: '3px solid #BA7517', background: 'rgba(44,44,42,0.05)', padding: '16px 18px' }}&gt;&#13;&#10;      &lt;Text style={{ fontSize: 17, fontWeight: 'bold', color: '#2C2C2A', fontFamily: 'STZhongsong' }}&gt;分餐，不是围桌&lt;/Text&gt;&#13;&#10;      &lt;Text style={{ fontSize: 14, color: 'rgba(44,44,42,0.78)', lineHeight: 1.75, marginTop: 8, fontFamily: 'Microsoft YaHei' }}&gt;&#13;&#10;        汉代乃至先秦都是分餐制：每人一张矮案、一套食具，跪坐而食。还原场景若摆一张大圆桌，就完全错了。&#13;&#10;      &lt;/Text&gt;&#13;&#10;    &lt;/Box&gt;&#13;&#10;&#13;&#10;    &lt;Box style={{ borderLeft: '3px solid #A32D2D', background: 'rgba(44,44,42,0.05)', padding: '16px 18px' }}&gt;&#13;&#10;      &lt;Text style={{ fontSize: 17, fontWeight: 'bold', color: '#2C2C2A', fontFamily: 'STZhongsong' }}&gt;四十里的生死距离&lt;/Text&gt;&#13;&#10;      &lt;Text style={{ fontSize: 14, color: 'rgba(44,44,42,0.78)', lineHeight: 1.75, marginTop: 8, fontFamily: 'Microsoft YaHei' }}&gt;&#13;&#10;        鸿门距刘邦驻军的霸上不过四十里——这四十里，就是刘邦命悬一线的生死距离。&#13;&#10;      &lt;/Text&gt;&#13;&#10;    &lt;/Box&gt;&#13;&#10;  &lt;/Box&gt;&#13;&#10;&#13;&#10;  &lt;Box style={{ position: 'absolute', left: 508, top: 120, width: 708, height: 540, display: 'flex', flexDirection: 'column', justifyContent: 'space-between' }}&gt;&#13;&#10;    &lt;Box style={{ display: 'flex', flexDirection: 'row', gap: 18, alignItems: 'stretch' }}&gt;&#13;&#10;      &lt;Box style={{ width: 3, background: '#BA7517' }} /&gt;&#13;&#10;      &lt;Box&gt;&#13;&#10;        &lt;Text style={{ fontSize: 21, fontWeight: 'bold', color: '#2C2C2A', lineHeight: 1.55, letterSpacing: 1, fontFamily: 'STZhongsong' }}&gt;「项王、项伯东向坐，亚父南向坐，沛公北向坐，张良西向侍。」&lt;/Text&gt;&#13;&#10;        &lt;Text style={{ fontSize: 13, color: 'rgba(44,44,42,0.55)', letterSpacing: 1, marginTop: 6, fontFamily: 'Microsoft YaHei' }}&gt;——《史记 · 项羽本纪》&lt;/Text&gt;&#13;&#10;      &lt;/Box&gt;&#13;&#10;    &lt;/Box&gt;&#13;&#10;&#13;&#10;    &lt;Box&gt;&#13;&#10;      &lt;svg width={708} height={272} viewBox=&quot;0 0 698 272&quot;&gt;&#13;&#10;        &lt;rect x=&quot;94&quot; y=&quot;14&quot; width=&quot;480&quot; height=&quot;228&quot; fill=&quot;#FFFFFF&quot; stroke=&quot;#2C2C2A&quot; strokeWidth=&quot;0.5&quot; /&gt;&#13;&#10;        &lt;rect x=&quot;270&quot; y=&quot;98&quot; width=&quot;128&quot; height=&quot;56&quot; fill=&quot;#D9D3C4&quot; /&gt;&#13;&#10;        &lt;text x=&quot;334&quot; y=&quot;132&quot; textAnchor=&quot;middle&quot; fontSize=&quot;14&quot; fill=&quot;rgba(44,44,42,0.62)&quot; fontFamily=&quot;Microsoft YaHei&quot;&gt;军中案几&lt;/text&gt;&#13;&#10;&#13;&#10;        &lt;rect x=&quot;104&quot; y=&quot;78&quot; width=&quot;120&quot; height=&quot;100&quot; fill=&quot;#2C2C2A&quot; /&gt;&#13;&#10;        &lt;text x=&quot;164&quot; y=&quot;118&quot; textAnchor=&quot;middle&quot; fontSize=&quot;16&quot; fill=&quot;#F6F2E7&quot; fontFamily=&quot;STZhongsong&quot; fontWeight=&quot;bold&quot;&gt;项王 · 项伯&lt;/text&gt;&#13;&#10;        &lt;text x=&quot;164&quot; y=&quot;144&quot; textAnchor=&quot;middle&quot; fontSize=&quot;13&quot; fill=&quot;#D9D3C4&quot; fontFamily=&quot;Microsoft YaHei&quot;&gt;东向坐 · 最尊&lt;/text&gt;&#13;&#10;&#13;&#10;        &lt;rect x=&quot;256&quot; y=&quot;24&quot; width=&quot;156&quot; height=&quot;50&quot; fill=&quot;#F6F2E7&quot; stroke=&quot;#2C2C2A&quot; strokeWidth=&quot;0.5&quot; /&gt;&#13;&#10;        &lt;text x=&quot;334&quot; y=&quot;55&quot; textAnchor=&quot;middle&quot; fontSize=&quot;15&quot; fill=&quot;#2C2C2A&quot; fontFamily=&quot;STZhongsong&quot;&gt;亚父 范增 · 南向&lt;/text&gt;&#13;&#10;        &lt;text x=&quot;334&quot; y=&quot;90&quot; textAnchor=&quot;middle&quot; fontSize=&quot;12&quot; fill=&quot;rgba(44,44,42,0.55)&quot; fontFamily=&quot;Microsoft YaHei&quot;&gt;次尊&lt;/text&gt;&#13;&#10;&#13;&#10;        &lt;rect x=&quot;256&quot; y=&quot;182&quot; width=&quot;156&quot; height=&quot;50&quot; fill=&quot;#F6F2E7&quot; stroke=&quot;#2C2C2A&quot; strokeWidth=&quot;0.5&quot; /&gt;&#13;&#10;        &lt;text x=&quot;334&quot; y=&quot;204&quot; textAnchor=&quot;middle&quot; fontSize=&quot;15&quot; fill=&quot;#2C2C2A&quot; fontFamily=&quot;STZhongsong&quot;&gt;沛公 刘邦 · 北向&lt;/text&gt;&#13;&#10;        &lt;text x=&quot;334&quot; y=&quot;224&quot; textAnchor=&quot;middle&quot; fontSize=&quot;12&quot; fill=&quot;rgba(44,44,42,0.62)&quot; fontFamily=&quot;Microsoft YaHei&quot;&gt;臣位&lt;/text&gt;&#13;&#10;&#13;&#10;        &lt;rect x=&quot;444&quot; y=&quot;78&quot; width=&quot;120&quot; height=&quot;100&quot; fill=&quot;#F6F2E7&quot; stroke=&quot;#2C2C2A&quot; strokeWidth=&quot;0.5&quot; /&gt;&#13;&#10;        &lt;text x=&quot;504&quot; y=&quot;118&quot; textAnchor=&quot;middle&quot; fontSize=&quot;16&quot; fill=&quot;#2C2C2A&quot; fontFamily=&quot;STZhongsong&quot; fontWeight=&quot;bold&quot;&gt;张良&lt;/text&gt;&#13;&#10;        &lt;text x=&quot;504&quot; y=&quot;144&quot; textAnchor=&quot;middle&quot; fontSize=&quot;13&quot; fill=&quot;rgba(44,44,42,0.62)&quot; fontFamily=&quot;Microsoft YaHei&quot;&gt;西向侍&lt;/text&gt;&#13;&#10;&#13;&#10;        &lt;text x=&quot;600&quot; y=&quot;30&quot; fontSize=&quot;13&quot; fill=&quot;rgba(44,44,42,0.5)&quot; fontFamily=&quot;Microsoft YaHei&quot;&gt;北&lt;/text&gt;&#13;&#10;        &lt;text x=&quot;600&quot; y=&quot;240&quot; fontSize=&quot;13&quot; fill=&quot;rgba(44,44,42,0.5)&quot; fontFamily=&quot;Microsoft YaHei&quot;&gt;南&lt;/text&gt;&#13;&#10;        &lt;text x=&quot;64&quot; y=&quot;240&quot; fontSize=&quot;13&quot; fill=&quot;rgba(44,44,42,0.5)&quot; fontFamily=&quot;Microsoft YaHei&quot;&gt;西&lt;/text&gt;&#13;&#10;        &lt;text x=&quot;596&quot; y=&quot;126&quot; fontSize=&quot;13&quot; fill=&quot;rgba(44,44,42,0.5)&quot; fontFamily=&quot;Microsoft YaHei&quot;&gt;东&lt;/text&gt;&#13;&#10;      &lt;/svg&gt;&#13;&#10;      &lt;Text style={{ fontSize: 13, color: 'rgba(44,44,42,0.55)', letterSpacing: 1, marginTop: 6, fontFamily: 'Microsoft YaHei' }}&gt;军帐座次方位图 · 一个座位，就把主臣写得明明白白&lt;/Text&gt;&#13;&#10;    &lt;/Box&gt;&#13;&#10;&#13;&#10;    &lt;Box style={{ background: '#FFFFFF', border: '0.5px solid #D9D3C4', padding: '16px 20px' }}&gt;&#13;&#10;      &lt;Text style={{ fontSize: 16, fontWeight: 'bold', color: '#2C2C2A', fontFamily: 'STZhongsong' }}&gt;一个座位，也是一次试探&lt;/Text&gt;&#13;&#10;      &lt;Text style={{ fontSize: 14, color: 'rgba(44,44,42,0.78)', lineHeight: 1.75, marginTop: 8, fontFamily: 'Microsoft YaHei' }}&gt;&#13;&#10;        东向最尊、南向次尊、北向是臣位、西向是侍从位。项羽嘴上说不杀刘邦，座位却仍把他放在臣位——这是姿态，也是试探；而刘邦老老实实坐了臣位，进一步证明「我没有野心」。最讽刺的是：该出手的人不出手，该坐高位的人乖乖坐着。&#13;&#10;      &lt;/Text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3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415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座次、分餐与那关键的四十里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5153025" y="48577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第四章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越考究越有味道</a:t>
            </a:r>
            <a:endParaRPr/>
          </a:p>
        </p:txBody>
      </p:sp>
      <p:pic>
        <p:nvPicPr>
          <p:cNvPr id="496" name=""/>
          <p:cNvPicPr>
            <a:picLocks noChangeAspect="1"/>
          </p:cNvPicPr>
          <p:nvPr/>
        </p:nvPicPr>
        <p:blipFill>
          <a:blip r:embed="rId1"/>
          <a:srcRect l="0" t="1527" r="0" b="1527"/>
          <a:stretch>
            <a:fillRect/>
          </a:stretch>
        </p:blipFill>
        <p:spPr>
          <a:xfrm rot="0" flipH="0" flipV="0">
            <a:off x="609600" y="1143000"/>
            <a:ext cx="4000500" cy="2343150"/>
          </a:xfrm>
          <a:prstGeom prst="rect">
            <a:avLst/>
          </a:prstGeom>
          <a:ln/>
        </p:spPr>
      </p:pic>
      <p:sp>
        <p:nvSpPr>
          <p:cNvPr id="497" name=""/>
          <p:cNvSpPr/>
          <p:nvPr/>
        </p:nvSpPr>
        <p:spPr>
          <a:xfrm rot="0" flipH="0" flipV="0">
            <a:off x="638175" y="3743325"/>
            <a:ext cx="4000500" cy="1143000"/>
          </a:xfrm>
          <a:prstGeom prst="rect">
            <a:avLst/>
          </a:prstGeom>
          <a:solidFill>
            <a:srgbClr val="2C2C2A">
              <a:alpha val="5000"/>
            </a:srgbClr>
          </a:solidFill>
          <a:ln/>
        </p:spPr>
        <p:txBody>
          <a:bodyPr/>
          <a:p/>
        </p:txBody>
      </p:sp>
      <p:sp>
        <p:nvSpPr>
          <p:cNvPr id="498" name=""/>
          <p:cNvSpPr/>
          <p:nvPr/>
        </p:nvSpPr>
        <p:spPr>
          <a:xfrm rot="0" flipH="0" flipV="0">
            <a:off x="609600" y="3743325"/>
            <a:ext cx="4029075" cy="1143000"/>
          </a:xfrm>
          <a:custGeom>
            <a:pathLst>
              <a:path w="423" h="120">
                <a:moveTo>
                  <a:pt x="0" y="0"/>
                </a:moveTo>
                <a:lnTo>
                  <a:pt x="3" y="0"/>
                </a:lnTo>
                <a:lnTo>
                  <a:pt x="3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09625" y="3895725"/>
            <a:ext cx="3629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分餐，不是围桌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09625" y="4171950"/>
            <a:ext cx="3629025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汉代乃至先秦都是分餐制：每人一张矮案、一套食具，跪坐而食。还原场景若摆一张大圆桌，就完全错了。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38175" y="5143500"/>
            <a:ext cx="4000500" cy="1143000"/>
          </a:xfrm>
          <a:prstGeom prst="rect">
            <a:avLst/>
          </a:prstGeom>
          <a:solidFill>
            <a:srgbClr val="2C2C2A">
              <a:alpha val="5000"/>
            </a:srgbClr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609600" y="5143500"/>
            <a:ext cx="4029075" cy="1143000"/>
          </a:xfrm>
          <a:custGeom>
            <a:pathLst>
              <a:path w="423" h="120">
                <a:moveTo>
                  <a:pt x="0" y="0"/>
                </a:moveTo>
                <a:lnTo>
                  <a:pt x="3" y="0"/>
                </a:lnTo>
                <a:lnTo>
                  <a:pt x="3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09625" y="5295900"/>
            <a:ext cx="3629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四十里的生死距离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09625" y="5572125"/>
            <a:ext cx="3629025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鸿门距刘邦驻军的霸上不过四十里——这四十里，就是刘邦命悬一线的生死距离。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09600" y="2667000"/>
            <a:ext cx="4000500" cy="819150"/>
          </a:xfrm>
          <a:prstGeom prst="rect">
            <a:avLst/>
          </a:prstGeom>
          <a:gradFill>
            <a:gsLst>
              <a:gs pos="0">
                <a:srgbClr val="2C2C2A">
                  <a:alpha val="0"/>
                </a:srgbClr>
              </a:gs>
              <a:gs pos="100000">
                <a:srgbClr val="2C2C2A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19150" y="31146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F6F2E7"/>
                </a:solidFill>
                <a:latin typeface="Microsoft YaHei"/>
                <a:ea typeface="Microsoft YaHei"/>
              </a:rPr>
              <a:t>汉代</a:t>
            </a:r>
            <a:r>
              <a:rPr lang="en-US" sz="1050" spc="150">
                <a:solidFill>
                  <a:srgbClr val="F6F2E7"/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F6F2E7"/>
                </a:solidFill>
                <a:latin typeface="Microsoft YaHei"/>
                <a:ea typeface="Microsoft YaHei"/>
              </a:rPr>
              <a:t>各人各案，跪坐而食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4838700" y="1143000"/>
            <a:ext cx="28575" cy="5905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038725" y="1143000"/>
            <a:ext cx="6076950" cy="381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75" b="1" spc="75">
                <a:solidFill>
                  <a:srgbClr val="2C2C2A"/>
                </a:solidFill>
                <a:latin typeface="STZhongsong"/>
                <a:ea typeface="STZhongsong"/>
              </a:rPr>
              <a:t>「项王、项伯东向坐，亚父南向坐，沛公北向坐，张良西向侍。」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038725" y="1581150"/>
            <a:ext cx="607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——《史记</a:t>
            </a:r>
            <a:r>
              <a:rPr lang="en-US" sz="975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项羽本纪》</a:t>
            </a:r>
            <a:endParaRPr/>
          </a:p>
        </p:txBody>
      </p:sp>
      <p:pic>
        <p:nvPicPr>
          <p:cNvPr id="5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38700" y="1905000"/>
            <a:ext cx="6743700" cy="2590800"/>
          </a:xfrm>
          <a:prstGeom prst="rect">
            <a:avLst/>
          </a:prstGeom>
          <a:ln/>
        </p:spPr>
      </p:pic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838700" y="4552950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军帐座次方位图</a:t>
            </a:r>
            <a:r>
              <a:rPr lang="en-US" sz="975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一个座位，就把主臣写得明明白白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4838700" y="4867275"/>
            <a:ext cx="6743700" cy="14192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029200" y="5019675"/>
            <a:ext cx="636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一个座位，也是一次试探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029200" y="5286375"/>
            <a:ext cx="63627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东向最尊、南向次尊、北向是臣位、西向是侍从位。项羽嘴上说不杀刘邦，座位却仍把他放在臣位——这是姿态，也是试探；而刘邦老老实实坐了臣位，进一步证明「我没有野心」。最讽刺的是：该出手的人不出手，该坐高位的人乖乖坐着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23 / 32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18" name="" descr="&lt;Slide notes={`好，辟谣时间。&#13;&#10;&#13;&#10;第一条——很多人以为鸿门宴上有韩信持戟护卫刘邦，这是错的。&#13;&#10;&#13;&#10;《史记·项羽本纪》里，鸿门宴的核心武将只有项庄、项伯、樊哙，全无韩信救主的记载。韩信当时确实做过「郎中」，但没受重用，后来才投奔刘邦。&#13;&#10;&#13;&#10;把他塞进鸿门宴，是后世演绎——因为他太有名，观众需要「熟人」。分清楚这一点，反而显得严谨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A32D2D' }} /&gt;&#13;&#10;    &lt;Text style={{ fontSize: 22, fontWeight: 'bold', color: '#A32D2D', letterSpacing: 2, fontFamily: 'STZhongsong' }}&gt;辟谣 ①&lt;/Text&gt;&#13;&#10;    &lt;Text style={{ fontSize: 32, fontWeight: 'bold', color: '#2C2C2A', letterSpacing: 1.5, fontFamily: 'STZhongsong' }}&gt;持戟郎中是韩信？&lt;/Text&gt;&#13;&#10;    &lt;Text style={{ fontSize: 14, color: 'rgba(44,44,42,0.45)', letterSpacing: 2, fontFamily: 'Microsoft YaHei', marginLeft: 'auto' }}&gt;第四章 · 越考究越有味道&lt;/Text&gt;&#13;&#10;  &lt;/Box&gt;&#13;&#10;&#13;&#10;  &lt;Box style={{ position: 'absolute', left: 64, top: 124, width: 348, height: 516, background: '#2C2C2A', display: 'flex', flexDirection: 'column', alignItems: 'center', justifyContent: 'center' }}&gt;&#13;&#10;    &lt;Text style={{ fontSize: 18, letterSpacing: 8, color: 'rgba(246,242,231,0.5)', fontFamily: 'Microsoft YaHei' }}&gt;此 说 为&lt;/Text&gt;&#13;&#10;    &lt;Text style={{ fontSize: 150, fontWeight: 'bold', color: '#A32D2D', lineHeight: 1.1, marginTop: 8, fontFamily: 'STZhongsong' }}&gt;误&lt;/Text&gt;&#13;&#10;    &lt;Box style={{ width: 60, height: 3, background: '#BA7517', marginTop: 20 }} /&gt;&#13;&#10;    &lt;Text style={{ fontSize: 14, color: 'rgba(246,242,231,0.62)', letterSpacing: 2, marginTop: 20, textAlign: 'center', lineHeight: 1.8, fontFamily: 'Microsoft YaHei' }}&gt;无正史依据&lt;br /&gt;纯属后世演绎&lt;/Text&gt;&#13;&#10;  &lt;/Box&gt;&#13;&#10;&#13;&#10;  &lt;Box style={{ position: 'absolute', left: 448, top: 124, width: 768, height: 516, display: 'flex', flexDirection: 'column', justifyContent: 'space-between' }}&gt;&#13;&#10;&#13;&#10;    &lt;Box style={{ background: '#FFFFFF', border: '0.5px solid #D9D3C4', boxShadow: '0 4px 20px rgba(44,44,42,0.08)', padding: '20px 24px' }}&gt;&#13;&#10;      &lt;Box style={{ display: 'flex', flexDirection: 'row', alignItems: 'center', gap: 10 }}&gt;&#13;&#10;        &lt;Box style={{ width: 3, height: 18, background: '#D9D3C4' }} /&gt;&#13;&#10;        &lt;Text style={{ fontSize: 14, letterSpacing: 2, color: 'rgba(44,44,42,0.5)', fontWeight: 'bold', fontFamily: 'Microsoft YaHei' }}&gt;影视里的版本&lt;/Text&gt;&#13;&#10;      &lt;/Box&gt;&#13;&#10;      &lt;Text style={{ fontSize: 16, color: 'rgba(44,44,42,0.8)', lineHeight: 1.85, marginTop: 10, fontFamily: 'Microsoft YaHei' }}&gt;&#13;&#10;        鸿门宴上，帐外持戟护卫刘邦的郎中正是韩信；他因此结识刘邦，后来才有登坛拜将、明修栈道暗度陈仓。&#13;&#10;      &lt;/Text&gt;&#13;&#10;    &lt;/Box&gt;&#13;&#10;&#13;&#10;    &lt;Box style={{ background: '#FFFFFF', border: '0.5px solid #D9D3C4', boxShadow: '0 4px 20px rgba(44,44,42,0.08)', padding: '20px 24px' }}&gt;&#13;&#10;      &lt;Box style={{ display: 'flex', flexDirection: 'row', alignItems: 'center', gap: 10 }}&gt;&#13;&#10;        &lt;Box style={{ width: 3, height: 18, background: '#BA7517' }} /&gt;&#13;&#10;        &lt;Text style={{ fontSize: 14, letterSpacing: 2, color: '#BA7517', fontWeight: 'bold', fontFamily: 'Microsoft YaHei' }}&gt;《史记》里的事实&lt;/Text&gt;&#13;&#10;      &lt;/Box&gt;&#13;&#10;      &lt;Text style={{ fontSize: 16, color: 'rgba(44,44,42,0.8)', lineHeight: 1.85, marginTop: 10, fontFamily: 'Microsoft YaHei' }}&gt;&#13;&#10;        《史记·项羽本纪》里，鸿门宴的核心武将只有&lt;span style={{ fontWeight: 'bold', color: '#2C2C2A' }}&gt;项庄、项伯、樊哙&lt;/span&gt;，全无韩信救主的记载。韩信确实做过「郎中」，但未受重用，后来才投奔刘邦。&#13;&#10;      &lt;/Text&gt;&#13;&#10;    &lt;/Box&gt;&#13;&#10;&#13;&#10;    &lt;Box style={{ background: '#FFFFFF', border: '0.5px solid #D9D3C4', boxShadow: '0 4px 20px rgba(44,44,42,0.08)', padding: '20px 24px' }}&gt;&#13;&#10;      &lt;Box style={{ display: 'flex', flexDirection: 'row', alignItems: 'center', gap: 10 }}&gt;&#13;&#10;        &lt;Box style={{ width: 3, height: 18, background: '#A32D2D' }} /&gt;&#13;&#10;        &lt;Text style={{ fontSize: 14, letterSpacing: 2, color: '#A32D2D', fontWeight: 'bold', fontFamily: 'Microsoft YaHei' }}&gt;为什么会编进来&lt;/Text&gt;&#13;&#10;      &lt;/Box&gt;&#13;&#10;      &lt;Text style={{ fontSize: 16, color: 'rgba(44,44,42,0.8)', lineHeight: 1.85, marginTop: 10, fontFamily: 'Microsoft YaHei' }}&gt;&#13;&#10;        因为他太有名。把韩信塞进鸿门宴，是后世演绎与影视剧的「熟人效应」——但《史记》里，那一天他不在场。&#13;&#10;      &lt;/Text&gt;&#13;&#10;    &lt;/Box&gt;&#13;&#10;&#13;&#10;    &lt;Box style={{ background: 'rgba(44,44,42,0.06)', borderLeft: '3px solid #A32D2D', padding: '16px 22px' }}&gt;&#13;&#10;      &lt;Text style={{ fontSize: 17, fontWeight: 'bold', color: '#2C2C2A', lineHeight: 1.6, fontFamily: 'Microsoft YaHei' }}&gt;&#13;&#10;        结论：正史里，鸿门宴上并没有韩信。&#13;&#10;      &lt;/Text&gt;&#13;&#10;    &lt;/Box&gt;&#13;&#10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4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90575" y="438150"/>
            <a:ext cx="781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A32D2D"/>
                </a:solidFill>
                <a:latin typeface="STZhongsong"/>
                <a:ea typeface="STZhongsong"/>
              </a:rPr>
              <a:t>辟谣</a:t>
            </a:r>
            <a:r>
              <a:rPr lang="en-US" sz="1650" b="1" spc="150">
                <a:solidFill>
                  <a:srgbClr val="A32D2D"/>
                </a:solidFill>
                <a:latin typeface="STZhongsong"/>
                <a:ea typeface="STZhongsong"/>
              </a:rPr>
              <a:t> ①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704975" y="381000"/>
            <a:ext cx="25527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持戟郎中是韩信？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391025" y="48577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第四章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越考究越有味道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09600" y="1181100"/>
            <a:ext cx="3314700" cy="49149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771650" y="2057400"/>
            <a:ext cx="1000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600">
                <a:solidFill>
                  <a:srgbClr val="F6F2E7">
                    <a:alpha val="50000"/>
                  </a:srgbClr>
                </a:solidFill>
                <a:latin typeface="Microsoft YaHei"/>
                <a:ea typeface="Microsoft YaHei"/>
              </a:rPr>
              <a:t>此</a:t>
            </a:r>
            <a:r>
              <a:rPr lang="en-US" sz="1350" spc="600">
                <a:solidFill>
                  <a:srgbClr val="F6F2E7">
                    <a:alpha val="5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350" spc="600">
                <a:solidFill>
                  <a:srgbClr val="F6F2E7">
                    <a:alpha val="50000"/>
                  </a:srgbClr>
                </a:solidFill>
                <a:latin typeface="Microsoft YaHei"/>
                <a:ea typeface="Microsoft YaHei"/>
              </a:rPr>
              <a:t>说</a:t>
            </a:r>
            <a:r>
              <a:rPr lang="en-US" sz="1350" spc="600">
                <a:solidFill>
                  <a:srgbClr val="F6F2E7">
                    <a:alpha val="5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350" spc="600">
                <a:solidFill>
                  <a:srgbClr val="F6F2E7">
                    <a:alpha val="50000"/>
                  </a:srgbClr>
                </a:solidFill>
                <a:latin typeface="Microsoft YaHei"/>
                <a:ea typeface="Microsoft YaHei"/>
              </a:rPr>
              <a:t>为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552575" y="2343150"/>
            <a:ext cx="1428750" cy="18859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11250" b="1">
                <a:solidFill>
                  <a:srgbClr val="A32D2D"/>
                </a:solidFill>
                <a:latin typeface="STZhongsong"/>
                <a:ea typeface="STZhongsong"/>
              </a:rPr>
              <a:t>误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1981200" y="4419600"/>
            <a:ext cx="57150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809750" y="4638675"/>
            <a:ext cx="914400" cy="58102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050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无正史依据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050" spc="150">
                <a:solidFill>
                  <a:srgbClr val="F6F2E7">
                    <a:alpha val="62000"/>
                  </a:srgbClr>
                </a:solidFill>
                <a:latin typeface="Microsoft YaHei"/>
                <a:ea typeface="Microsoft YaHei"/>
              </a:rPr>
              <a:t>纯属后世演绎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4267200" y="1181100"/>
            <a:ext cx="7315200" cy="13335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2" name=""/>
          <p:cNvSpPr/>
          <p:nvPr/>
        </p:nvSpPr>
        <p:spPr>
          <a:xfrm rot="0" flipH="0" flipV="0">
            <a:off x="4495800" y="1371600"/>
            <a:ext cx="28575" cy="17145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619625" y="138112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C2C2A">
                    <a:alpha val="50000"/>
                  </a:srgbClr>
                </a:solidFill>
                <a:latin typeface="Microsoft YaHei"/>
                <a:ea typeface="Microsoft YaHei"/>
              </a:rPr>
              <a:t>影视里的版本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4495800" y="1638300"/>
            <a:ext cx="6858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鸿门宴上，帐外持戟护卫刘邦的郎中正是韩信；他因此结识刘邦，后来才有登坛拜将、明修栈道暗度陈仓。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267200" y="2609850"/>
            <a:ext cx="7315200" cy="13335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4495800" y="2800350"/>
            <a:ext cx="28575" cy="1714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619625" y="280987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A7517"/>
                </a:solidFill>
                <a:latin typeface="Microsoft YaHei"/>
                <a:ea typeface="Microsoft YaHei"/>
              </a:rPr>
              <a:t>《史记》里的事实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495800" y="3067050"/>
            <a:ext cx="6858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《史记·项羽本纪》里，鸿门宴的核心武将只有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项庄、项伯、樊哙</a:t>
            </a: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，全无韩信救主的记载。韩信确实做过「郎中」，但未受重用，后来才投奔刘邦。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4267200" y="4048125"/>
            <a:ext cx="7315200" cy="13335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4495800" y="4238625"/>
            <a:ext cx="28575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19625" y="42481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A32D2D"/>
                </a:solidFill>
                <a:latin typeface="Microsoft YaHei"/>
                <a:ea typeface="Microsoft YaHei"/>
              </a:rPr>
              <a:t>为什么会编进来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4495800" y="4505325"/>
            <a:ext cx="6858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因为他太有名。把韩信塞进鸿门宴，是后世演绎与影视剧的「熟人效应」——但《史记》里，那一天他不在场。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4295775" y="5476875"/>
            <a:ext cx="7315200" cy="61912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4267200" y="5476875"/>
            <a:ext cx="7343775" cy="619125"/>
          </a:xfrm>
          <a:custGeom>
            <a:pathLst>
              <a:path w="771" h="65">
                <a:moveTo>
                  <a:pt x="0" y="0"/>
                </a:moveTo>
                <a:lnTo>
                  <a:pt x="3" y="0"/>
                </a:lnTo>
                <a:lnTo>
                  <a:pt x="3" y="65"/>
                </a:lnTo>
                <a:lnTo>
                  <a:pt x="0" y="65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4505325" y="5629275"/>
            <a:ext cx="68675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结论：正史里，鸿门宴上并没有韩信。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24 / 32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49" name="" descr="&lt;Slide notes={`第二条——陈平给两边倒酒？这也是影视剧编的。&#13;&#10;&#13;&#10;戏里他端茶斟酒，给项羽倒满、给刘邦少倒，暗示他「早就看穿项羽要黄」。&#13;&#10;&#13;&#10;但翻遍《史记》，陈平在鸿门宴上只有一个镜头：刘邦跑了之后，「项王使都尉陈平召沛公」——是项羽派他去叫刘邦回来的。&#13;&#10;&#13;&#10;倒酒那段？那是导演的艺术加工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A32D2D' }} /&gt;&#13;&#10;    &lt;Text style={{ fontSize: 22, fontWeight: 'bold', color: '#A32D2D', letterSpacing: 2, fontFamily: 'STZhongsong' }}&gt;辟谣 ②&lt;/Text&gt;&#13;&#10;    &lt;Text style={{ fontSize: 32, fontWeight: 'bold', color: '#2C2C2A', letterSpacing: 1.5, fontFamily: 'STZhongsong' }}&gt;陈平给两边倒过酒？&lt;/Text&gt;&#13;&#10;    &lt;Text style={{ fontSize: 14, color: 'rgba(44,44,42,0.45)', letterSpacing: 2, fontFamily: 'Microsoft YaHei', marginLeft: 'auto' }}&gt;第四章 · 越考究越有味道&lt;/Text&gt;&#13;&#10;  &lt;/Box&gt;&#13;&#10;&#13;&#10;  &lt;Box style={{ position: 'absolute', left: 64, top: 124, width: 556, height: 460, background: '#FFFFFF', border: '0.5px solid #D9D3C4', boxShadow: '0 4px 20px rgba(44,44,42,0.08)', padding: '26px 28px', display: 'flex', flexDirection: 'column' }}&gt;&#13;&#10;    &lt;Box style={{ display: 'flex', flexDirection: 'row', alignItems: 'center', gap: 12 }}&gt;&#13;&#10;      &lt;Box style={{ width: 30, height: 30, background: '#D9D3C4', display: 'flex', alignItems: 'center', justifyContent: 'center' }}&gt;&#13;&#10;        &lt;Text style={{ fontSize: 14, color: '#2C2C2A', fontWeight: 'bold', fontFamily: 'Microsoft YaHei' }}&gt;戏&lt;/Text&gt;&#13;&#10;      &lt;/Box&gt;&#13;&#10;      &lt;Text style={{ fontSize: 22, fontWeight: 'bold', color: 'rgba(44,44,42,0.7)', letterSpacing: 2, fontFamily: 'STZhongsong' }}&gt;影视剧里的名场面&lt;/Text&gt;&#13;&#10;    &lt;/Box&gt;&#13;&#10;    &lt;Box style={{ width: '100%', height: 0.5, background: '#D9D3C4', marginTop: 18 }} /&gt;&#13;&#10;    &lt;Text style={{ fontSize: 16, color: 'rgba(44,44,42,0.72)', lineHeight: 1.95, marginTop: 20, fontFamily: 'Microsoft YaHei' }}&gt;&#13;&#10;      陈平端茶斟酒，给项羽倒得满满当当，给刘邦只倒浅浅一点——暗示他早就看穿项羽要输，提前给刘邦留了面子。&#13;&#10;    &lt;/Text&gt;&#13;&#10;    &lt;Box style={{ marginTop: 'auto', display: 'flex', flexDirection: 'row', alignItems: 'center', gap: 10, background: 'rgba(44,44,42,0.05)', padding: '14px 18px' }}&gt;&#13;&#10;      &lt;Box style={{ width: 10, height: 10, background: '#D9D3C4' }} /&gt;&#13;&#10;      &lt;Text style={{ fontSize: 15, color: 'rgba(44,44,42,0.7)', fontFamily: 'Microsoft YaHei' }}&gt;这是编剧给他的「先知」人设。&lt;/Text&gt;&#13;&#10;    &lt;/Box&gt;&#13;&#10;  &lt;/Box&gt;&#13;&#10;&#13;&#10;  &lt;Box style={{ position: 'absolute', left: 660, top: 124, width: 556, height: 460, background: '#FFFFFF', border: '0.5px solid #BA7517', boxShadow: '0 4px 20px rgba(44,44,42,0.08)', padding: '26px 28px', display: 'flex', flexDirection: 'column' }}&gt;&#13;&#10;    &lt;Box style={{ display: 'flex', flexDirection: 'row', alignItems: 'center', gap: 12 }}&gt;&#13;&#10;      &lt;Box style={{ width: 30, height: 30, background: '#BA7517', display: 'flex', alignItems: 'center', justifyContent: 'center' }}&gt;&#13;&#10;        &lt;Text style={{ fontSize: 14, color: '#F6F2E7', fontWeight: 'bold', fontFamily: 'Microsoft YaHei' }}&gt;史&lt;/Text&gt;&#13;&#10;      &lt;/Box&gt;&#13;&#10;      &lt;Text style={{ fontSize: 22, fontWeight: 'bold', color: '#2C2C2A', letterSpacing: 2, fontFamily: 'STZhongsong' }}&gt;《史记》里他唯一的镜头&lt;/Text&gt;&#13;&#10;    &lt;/Box&gt;&#13;&#10;    &lt;Box style={{ width: '100%', height: 0.5, background: '#D9D3C4', marginTop: 18 }} /&gt;&#13;&#10;    &lt;Text style={{ fontSize: 16, color: 'rgba(44,44,42,0.8)', lineHeight: 1.95, marginTop: 20, fontFamily: 'Microsoft YaHei' }}&gt;&#13;&#10;      刘邦遁走之后——「&lt;span style={{ fontWeight: 'bold', color: '#2C2C2A' }}&gt;项王使都尉陈平召沛公&lt;/span&gt;」。&#13;&#10;    &lt;/Text&gt;&#13;&#10;    &lt;Text style={{ fontSize: 16, color: 'rgba(44,44,42,0.72)', lineHeight: 1.95, marginTop: 12, fontFamily: 'Microsoft YaHei' }}&gt;&#13;&#10;      也就是说，他这时还在项羽这边当差，是项羽派他去叫刘邦回来的。整场宴席，他没有端过一杯酒。&#13;&#10;    &lt;/Text&gt;&#13;&#10;    &lt;Box style={{ marginTop: 'auto', display: 'flex', flexDirection: 'row', alignItems: 'center', gap: 10, background: 'rgba(186,117,23,0.08)', padding: '14px 18px' }}&gt;&#13;&#10;      &lt;Box style={{ width: 10, height: 10, background: '#BA7517' }} /&gt;&#13;&#10;      &lt;Text style={{ fontSize: 15, color: 'rgba(44,44,42,0.8)', fontFamily: 'Microsoft YaHei' }}&gt;陈平后来确实投奔了刘邦——但那是之后的事。&lt;/Text&gt;&#13;&#10;    &lt;/Box&gt;&#13;&#10;  &lt;/Box&gt;&#13;&#10;&#13;&#10;  &lt;Box style={{ position: 'absolute', left: 64, top: 606, width: 1152, background: 'rgba(44,44,42,0.06)', borderLeft: '3px solid #A32D2D', padding: '16px 22px', display: 'flex', flexDirection: 'row', alignItems: 'center', gap: 12 }}&gt;&#13;&#10;    &lt;Box style={{ width: 12, height: 12, background: '#A32D2D' }} /&gt;&#13;&#10;    &lt;Text style={{ fontSize: 17, fontWeight: 'bold', color: '#2C2C2A', lineHeight: 1.6, fontFamily: 'Microsoft YaHei' }}&gt;&#13;&#10;      结论：倒酒一幕是导演的艺术加工，不是史实。&#13;&#10;    &lt;/Text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5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90575" y="438150"/>
            <a:ext cx="781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A32D2D"/>
                </a:solidFill>
                <a:latin typeface="STZhongsong"/>
                <a:ea typeface="STZhongsong"/>
              </a:rPr>
              <a:t>辟谣</a:t>
            </a:r>
            <a:r>
              <a:rPr lang="en-US" sz="1650" b="1" spc="150">
                <a:solidFill>
                  <a:srgbClr val="A32D2D"/>
                </a:solidFill>
                <a:latin typeface="STZhongsong"/>
                <a:ea typeface="STZhongsong"/>
              </a:rPr>
              <a:t> ②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704975" y="381000"/>
            <a:ext cx="2876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陈平给两边倒过酒？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4714875" y="48577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第四章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越考究越有味道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1181100"/>
            <a:ext cx="5295900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876300" y="1428750"/>
            <a:ext cx="285750" cy="28575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52500" y="14954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C2C2A"/>
                </a:solidFill>
                <a:latin typeface="Microsoft YaHei"/>
                <a:ea typeface="Microsoft YaHei"/>
              </a:rPr>
              <a:t>戏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276350" y="1447800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2C2C2A">
                    <a:alpha val="70000"/>
                  </a:srgbClr>
                </a:solidFill>
                <a:latin typeface="STZhongsong"/>
                <a:ea typeface="STZhongsong"/>
              </a:rPr>
              <a:t>影视剧里的名场面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876300" y="1885950"/>
            <a:ext cx="47625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76300" y="2085975"/>
            <a:ext cx="4762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200">
                <a:solidFill>
                  <a:srgbClr val="2C2C2A">
                    <a:alpha val="72000"/>
                  </a:srgbClr>
                </a:solidFill>
                <a:latin typeface="Microsoft YaHei"/>
                <a:ea typeface="Microsoft YaHei"/>
              </a:rPr>
              <a:t>陈平端茶斟酒，给项羽倒得满满当当，给刘邦只倒浅浅一点——暗示他早就看穿项羽要输，提前给刘邦留了面子。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876300" y="4876800"/>
            <a:ext cx="4762500" cy="438150"/>
          </a:xfrm>
          <a:prstGeom prst="rect">
            <a:avLst/>
          </a:prstGeom>
          <a:solidFill>
            <a:srgbClr val="2C2C2A">
              <a:alpha val="5000"/>
            </a:srgbClr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1047750" y="5048250"/>
            <a:ext cx="95250" cy="9525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238250" y="50101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70000"/>
                  </a:srgbClr>
                </a:solidFill>
                <a:latin typeface="Microsoft YaHei"/>
                <a:ea typeface="Microsoft YaHei"/>
              </a:rPr>
              <a:t>这是编剧给他的「先知」人设。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6286500" y="1181100"/>
            <a:ext cx="5295900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BA7517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6553200" y="1428750"/>
            <a:ext cx="285750" cy="2857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629400" y="14954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6F2E7"/>
                </a:solidFill>
                <a:latin typeface="Microsoft YaHei"/>
                <a:ea typeface="Microsoft YaHei"/>
              </a:rPr>
              <a:t>史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953250" y="1447800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2C2C2A"/>
                </a:solidFill>
                <a:latin typeface="STZhongsong"/>
                <a:ea typeface="STZhongsong"/>
              </a:rPr>
              <a:t>《史记》里他唯一的镜头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553200" y="1885950"/>
            <a:ext cx="47625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553200" y="2085975"/>
            <a:ext cx="4762500" cy="3619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刘邦遁走之后——「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项王使都尉陈平召沛公</a:t>
            </a: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」。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553200" y="2562225"/>
            <a:ext cx="4762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200">
                <a:solidFill>
                  <a:srgbClr val="2C2C2A">
                    <a:alpha val="72000"/>
                  </a:srgbClr>
                </a:solidFill>
                <a:latin typeface="Microsoft YaHei"/>
                <a:ea typeface="Microsoft YaHei"/>
              </a:rPr>
              <a:t>也就是说，他这时还在项羽这边当差，是项羽派他去叫刘邦回来的。整场宴席，他没有端过一杯酒。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553200" y="4876800"/>
            <a:ext cx="4762500" cy="438150"/>
          </a:xfrm>
          <a:prstGeom prst="rect">
            <a:avLst/>
          </a:prstGeom>
          <a:solidFill>
            <a:srgbClr val="BA7517">
              <a:alpha val="8000"/>
            </a:srgbClr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6724650" y="5048250"/>
            <a:ext cx="95250" cy="952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915150" y="5010150"/>
            <a:ext cx="302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陈平后来确实投奔了刘邦——但那是之后的事。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38175" y="5772150"/>
            <a:ext cx="10944225" cy="61912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609600" y="5772150"/>
            <a:ext cx="10972800" cy="619125"/>
          </a:xfrm>
          <a:custGeom>
            <a:pathLst>
              <a:path w="1152" h="65">
                <a:moveTo>
                  <a:pt x="0" y="0"/>
                </a:moveTo>
                <a:lnTo>
                  <a:pt x="3" y="0"/>
                </a:lnTo>
                <a:lnTo>
                  <a:pt x="3" y="65"/>
                </a:lnTo>
                <a:lnTo>
                  <a:pt x="0" y="65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847725" y="602932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76325" y="5924550"/>
            <a:ext cx="34004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结论：倒酒一幕是导演的艺术加工，不是史实。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25 / 32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83" name="" descr="&lt;Slide notes={`第三条——很多成语其实不属于鸿门宴。&#13;&#10;&#13;&#10;「破釜沉舟」「作壁上观」出自巨鹿之战；「约法三章」出自刘邦入咸阳；「沐猴而冠」「锦衣夜行」讽的是项羽回国。&#13;&#10;&#13;&#10;它们都是这场大戏的前后背景，不是饭桌上的产物。分清楚，反而显得严谨。&#13;&#10;&#13;&#10;那鸿门宴真正贡献了哪些成语呢？「项庄舞剑，意在沛公」「人为刀俎，我为鱼肉」「大行不顾细谨，大礼不辞小让」，还有「劳苦功高」「秋毫无犯」「竖子不足与谋」——这些才是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A32D2D' }} /&gt;&#13;&#10;    &lt;Text style={{ fontSize: 22, fontWeight: 'bold', color: '#A32D2D', letterSpacing: 2, fontFamily: 'STZhongsong' }}&gt;辟谣 ③&lt;/Text&gt;&#13;&#10;    &lt;Text style={{ fontSize: 32, fontWeight: 'bold', color: '#2C2C2A', letterSpacing: 1.5, fontFamily: 'STZhongsong' }}&gt;这些成语，不属于鸿门宴&lt;/Text&gt;&#13;&#10;    &lt;Text style={{ fontSize: 14, color: 'rgba(44,44,42,0.45)', letterSpacing: 2, fontFamily: 'Microsoft YaHei', marginLeft: 'auto' }}&gt;第四章 · 越考究越有味道&lt;/Text&gt;&#13;&#10;  &lt;/Box&gt;&#13;&#10;&#13;&#10;  &lt;Box style={{ position: 'absolute', left: 64, top: 118, width: 1152, height: 484, border: '0.5px solid #D9D3C4', background: '#FFFFFF', boxShadow: '0 4px 20px rgba(44,44,42,0.08)', overflow: 'hidden' }}&gt;&#13;&#10;&#13;&#10;    &lt;Box style={{ display: 'flex', flexDirection: 'row', background: '#2C2C2A', height: 44 }}&gt;&#13;&#10;      &lt;Box style={{ width: 452, padding: '0 22px', display: 'flex', alignItems: 'center' }}&gt;&#13;&#10;        &lt;Text style={{ fontSize: 15, letterSpacing: 2, color: 'rgba(246,242,231,0.7)', fontFamily: 'Microsoft YaHei' }}&gt;成 语&lt;/Text&gt;&#13;&#10;      &lt;/Box&gt;&#13;&#10;      &lt;Box style={{ flex: 1, padding: '0 22px', display: 'flex', alignItems: 'center', borderLeft: '0.5px solid rgba(246,242,231,0.2)' }}&gt;&#13;&#10;        &lt;Text style={{ fontSize: 15, letterSpacing: 2, color: 'rgba(246,242,231,0.7)', fontFamily: 'Microsoft YaHei' }}&gt;真 正 的 出 处&lt;/Text&gt;&#13;&#10;      &lt;/Box&gt;&#13;&#10;      &lt;Box style={{ width: 132, padding: '0 22px', display: 'flex', alignItems: 'center', justifyContent: 'center', borderLeft: '0.5px solid rgba(246,242,231,0.2)' }}&gt;&#13;&#10;        &lt;Text style={{ fontSize: 15, letterSpacing: 2, color: 'rgba(246,242,231,0.7)', fontFamily: 'Microsoft YaHei' }}&gt;属于吗&lt;/Text&gt;&#13;&#10;      &lt;/Box&gt;&#13;&#10;    &lt;/Box&gt;&#13;&#10;&#13;&#10;    &lt;Box style={{ display: 'flex', flexDirection: 'row', height: 73, borderBottom: '0.5px solid #D9D3C4' }}&gt;&#13;&#10;      &lt;Box style={{ width: 452, padding: '0 22px', display: 'flex', alignItems: 'center' }}&gt;&#13;&#10;        &lt;Text style={{ fontSize: 17, fontWeight: 'bold', color: '#2C2C2A', fontFamily: 'STZhongsong' }}&gt;破釜沉舟 · 作壁上观&lt;/Text&gt;&#13;&#10;      &lt;/Box&gt;&#13;&#10;      &lt;Box style={{ flex: 1, padding: '0 22px', display: 'flex', alignItems: 'center', borderLeft: '0.5px solid #D9D3C4' }}&gt;&#13;&#10;        &lt;Text style={{ fontSize: 15, color: 'rgba(44,44,42,0.78)', fontFamily: 'Microsoft YaHei' }}&gt;巨鹿之战 —— 项羽与秦军主力决战&lt;/Text&gt;&#13;&#10;      &lt;/Box&gt;&#13;&#10;      &lt;Box style={{ width: 132, display: 'flex', alignItems: 'center', justifyContent: 'center', borderLeft: '0.5px solid #D9D3C4', background: 'rgba(163,45,45,0.06)' }}&gt;&#13;&#10;        &lt;Text style={{ fontSize: 17, fontWeight: 'bold', color: '#A32D2D', fontFamily: 'Microsoft YaHei' }}&gt;否&lt;/Text&gt;&#13;&#10;      &lt;/Box&gt;&#13;&#10;    &lt;/Box&gt;&#13;&#10;&#13;&#10;    &lt;Box style={{ display: 'flex', flexDirection: 'row', height: 73, borderBottom: '0.5px solid #D9D3C4', background: 'rgba(44,44,42,0.03)' }}&gt;&#13;&#10;      &lt;Box style={{ width: 452, padding: '0 22px', display: 'flex', alignItems: 'center' }}&gt;&#13;&#10;        &lt;Text style={{ fontSize: 17, fontWeight: 'bold', color: '#2C2C2A', fontFamily: 'STZhongsong' }}&gt;约法三章&lt;/Text&gt;&#13;&#10;      &lt;/Box&gt;&#13;&#10;      &lt;Box style={{ flex: 1, padding: '0 22px', display: 'flex', alignItems: 'center', borderLeft: '0.5px solid #D9D3C4' }}&gt;&#13;&#10;        &lt;Text style={{ fontSize: 15, color: 'rgba(44,44,42,0.78)', fontFamily: 'Microsoft YaHei' }}&gt;刘邦入咸阳之后&lt;/Text&gt;&#13;&#10;      &lt;/Box&gt;&#13;&#10;      &lt;Box style={{ width: 132, display: 'flex', alignItems: 'center', justifyContent: 'center', borderLeft: '0.5px solid #D9D3C4', background: 'rgba(163,45,45,0.06)' }}&gt;&#13;&#10;        &lt;Text style={{ fontSize: 17, fontWeight: 'bold', color: '#A32D2D', fontFamily: 'Microsoft YaHei' }}&gt;否&lt;/Text&gt;&#13;&#10;      &lt;/Box&gt;&#13;&#10;    &lt;/Box&gt;&#13;&#10;&#13;&#10;    &lt;Box style={{ display: 'flex', flexDirection: 'row', height: 73, borderBottom: '0.5px solid #D9D3C4' }}&gt;&#13;&#10;      &lt;Box style={{ width: 452, padding: '0 22px', display: 'flex', alignItems: 'center' }}&gt;&#13;&#10;        &lt;Text style={{ fontSize: 17, fontWeight: 'bold', color: '#2C2C2A', fontFamily: 'STZhongsong' }}&gt;沐猴而冠 · 锦衣夜行&lt;/Text&gt;&#13;&#10;      &lt;/Box&gt;&#13;&#10;      &lt;Box style={{ flex: 1, padding: '0 22px', display: 'flex', alignItems: 'center', borderLeft: '0.5px solid #D9D3C4' }}&gt;&#13;&#10;        &lt;Text style={{ fontSize: 15, color: 'rgba(44,44,42,0.78)', fontFamily: 'Microsoft YaHei' }}&gt;讽项羽归楚 —— 也都不是饭桌上的事&lt;/Text&gt;&#13;&#10;      &lt;/Box&gt;&#13;&#10;      &lt;Box style={{ width: 132, display: 'flex', alignItems: 'center', justifyContent: 'center', borderLeft: '0.5px solid #D9D3C4', background: 'rgba(163,45,45,0.06)' }}&gt;&#13;&#10;        &lt;Text style={{ fontSize: 17, fontWeight: 'bold', color: '#A32D2D', fontFamily: 'Microsoft YaHei' }}&gt;否&lt;/Text&gt;&#13;&#10;      &lt;/Box&gt;&#13;&#10;    &lt;/Box&gt;&#13;&#10;&#13;&#10;    &lt;Box style={{ display: 'flex', flexDirection: 'row', height: 73, borderBottom: '0.5px solid #D9D3C4', background: 'rgba(44,44,42,0.03)' }}&gt;&#13;&#10;      &lt;Box style={{ width: 452, padding: '0 22px', display: 'flex', alignItems: 'center' }}&gt;&#13;&#10;        &lt;Text style={{ fontSize: 17, fontWeight: 'bold', color: '#2C2C2A', fontFamily: 'STZhongsong' }}&gt;项庄舞剑，意在沛公&lt;/Text&gt;&#13;&#10;      &lt;/Box&gt;&#13;&#10;      &lt;Box style={{ flex: 1, padding: '0 22px', display: 'flex', alignItems: 'center', borderLeft: '0.5px solid #D9D3C4' }}&gt;&#13;&#10;        &lt;Text style={{ fontSize: 15, color: 'rgba(44,44,42,0.78)', fontFamily: 'Microsoft YaHei' }}&gt;鸿门宴席间 —— 项庄借舞剑行刺&lt;/Text&gt;&#13;&#10;      &lt;/Box&gt;&#13;&#10;      &lt;Box style={{ width: 132, display: 'flex', alignItems: 'center', justifyContent: 'center', borderLeft: '0.5px solid #D9D3C4' }}&gt;&#13;&#10;        &lt;Text style={{ fontSize: 17, fontWeight: 'bold', color: '#BA7517', fontFamily: 'Microsoft YaHei' }}&gt;是&lt;/Text&gt;&#13;&#10;      &lt;/Box&gt;&#13;&#10;    &lt;/Box&gt;&#13;&#10;&#13;&#10;    &lt;Box style={{ display: 'flex', flexDirection: 'row', height: 73, borderBottom: '0.5px solid #D9D3C4' }}&gt;&#13;&#10;      &lt;Box style={{ width: 452, padding: '0 22px', display: 'flex', alignItems: 'center' }}&gt;&#13;&#10;        &lt;Text style={{ fontSize: 17, fontWeight: 'bold', color: '#2C2C2A', fontFamily: 'STZhongsong' }}&gt;人为刀俎，我为鱼肉&lt;/Text&gt;&#13;&#10;      &lt;/Box&gt;&#13;&#10;      &lt;Box style={{ flex: 1, padding: '0 22px', display: 'flex', alignItems: 'center', borderLeft: '0.5px solid #D9D3C4' }}&gt;&#13;&#10;        &lt;Text style={{ fontSize: 15, color: 'rgba(44,44,42,0.78)', fontFamily: 'Microsoft YaHei' }}&gt;鸿门宴 —— 樊哙劝刘邦不必辞行&lt;/Text&gt;&#13;&#10;      &lt;/Box&gt;&#13;&#10;      &lt;Box style={{ width: 132, display: 'flex', alignItems: 'center', justifyContent: 'center', borderLeft: '0.5px solid #D9D3C4' }}&gt;&#13;&#10;        &lt;Text style={{ fontSize: 17, fontWeight: 'bold', color: '#BA7517', fontFamily: 'Microsoft YaHei' }}&gt;是&lt;/Text&gt;&#13;&#10;      &lt;/Box&gt;&#13;&#10;    &lt;/Box&gt;&#13;&#10;&#13;&#10;    &lt;Box style={{ display: 'flex', flexDirection: 'row', height: 71, background: 'rgba(44,44,42,0.03)' }}&gt;&#13;&#10;      &lt;Box style={{ width: 452, padding: '0 22px', display: 'flex', alignItems: 'center' }}&gt;&#13;&#10;        &lt;Text style={{ fontSize: 16, fontWeight: 'bold', color: '#2C2C2A', fontFamily: 'STZhongsong' }}&gt;劳苦功高 · 秋毫无犯 · 竖子不足与谋&lt;/Text&gt;&#13;&#10;      &lt;/Box&gt;&#13;&#10;      &lt;Box style={{ flex: 1, padding: '0 22px', display: 'flex', alignItems: 'center', borderLeft: '0.5px solid #D9D3C4' }}&gt;&#13;&#10;        &lt;Text style={{ fontSize: 15, color: 'rgba(44,44,42,0.78)', fontFamily: 'Microsoft YaHei' }}&gt;《史记·项羽本纪》鸿门宴一节&lt;/Text&gt;&#13;&#10;      &lt;/Box&gt;&#13;&#10;      &lt;Box style={{ width: 132, display: 'flex', alignItems: 'center', justifyContent: 'center', borderLeft: '0.5px solid #D9D3C4' }}&gt;&#13;&#10;        &lt;Text style={{ fontSize: 17, fontWeight: 'bold', color: '#BA7517', fontFamily: 'Microsoft YaHei' }}&gt;是&lt;/Text&gt;&#13;&#10;      &lt;/Box&gt;&#13;&#10;    &lt;/Box&gt;&#13;&#10;&#13;&#10;  &lt;/Box&gt;&#13;&#10;&#13;&#10;  &lt;Box style={{ position: 'absolute', left: 64, top: 618, width: 1152, background: 'rgba(44,44,42,0.06)', borderLeft: '3px solid #A32D2D', padding: '14px 22px', display: 'flex', flexDirection: 'row', alignItems: 'center', gap: 12 }}&gt;&#13;&#10;    &lt;Box style={{ width: 12, height: 12, background: '#A32D2D' }} /&gt;&#13;&#10;    &lt;Text style={{ fontSize: 16, fontWeight: 'bold', color: '#2C2C2A', lineHeight: 1.6, fontFamily: 'Microsoft YaHei' }}&gt;&#13;&#10;      它们都是这场大戏的前后背景，而非饭桌上的产物。分清楚，反而显得严谨。&#13;&#10;    &lt;/Text&gt;&#13;&#10;  &lt;/Box&gt;&#13;&#10;&#13;&#10;  &lt;Box style={{ position: 'absolute', left: 64, top: 678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6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587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90575" y="438150"/>
            <a:ext cx="781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A32D2D"/>
                </a:solidFill>
                <a:latin typeface="STZhongsong"/>
                <a:ea typeface="STZhongsong"/>
              </a:rPr>
              <a:t>辟谣</a:t>
            </a:r>
            <a:r>
              <a:rPr lang="en-US" sz="1650" b="1" spc="150">
                <a:solidFill>
                  <a:srgbClr val="A32D2D"/>
                </a:solidFill>
                <a:latin typeface="STZhongsong"/>
                <a:ea typeface="STZhongsong"/>
              </a:rPr>
              <a:t> ③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704975" y="381000"/>
            <a:ext cx="3514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这些成语，不属于鸿门宴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5353050" y="48577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第四章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越考究越有味道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09600" y="1123950"/>
            <a:ext cx="10972800" cy="4610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609600" y="1123950"/>
            <a:ext cx="10972800" cy="4191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19150" y="1247775"/>
            <a:ext cx="390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成</a:t>
            </a:r>
            <a:r>
              <a:rPr lang="en-US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语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4914900" y="1123950"/>
            <a:ext cx="5419725" cy="419100"/>
          </a:xfrm>
          <a:custGeom>
            <a:pathLst>
              <a:path w="569" h="44">
                <a:moveTo>
                  <a:pt x="0" y="0"/>
                </a:moveTo>
                <a:lnTo>
                  <a:pt x="1" y="0"/>
                </a:lnTo>
                <a:lnTo>
                  <a:pt x="1" y="44"/>
                </a:lnTo>
                <a:lnTo>
                  <a:pt x="0" y="44"/>
                </a:lnTo>
                <a:close/>
              </a:path>
            </a:pathLst>
          </a:custGeom>
          <a:solidFill>
            <a:srgbClr val="F6F2E7">
              <a:alpha val="20000"/>
            </a:srgbClr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133975" y="1247775"/>
            <a:ext cx="1057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真</a:t>
            </a:r>
            <a:r>
              <a:rPr lang="en-US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正</a:t>
            </a:r>
            <a:r>
              <a:rPr lang="en-US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-US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出</a:t>
            </a:r>
            <a:r>
              <a:rPr lang="en-US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处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10325100" y="1123950"/>
            <a:ext cx="1257300" cy="419100"/>
          </a:xfrm>
          <a:custGeom>
            <a:pathLst>
              <a:path w="132" h="44">
                <a:moveTo>
                  <a:pt x="0" y="0"/>
                </a:moveTo>
                <a:lnTo>
                  <a:pt x="1" y="0"/>
                </a:lnTo>
                <a:lnTo>
                  <a:pt x="1" y="44"/>
                </a:lnTo>
                <a:lnTo>
                  <a:pt x="0" y="44"/>
                </a:lnTo>
                <a:close/>
              </a:path>
            </a:pathLst>
          </a:custGeom>
          <a:solidFill>
            <a:srgbClr val="F6F2E7">
              <a:alpha val="20000"/>
            </a:srgbClr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0715625" y="12477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6F2E7">
                    <a:alpha val="70000"/>
                  </a:srgbClr>
                </a:solidFill>
                <a:latin typeface="Microsoft YaHei"/>
                <a:ea typeface="Microsoft YaHei"/>
              </a:rPr>
              <a:t>属于吗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09600" y="1543050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19150" y="1790700"/>
            <a:ext cx="156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破釜沉舟</a:t>
            </a:r>
            <a:r>
              <a:rPr lang="en-US" sz="1275" b="1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作壁上观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4914900" y="1543050"/>
            <a:ext cx="5419725" cy="695325"/>
          </a:xfrm>
          <a:custGeom>
            <a:pathLst>
              <a:path w="56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5133975" y="180975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巨鹿之战</a:t>
            </a:r>
            <a:r>
              <a:rPr lang="en-US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项羽与秦军主力决战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10334625" y="1543050"/>
            <a:ext cx="1247775" cy="695325"/>
          </a:xfrm>
          <a:prstGeom prst="rect">
            <a:avLst/>
          </a:prstGeom>
          <a:solidFill>
            <a:srgbClr val="A32D2D">
              <a:alpha val="6000"/>
            </a:srgbClr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10325100" y="1543050"/>
            <a:ext cx="1257300" cy="695325"/>
          </a:xfrm>
          <a:custGeom>
            <a:pathLst>
              <a:path w="132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0877550" y="17907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32D2D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2238375"/>
            <a:ext cx="10972800" cy="695325"/>
          </a:xfrm>
          <a:prstGeom prst="rect">
            <a:avLst/>
          </a:prstGeom>
          <a:solidFill>
            <a:srgbClr val="2C2C2A">
              <a:alpha val="3000"/>
            </a:srgbClr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609600" y="2238375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19150" y="24860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约法三章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4914900" y="2238375"/>
            <a:ext cx="5419725" cy="695325"/>
          </a:xfrm>
          <a:custGeom>
            <a:pathLst>
              <a:path w="56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5133975" y="25050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刘邦入咸阳之后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10334625" y="2238375"/>
            <a:ext cx="1247775" cy="695325"/>
          </a:xfrm>
          <a:prstGeom prst="rect">
            <a:avLst/>
          </a:prstGeom>
          <a:solidFill>
            <a:srgbClr val="A32D2D">
              <a:alpha val="6000"/>
            </a:srgbClr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10325100" y="2238375"/>
            <a:ext cx="1257300" cy="695325"/>
          </a:xfrm>
          <a:custGeom>
            <a:pathLst>
              <a:path w="132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0877550" y="248602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32D2D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2933700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19150" y="3181350"/>
            <a:ext cx="156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沐猴而冠</a:t>
            </a:r>
            <a:r>
              <a:rPr lang="en-US" sz="1275" b="1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锦衣夜行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4914900" y="2933700"/>
            <a:ext cx="5419725" cy="695325"/>
          </a:xfrm>
          <a:custGeom>
            <a:pathLst>
              <a:path w="56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133975" y="320040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讽项羽归楚</a:t>
            </a:r>
            <a:r>
              <a:rPr lang="en-US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也都不是饭桌上的事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10334625" y="2933700"/>
            <a:ext cx="1247775" cy="695325"/>
          </a:xfrm>
          <a:prstGeom prst="rect">
            <a:avLst/>
          </a:prstGeom>
          <a:solidFill>
            <a:srgbClr val="A32D2D">
              <a:alpha val="6000"/>
            </a:srgbClr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10325100" y="2933700"/>
            <a:ext cx="1257300" cy="695325"/>
          </a:xfrm>
          <a:custGeom>
            <a:pathLst>
              <a:path w="132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0877550" y="318135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32D2D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09600" y="3629025"/>
            <a:ext cx="10972800" cy="695325"/>
          </a:xfrm>
          <a:prstGeom prst="rect">
            <a:avLst/>
          </a:prstGeom>
          <a:solidFill>
            <a:srgbClr val="2C2C2A">
              <a:alpha val="3000"/>
            </a:srgbClr>
          </a:solidFill>
          <a:ln/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609600" y="3629025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19150" y="387667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项庄舞剑，意在沛公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4914900" y="3629025"/>
            <a:ext cx="5419725" cy="695325"/>
          </a:xfrm>
          <a:custGeom>
            <a:pathLst>
              <a:path w="56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133975" y="3895725"/>
            <a:ext cx="2114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鸿门宴席间</a:t>
            </a:r>
            <a:r>
              <a:rPr lang="en-US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项庄借舞剑行刺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10325100" y="3629025"/>
            <a:ext cx="1257300" cy="695325"/>
          </a:xfrm>
          <a:custGeom>
            <a:pathLst>
              <a:path w="132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0877550" y="38766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A7517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09600" y="4324350"/>
            <a:ext cx="10972800" cy="695325"/>
          </a:xfrm>
          <a:custGeom>
            <a:pathLst>
              <a:path w="1152" h="73">
                <a:moveTo>
                  <a:pt x="0" y="73"/>
                </a:moveTo>
                <a:lnTo>
                  <a:pt x="1152" y="73"/>
                </a:lnTo>
                <a:lnTo>
                  <a:pt x="11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19150" y="45720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人为刀俎，我为鱼肉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4914900" y="4324350"/>
            <a:ext cx="5419725" cy="695325"/>
          </a:xfrm>
          <a:custGeom>
            <a:pathLst>
              <a:path w="569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133975" y="4591050"/>
            <a:ext cx="2114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樊哙劝刘邦不必辞行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10325100" y="4324350"/>
            <a:ext cx="1257300" cy="695325"/>
          </a:xfrm>
          <a:custGeom>
            <a:pathLst>
              <a:path w="132" h="73">
                <a:moveTo>
                  <a:pt x="0" y="0"/>
                </a:moveTo>
                <a:lnTo>
                  <a:pt x="1" y="0"/>
                </a:lnTo>
                <a:lnTo>
                  <a:pt x="1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0877550" y="45720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A7517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5019675"/>
            <a:ext cx="10972800" cy="676275"/>
          </a:xfrm>
          <a:prstGeom prst="rect">
            <a:avLst/>
          </a:prstGeom>
          <a:solidFill>
            <a:srgbClr val="2C2C2A">
              <a:alpha val="3000"/>
            </a:srgbClr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819150" y="5267325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劳苦功高</a:t>
            </a:r>
            <a:r>
              <a:rPr lang="en-US" sz="1200" b="1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秋毫无犯</a:t>
            </a:r>
            <a:r>
              <a:rPr lang="en-US" sz="1200" b="1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200" b="1">
                <a:solidFill>
                  <a:srgbClr val="2C2C2A"/>
                </a:solidFill>
                <a:latin typeface="STZhongsong"/>
                <a:ea typeface="STZhongsong"/>
              </a:rPr>
              <a:t>竖子不足与谋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4914900" y="5019675"/>
            <a:ext cx="5419725" cy="676275"/>
          </a:xfrm>
          <a:custGeom>
            <a:pathLst>
              <a:path w="569" h="71">
                <a:moveTo>
                  <a:pt x="0" y="0"/>
                </a:moveTo>
                <a:lnTo>
                  <a:pt x="1" y="0"/>
                </a:lnTo>
                <a:lnTo>
                  <a:pt x="1" y="71"/>
                </a:lnTo>
                <a:lnTo>
                  <a:pt x="0" y="71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133975" y="5276850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《史记·项羽本纪》鸿门宴一节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10325100" y="5019675"/>
            <a:ext cx="1257300" cy="676275"/>
          </a:xfrm>
          <a:custGeom>
            <a:pathLst>
              <a:path w="132" h="71">
                <a:moveTo>
                  <a:pt x="0" y="0"/>
                </a:moveTo>
                <a:lnTo>
                  <a:pt x="1" y="0"/>
                </a:lnTo>
                <a:lnTo>
                  <a:pt x="1" y="71"/>
                </a:lnTo>
                <a:lnTo>
                  <a:pt x="0" y="71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0877550" y="52578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A7517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38175" y="5886450"/>
            <a:ext cx="10944225" cy="56197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609600" y="5886450"/>
            <a:ext cx="10972800" cy="561975"/>
          </a:xfrm>
          <a:custGeom>
            <a:pathLst>
              <a:path w="1152" h="59">
                <a:moveTo>
                  <a:pt x="0" y="0"/>
                </a:moveTo>
                <a:lnTo>
                  <a:pt x="3" y="0"/>
                </a:lnTo>
                <a:lnTo>
                  <a:pt x="3" y="59"/>
                </a:lnTo>
                <a:lnTo>
                  <a:pt x="0" y="59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641" name=""/>
          <p:cNvSpPr/>
          <p:nvPr/>
        </p:nvSpPr>
        <p:spPr>
          <a:xfrm rot="0" flipH="0" flipV="0">
            <a:off x="847725" y="6115050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076325" y="6019800"/>
            <a:ext cx="5181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它们都是这场大戏的前后背景，而非饭桌上的产物。分清楚，反而显得严谨。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09600" y="645795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876300" y="6467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26 / 32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46" name="" descr="&lt;Slide notes={`第四条——项羽挖了秦始皇陵？这个更扯。&#13;&#10;&#13;&#10;地面宫殿和陪葬坑确实被烧了，但地宫完全不是那么回事：地宫封土夯土层完整无缺；物探还发现了强汞异常区，这反过来证明地宫至今是密闭的。&#13;&#10;&#13;&#10;再看深度——地宫深埋三十多米，四周还有约四米厚的宫墙。以当时的技术，几乎不可能挖开。&#13;&#10;&#13;&#10;所以「盗掘」之说，更多是政治宣传与后世渲染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A32D2D' }} /&gt;&#13;&#10;    &lt;Text style={{ fontSize: 22, fontWeight: 'bold', color: '#A32D2D', letterSpacing: 2, fontFamily: 'STZhongsong' }}&gt;辟谣 ④&lt;/Text&gt;&#13;&#10;    &lt;Text style={{ fontSize: 32, fontWeight: 'bold', color: '#2C2C2A', letterSpacing: 1.5, fontFamily: 'STZhongsong' }}&gt;项羽挖了秦始皇陵？&lt;/Text&gt;&#13;&#10;    &lt;Text style={{ fontSize: 14, color: 'rgba(44,44,42,0.45)', letterSpacing: 2, fontFamily: 'Microsoft YaHei', marginLeft: 'auto' }}&gt;第四章 · 越考究越有味道&lt;/Text&gt;&#13;&#10;  &lt;/Box&gt;&#13;&#10;&#13;&#10;  &lt;Box style={{ position: 'absolute', left: 64, top: 124, width: 520, height: 516, display: 'flex', flexDirection: 'column', justifyContent: 'space-between' }}&gt;&#13;&#10;&#13;&#10;    &lt;Box style={{ background: '#FFFFFF', border: '0.5px solid #D9D3C4', boxShadow: '0 4px 20px rgba(44,44,42,0.08)', padding: '20px 24px' }}&gt;&#13;&#10;      &lt;Box style={{ display: 'flex', flexDirection: 'row', alignItems: 'center', gap: 10 }}&gt;&#13;&#10;        &lt;Box style={{ width: 3, height: 18, background: '#D9D3C4' }} /&gt;&#13;&#10;        &lt;Text style={{ fontSize: 14, letterSpacing: 2, color: 'rgba(44,44,42,0.5)', fontWeight: 'bold', fontFamily: 'Microsoft YaHei' }}&gt;流传的说法&lt;/Text&gt;&#13;&#10;      &lt;/Box&gt;&#13;&#10;      &lt;Text style={{ fontSize: 16, color: 'rgba(44,44,42,0.78)', lineHeight: 1.85, marginTop: 10, fontFamily: 'Microsoft YaHei' }}&gt;&#13;&#10;        地面宫殿与陪葬坑确实被焚毁过，于是有了「项羽盗掘秦始皇陵、掠走珍宝」的传说。&#13;&#10;      &lt;/Text&gt;&#13;&#10;    &lt;/Box&gt;&#13;&#10;&#13;&#10;    &lt;Box style={{ background: '#FFFFFF', border: '0.5px solid #BA7517', boxShadow: '0 4px 20px rgba(44,44,42,0.08)', padding: '20px 24px' }}&gt;&#13;&#10;      &lt;Box style={{ display: 'flex', flexDirection: 'row', alignItems: 'center', gap: 10 }}&gt;&#13;&#10;        &lt;Box style={{ width: 3, height: 18, background: '#BA7517' }} /&gt;&#13;&#10;        &lt;Text style={{ fontSize: 14, letterSpacing: 2, color: '#BA7517', fontWeight: 'bold', fontFamily: 'Microsoft YaHei' }}&gt;考古提供的证据&lt;/Text&gt;&#13;&#10;      &lt;/Box&gt;&#13;&#10;      &lt;Text style={{ fontSize: 16, color: 'rgba(44,44,42,0.8)', lineHeight: 1.85, marginTop: 10, fontFamily: 'Microsoft YaHei' }}&gt;&#13;&#10;        地宫封土&lt;span style={{ fontWeight: 'bold', color: '#2C2C2A' }}&gt;夯土层完整无缺&lt;/span&gt;；物探发现的强汞异常区，反证地宫至今密闭；地宫深埋三十余米、四周约四米厚宫墙，以当时技术几乎不可能挖开。&#13;&#10;      &lt;/Text&gt;&#13;&#10;    &lt;/Box&gt;&#13;&#10;&#13;&#10;    &lt;Box style={{ background: 'rgba(44,44,42,0.06)', borderLeft: '3px solid #A32D2D', padding: '18px 22px' }}&gt;&#13;&#10;      &lt;Text style={{ fontSize: 17, fontWeight: 'bold', color: '#2C2C2A', lineHeight: 1.65, fontFamily: 'Microsoft YaHei' }}&gt;&#13;&#10;        结论：「盗掘」之说，多为政治宣传与后世渲染。&#13;&#10;      &lt;/Text&gt;&#13;&#10;    &lt;/Box&gt;&#13;&#10;&#13;&#10;  &lt;/Box&gt;&#13;&#10;&#13;&#10;  &lt;Box style={{ position: 'absolute', left: 640, top: 124, width: 576, height: 516, background: '#FFFFFF', border: '0.5px solid #D9D3C4', boxShadow: '0 4px 20px rgba(44,44,42,0.08)', padding: '22px 24px', display: 'flex', flexDirection: 'column' }}&gt;&#13;&#10;    &lt;Text style={{ fontSize: 18, fontWeight: 'bold', color: '#2C2C2A', letterSpacing: 1, fontFamily: 'STZhongsong' }}&gt;地宫剖面示意 · 为什么挖不开&lt;/Text&gt;&#13;&#10;    &lt;Box style={{ marginTop: 16 }}&gt;&#13;&#10;      &lt;svg width={528} height={380} viewBox=&quot;0 0 528 380&quot;&gt;&#13;&#10;        &lt;line x1=&quot;0&quot; y1=&quot;118&quot; x2=&quot;528&quot; y2=&quot;118&quot; stroke=&quot;#D9D3C4&quot; strokeWidth=&quot;1&quot; /&gt;&#13;&#10;        &lt;text x=&quot;4&quot; y=&quot;110&quot; fontSize=&quot;12&quot; fill=&quot;rgba(44,44,42,0.5)&quot; fontFamily=&quot;Microsoft YaHei&quot;&gt;地表&lt;/text&gt;&#13;&#10;&#13;&#10;        &lt;polygon points=&quot;96,118 432,118 372,44 156,44&quot; fill=&quot;#D9D3C4&quot; /&gt;&#13;&#10;        &lt;text x=&quot;264&quot; y=&quot;86&quot; textAnchor=&quot;middle&quot; fontSize=&quot;14&quot; fill=&quot;#2C2C2A&quot; fontFamily=&quot;STZhongsong&quot; fontWeight=&quot;bold&quot;&gt;封土 · 夯土层完整无缺&lt;/text&gt;&#13;&#10;&#13;&#10;        &lt;rect x=&quot;182&quot; y=&quot;172&quot; width=&quot;164&quot; height=&quot;130&quot; fill=&quot;#FFFFFF&quot; stroke=&quot;#2C2C2A&quot; strokeWidth=&quot;8&quot; /&gt;&#13;&#10;        &lt;text x=&quot;264&quot; y=&quot;232&quot; textAnchor=&quot;middle&quot; fontSize=&quot;15&quot; fill=&quot;#2C2C2A&quot; fontFamily=&quot;STZhongsong&quot; fontWeight=&quot;bold&quot;&gt;地 宫&lt;/text&gt;&#13;&#10;        &lt;text x=&quot;264&quot; y=&quot;254&quot; textAnchor=&quot;middle&quot; fontSize=&quot;11&quot; fill=&quot;rgba(44,44,42,0.62)&quot; fontFamily=&quot;Microsoft YaHei&quot;&gt;至今密闭&lt;/text&gt;&#13;&#10;&#13;&#10;        &lt;text x=&quot;360&quot; y=&quot;240&quot; fontSize=&quot;11&quot; fill=&quot;rgba(44,44,42,0.7)&quot; fontFamily=&quot;Microsoft YaHei&quot;&gt;四周约 4 米厚宫墙&lt;/text&gt;&#13;&#10;&#13;&#10;        &lt;ellipse cx=&quot;264&quot; cy=&quot;322&quot; rx=&quot;104&quot; ry=&quot;16&quot; fill=&quot;rgba(163,45,45,0.12)&quot; /&gt;&#13;&#10;        &lt;text x=&quot;264&quot; y=&quot;344&quot; textAnchor=&quot;middle&quot; fontSize=&quot;11&quot; fill=&quot;#A32D2D&quot; fontFamily=&quot;Microsoft YaHei&quot; fontWeight=&quot;bold&quot;&gt;物探：强汞异常区&lt;/text&gt;&#13;&#10;&#13;&#10;        &lt;line x1=&quot;136&quot; y1=&quot;172&quot; x2=&quot;136&quot; y2=&quot;302&quot; stroke=&quot;#A32D2D&quot; strokeWidth=&quot;1&quot; /&gt;&#13;&#10;        &lt;polygon points=&quot;136,172 131,182 141,182&quot; fill=&quot;#A32D2D&quot; /&gt;&#13;&#10;        &lt;polygon points=&quot;136,302 131,292 141,292&quot; fill=&quot;#A32D2D&quot; /&gt;&#13;&#10;        &lt;text x=&quot;128&quot; y=&quot;242&quot; textAnchor=&quot;end&quot; fontSize=&quot;12&quot; fill=&quot;#A32D2D&quot; fontFamily=&quot;Microsoft YaHei&quot; fontWeight=&quot;bold&quot;&gt;深埋 30 余米&lt;/text&gt;&#13;&#10;      &lt;/svg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7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650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90575" y="438150"/>
            <a:ext cx="781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A32D2D"/>
                </a:solidFill>
                <a:latin typeface="STZhongsong"/>
                <a:ea typeface="STZhongsong"/>
              </a:rPr>
              <a:t>辟谣</a:t>
            </a:r>
            <a:r>
              <a:rPr lang="en-US" sz="1650" b="1" spc="150">
                <a:solidFill>
                  <a:srgbClr val="A32D2D"/>
                </a:solidFill>
                <a:latin typeface="STZhongsong"/>
                <a:ea typeface="STZhongsong"/>
              </a:rPr>
              <a:t> ④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704975" y="381000"/>
            <a:ext cx="2876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项羽挖了秦始皇陵？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4714875" y="48577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第四章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越考究越有味道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9600" y="1181100"/>
            <a:ext cx="4953000" cy="13335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838200" y="1371600"/>
            <a:ext cx="28575" cy="17145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962025" y="1381125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C2C2A">
                    <a:alpha val="50000"/>
                  </a:srgbClr>
                </a:solidFill>
                <a:latin typeface="Microsoft YaHei"/>
                <a:ea typeface="Microsoft YaHei"/>
              </a:rPr>
              <a:t>流传的说法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38200" y="1638300"/>
            <a:ext cx="44958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地面宫殿与陪葬坑确实被焚毁过，于是有了「项羽盗掘秦始皇陵、掠走珍宝」的传说。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609600" y="3143250"/>
            <a:ext cx="4953000" cy="1666875"/>
          </a:xfrm>
          <a:prstGeom prst="rect">
            <a:avLst/>
          </a:prstGeom>
          <a:solidFill>
            <a:srgbClr val="FFFFFF"/>
          </a:solidFill>
          <a:ln w="6350">
            <a:solidFill>
              <a:srgbClr val="BA7517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838200" y="3333750"/>
            <a:ext cx="28575" cy="1714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962025" y="33432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A7517"/>
                </a:solidFill>
                <a:latin typeface="Microsoft YaHei"/>
                <a:ea typeface="Microsoft YaHei"/>
              </a:rPr>
              <a:t>考古提供的证据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38200" y="3600450"/>
            <a:ext cx="44958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地宫封土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夯土层完整无缺</a:t>
            </a: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；物探发现的强汞异常区，反证地宫至今密闭；地宫深埋三十余米、四周约四米厚宫墙，以当时技术几乎不可能挖开。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38175" y="5429250"/>
            <a:ext cx="4953000" cy="666750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609600" y="5429250"/>
            <a:ext cx="4981575" cy="666750"/>
          </a:xfrm>
          <a:custGeom>
            <a:pathLst>
              <a:path w="523" h="70">
                <a:moveTo>
                  <a:pt x="0" y="0"/>
                </a:moveTo>
                <a:lnTo>
                  <a:pt x="3" y="0"/>
                </a:lnTo>
                <a:lnTo>
                  <a:pt x="3" y="70"/>
                </a:lnTo>
                <a:lnTo>
                  <a:pt x="0" y="70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47725" y="5600700"/>
            <a:ext cx="45053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结论：「盗掘」之说，多为政治宣传与后世渲染。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096000" y="1181100"/>
            <a:ext cx="5486400" cy="49149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324600" y="1390650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75">
                <a:solidFill>
                  <a:srgbClr val="2C2C2A"/>
                </a:solidFill>
                <a:latin typeface="STZhongsong"/>
                <a:ea typeface="STZhongsong"/>
              </a:rPr>
              <a:t>地宫剖面示意</a:t>
            </a:r>
            <a:r>
              <a:rPr lang="en-US" sz="1350" b="1" spc="75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350" b="1" spc="75">
                <a:solidFill>
                  <a:srgbClr val="2C2C2A"/>
                </a:solidFill>
                <a:latin typeface="STZhongsong"/>
                <a:ea typeface="STZhongsong"/>
              </a:rPr>
              <a:t>为什么挖不开</a:t>
            </a:r>
            <a:endParaRPr/>
          </a:p>
        </p:txBody>
      </p:sp>
      <p:pic>
        <p:nvPicPr>
          <p:cNvPr id="6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324600" y="1752600"/>
            <a:ext cx="5029200" cy="3619500"/>
          </a:xfrm>
          <a:prstGeom prst="rect">
            <a:avLst/>
          </a:prstGeom>
          <a:ln/>
        </p:spPr>
      </p:pic>
      <p:sp>
        <p:nvSpPr>
          <p:cNvPr id="668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27 / 32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71" name="" descr="&lt;Slide notes={`最后多一条——「鸿门」到底在哪里？&#13;&#10;&#13;&#10;传统说法在今陕西临潼东。好处是离霸上近，约四十里，符合《史记》的记载；而且今天临潼有「鸿门宴遗址」的碑刻可考。&#13;&#10;&#13;&#10;但也有学者认为在华阴一带。理由也说得通：华阴在函谷关以东，更符合「鸿门」作为军事要冲的定位。&#13;&#10;&#13;&#10;这个地理争议不影响故事主线，但作为考据党，知道有两种说法，会显得你很专业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20, fontWeight: 'bold', color: '#BA7517', letterSpacing: 2, fontFamily: 'STZhongsong' }}&gt;辟谣 ⑤&lt;/Text&gt;&#13;&#10;    &lt;Text style={{ fontSize: 32, fontWeight: 'bold', color: '#2C2C2A', letterSpacing: 1.5, fontFamily: 'STZhongsong' }}&gt;「鸿门」到底在哪里？&lt;/Text&gt;&#13;&#10;    &lt;Text style={{ fontSize: 14, color: 'rgba(44,44,42,0.45)', letterSpacing: 2, fontFamily: 'Microsoft YaHei', marginLeft: 'auto' }}&gt;第四章 · 越考究越有味道&lt;/Text&gt;&#13;&#10;  &lt;/Box&gt;&#13;&#10;&#13;&#10;  &lt;Box style={{ position: 'absolute', left: 64, top: 124, width: 556, height: 516, display: 'flex', flexDirection: 'column', justifyContent: 'space-between' }}&gt;&#13;&#10;&#13;&#10;    &lt;Box style={{ background: '#FFFFFF', border: '0.5px solid #A32D2D', boxShadow: '0 4px 20px rgba(44,44,42,0.08)', padding: '22px 26px' }}&gt;&#13;&#10;      &lt;Box style={{ display: 'flex', flexDirection: 'row', alignItems: 'center', gap: 12 }}&gt;&#13;&#10;        &lt;Text style={{ fontSize: 22, fontWeight: 'bold', color: '#A32D2D', letterSpacing: 1, fontFamily: 'STZhongsong' }}&gt;临潼说&lt;/Text&gt;&#13;&#10;        &lt;Text style={{ fontSize: 13, color: '#F6F2E7', background: '#A32D2D', padding: '3px 10px', letterSpacing: 1, fontFamily: 'Microsoft YaHei' }}&gt;传统 · 主流&lt;/Text&gt;&#13;&#10;      &lt;/Box&gt;&#13;&#10;      &lt;Text style={{ fontSize: 16, color: 'rgba(44,44,42,0.8)', lineHeight: 1.85, marginTop: 12, fontFamily: 'Microsoft YaHei' }}&gt;&#13;&#10;        鸿门在今陕西临潼东。离刘邦驻军的霸上约&lt;span style={{ fontWeight: 'bold', color: '#2C2C2A' }}&gt;四十里&lt;/span&gt;，符合《史记》「四十里」的记载；今天临潼有「鸿门宴遗址」碑刻可考。&#13;&#10;      &lt;/Text&gt;&#13;&#10;    &lt;/Box&gt;&#13;&#10;&#13;&#10;    &lt;Box style={{ background: '#FFFFFF', border: '0.5px solid #D9D3C4', boxShadow: '0 4px 20px rgba(44,44,42,0.08)', padding: '22px 26px' }}&gt;&#13;&#10;      &lt;Box style={{ display: 'flex', flexDirection: 'row', alignItems: 'center', gap: 12 }}&gt;&#13;&#10;        &lt;Text style={{ fontSize: 22, fontWeight: 'bold', color: '#2C2C2A', letterSpacing: 1, fontFamily: 'STZhongsong' }}&gt;华阴说&lt;/Text&gt;&#13;&#10;        &lt;Text style={{ fontSize: 13, color: '#2C2C2A', background: '#D9D3C4', padding: '3px 10px', letterSpacing: 1, fontFamily: 'Microsoft YaHei' }}&gt;另一派观点&lt;/Text&gt;&#13;&#10;      &lt;/Box&gt;&#13;&#10;      &lt;Text style={{ fontSize: 16, color: 'rgba(44,44,42,0.8)', lineHeight: 1.85, marginTop: 12, fontFamily: 'Microsoft YaHei' }}&gt;&#13;&#10;        也有学者认为鸿门在今陕西华阴一带。华阴位于&lt;span style={{ fontWeight: 'bold', color: '#2C2C2A' }}&gt;函谷关以东&lt;/span&gt;，更符合「鸿门」作为军事要冲的定位。&#13;&#10;      &lt;/Text&gt;&#13;&#10;    &lt;/Box&gt;&#13;&#10;&#13;&#10;    &lt;Box style={{ background: '#2C2C2A', padding: '18px 24px', display: 'flex', flexDirection: 'row', alignItems: 'center', gap: 14 }}&gt;&#13;&#10;      &lt;Box style={{ width: 10, height: 10, background: '#BA7517' }} /&gt;&#13;&#10;      &lt;Text style={{ fontSize: 16, fontWeight: 'bold', color: '#F6F2E7', lineHeight: 1.6, fontFamily: 'Microsoft YaHei' }}&gt;&#13;&#10;        两种说法各有道理，但不影响故事主线——知道有争议，本身就是一种严谨。&#13;&#10;      &lt;/Text&gt;&#13;&#10;    &lt;/Box&gt;&#13;&#10;&#13;&#10;  &lt;/Box&gt;&#13;&#10;&#13;&#10;  &lt;Box style={{ position: 'absolute', left: 656, top: 124, width: 560, height: 516, background: '#FFFFFF', border: '0.5px solid #D9D3C4', boxShadow: '0 4px 20px rgba(44,44,42,0.08)', padding: '22px 24px', display: 'flex', flexDirection: 'column' }}&gt;&#13;&#10;    &lt;Text style={{ fontSize: 18, fontWeight: 'bold', color: '#2C2C2A', letterSpacing: 1, fontFamily: 'STZhongsong' }}&gt;两种位置示意 · 谁更靠近霸上&lt;/Text&gt;&#13;&#10;    &lt;Box style={{ marginTop: 20 }}&gt;&#13;&#10;      &lt;svg width={512} height={380} viewBox=&quot;0 0 512 380&quot;&gt;&#13;&#10;        &lt;line x1=&quot;20&quot; y1=&quot;200&quot; x2=&quot;492&quot; y2=&quot;200&quot; stroke=&quot;#D9D3C4&quot; strokeWidth=&quot;2&quot; /&gt;&#13;&#10;&#13;&#10;        &lt;circle cx=&quot;62&quot; cy=&quot;200&quot; r=&quot;9&quot; fill=&quot;#2C2C2A&quot; /&gt;&#13;&#10;        &lt;text x=&quot;62&quot; y=&quot;180&quot; textAnchor=&quot;middle&quot; fontSize=&quot;14&quot; fill=&quot;#2C2C2A&quot; fontFamily=&quot;STZhongsong&quot; fontWeight=&quot;bold&quot;&gt;咸阳 · 霸上&lt;/text&gt;&#13;&#10;        &lt;text x=&quot;62&quot; y=&quot;226&quot; textAnchor=&quot;middle&quot; fontSize=&quot;11&quot; fill=&quot;rgba(44,44,42,0.6)&quot; fontFamily=&quot;Microsoft YaHei&quot;&gt;刘邦驻军处&lt;/text&gt;&#13;&#10;&#13;&#10;        &lt;line x1=&quot;80&quot; y1=&quot;268&quot; x2=&quot;212&quot; y2=&quot;268&quot; stroke=&quot;#A32D2D&quot; strokeWidth=&quot;1&quot; /&gt;&#13;&#10;        &lt;polygon points=&quot;80,268 90,263 90,273&quot; fill=&quot;#A32D2D&quot; /&gt;&#13;&#10;        &lt;polygon points=&quot;212,268 202,263 202,273&quot; fill=&quot;#A32D2D&quot; /&gt;&#13;&#10;        &lt;text x=&quot;146&quot; y=&quot;290&quot; textAnchor=&quot;middle&quot; fontSize=&quot;12&quot; fill=&quot;#A32D2D&quot; fontFamily=&quot;Microsoft YaHei&quot; fontWeight=&quot;bold&quot;&gt;约四十里&lt;/text&gt;&#13;&#10;&#13;&#10;        &lt;circle cx=&quot;222&quot; cy=&quot;200&quot; r=&quot;11&quot; fill=&quot;#A32D2D&quot; /&gt;&#13;&#10;        &lt;text x=&quot;222&quot; y=&quot;172&quot; textAnchor=&quot;middle&quot; fontSize=&quot;15&quot; fill=&quot;#A32D2D&quot; fontFamily=&quot;STZhongsong&quot; fontWeight=&quot;bold&quot;&gt;临潼 · 鸿门&lt;/text&gt;&#13;&#10;        &lt;text x=&quot;222&quot; y=&quot;330&quot; textAnchor=&quot;middle&quot; fontSize=&quot;11&quot; fill=&quot;rgba(44,44,42,0.72)&quot; fontFamily=&quot;Microsoft YaHei&quot;&gt;合「四十里」之数&lt;/text&gt;&#13;&#10;&#13;&#10;        &lt;circle cx=&quot;344&quot; cy=&quot;200&quot; r=&quot;8&quot; fill=&quot;#BA7517&quot; /&gt;&#13;&#10;        &lt;text x=&quot;344&quot; y=&quot;178&quot; textAnchor=&quot;middle&quot; fontSize=&quot;13&quot; fill=&quot;#BA7517&quot; fontFamily=&quot;STZhongsong&quot;&gt;函谷关&lt;/text&gt;&#13;&#10;&#13;&#10;        &lt;circle cx=&quot;436&quot; cy=&quot;200&quot; r=&quot;11&quot; fill=&quot;#FFFFFF&quot; stroke=&quot;#2C2C2A&quot; strokeWidth=&quot;1.2&quot; /&gt;&#13;&#10;        &lt;text x=&quot;436&quot; y=&quot;172&quot; textAnchor=&quot;middle&quot; fontSize=&quot;15&quot; fill=&quot;#2C2C2A&quot; fontFamily=&quot;STZhongsong&quot; fontWeight=&quot;bold&quot;&gt;华阴&lt;/text&gt;&#13;&#10;        &lt;text x=&quot;436&quot; y=&quot;330&quot; textAnchor=&quot;middle&quot; fontSize=&quot;11&quot; fill=&quot;rgba(44,44,42,0.72)&quot; fontFamily=&quot;Microsoft YaHei&quot;&gt;更合军事要冲&lt;/text&gt;&#13;&#10;&#13;&#10;        &lt;text x=&quot;256&quot; y=&quot;360&quot; textAnchor=&quot;middle&quot; fontSize=&quot;12&quot; fill=&quot;rgba(44,44,42,0.55)&quot; fontFamily=&quot;Microsoft YaHei&quot;&gt;西  ←——————————→  东&lt;/text&gt;&#13;&#10;      &lt;/svg&gt;&#13;&#10;    &lt;/Box&gt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28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673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674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90575" y="457200"/>
            <a:ext cx="714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BA7517"/>
                </a:solidFill>
                <a:latin typeface="STZhongsong"/>
                <a:ea typeface="STZhongsong"/>
              </a:rPr>
              <a:t>辟谣</a:t>
            </a:r>
            <a:r>
              <a:rPr lang="en-US" sz="1500" b="1" spc="150">
                <a:solidFill>
                  <a:srgbClr val="BA7517"/>
                </a:solidFill>
                <a:latin typeface="STZhongsong"/>
                <a:ea typeface="STZhongsong"/>
              </a:rPr>
              <a:t> ⑤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638300" y="381000"/>
            <a:ext cx="3190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「鸿门」到底在哪里？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4962525" y="48577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第四章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越考究越有味道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09600" y="1181100"/>
            <a:ext cx="5295900" cy="1476375"/>
          </a:xfrm>
          <a:prstGeom prst="rect">
            <a:avLst/>
          </a:prstGeom>
          <a:solidFill>
            <a:srgbClr val="FFFFFF"/>
          </a:solidFill>
          <a:ln w="6350">
            <a:solidFill>
              <a:srgbClr val="A32D2D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657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A32D2D"/>
                </a:solidFill>
                <a:latin typeface="STZhongsong"/>
                <a:ea typeface="STZhongsong"/>
              </a:rPr>
              <a:t>临潼说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1628775" y="1419225"/>
            <a:ext cx="857250" cy="2095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628775" y="1419225"/>
            <a:ext cx="857250" cy="209550"/>
          </a:xfrm>
          <a:prstGeom prst="rect"/>
        </p:spPr>
        <p:txBody>
          <a:bodyPr wrap="none" lIns="71438" tIns="21431" rIns="71438" bIns="21431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6F2E7"/>
                </a:solidFill>
                <a:highlight>
                  <a:srgbClr val="A32D2D"/>
                </a:highlight>
                <a:latin typeface="Microsoft YaHei"/>
                <a:ea typeface="Microsoft YaHei"/>
              </a:rPr>
              <a:t>传统</a:t>
            </a:r>
            <a:r>
              <a:rPr lang="en-US" sz="975" spc="75">
                <a:solidFill>
                  <a:srgbClr val="F6F2E7"/>
                </a:solidFill>
                <a:highlight>
                  <a:srgbClr val="A32D2D"/>
                </a:highlight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F6F2E7"/>
                </a:solidFill>
                <a:highlight>
                  <a:srgbClr val="A32D2D"/>
                </a:highlight>
                <a:latin typeface="Microsoft YaHei"/>
                <a:ea typeface="Microsoft YaHei"/>
              </a:rPr>
              <a:t>主流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57250" y="1762125"/>
            <a:ext cx="4800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鸿门在今陕西临潼东。离刘邦驻军的霸上约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四十里</a:t>
            </a: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，符合《史记》「四十里」的记载；今天临潼有「鸿门宴遗址」碑刻可考。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609600" y="3171825"/>
            <a:ext cx="5295900" cy="1476375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57250" y="3381375"/>
            <a:ext cx="657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2C2C2A"/>
                </a:solidFill>
                <a:latin typeface="STZhongsong"/>
                <a:ea typeface="STZhongsong"/>
              </a:rPr>
              <a:t>华阴说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1628775" y="3409950"/>
            <a:ext cx="857250" cy="20955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628775" y="3409950"/>
            <a:ext cx="857250" cy="209550"/>
          </a:xfrm>
          <a:prstGeom prst="rect"/>
        </p:spPr>
        <p:txBody>
          <a:bodyPr wrap="none" lIns="71438" tIns="21431" rIns="71438" bIns="21431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/>
                </a:solidFill>
                <a:highlight>
                  <a:srgbClr val="D9D3C4"/>
                </a:highlight>
                <a:latin typeface="Microsoft YaHei"/>
                <a:ea typeface="Microsoft YaHei"/>
              </a:rPr>
              <a:t>另一派观点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57250" y="3752850"/>
            <a:ext cx="4800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也有学者认为鸿门在今陕西华阴一带。华阴位于</a:t>
            </a:r>
            <a:r>
              <a:rPr lang="zh-CN" sz="1200" b="1">
                <a:solidFill>
                  <a:srgbClr val="2C2C2A"/>
                </a:solidFill>
                <a:latin typeface="Microsoft YaHei"/>
                <a:ea typeface="Microsoft YaHei"/>
              </a:rPr>
              <a:t>函谷关以东</a:t>
            </a: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，更符合「鸿门」作为军事要冲的定位。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09600" y="5162550"/>
            <a:ext cx="5295900" cy="93345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838200" y="5581650"/>
            <a:ext cx="95250" cy="952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1066800" y="5334000"/>
            <a:ext cx="4610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6F2E7"/>
                </a:solidFill>
                <a:latin typeface="Microsoft YaHei"/>
                <a:ea typeface="Microsoft YaHei"/>
              </a:rPr>
              <a:t>两种说法各有道理，但不影响故事主线——知道有争议，本身就是一种严谨。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248400" y="1181100"/>
            <a:ext cx="5334000" cy="49149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477000" y="13906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75">
                <a:solidFill>
                  <a:srgbClr val="2C2C2A"/>
                </a:solidFill>
                <a:latin typeface="STZhongsong"/>
                <a:ea typeface="STZhongsong"/>
              </a:rPr>
              <a:t>两种位置示意</a:t>
            </a:r>
            <a:r>
              <a:rPr lang="en-US" sz="1350" b="1" spc="75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350" b="1" spc="75">
                <a:solidFill>
                  <a:srgbClr val="2C2C2A"/>
                </a:solidFill>
                <a:latin typeface="STZhongsong"/>
                <a:ea typeface="STZhongsong"/>
              </a:rPr>
              <a:t>谁更靠近霸上</a:t>
            </a:r>
            <a:endParaRPr/>
          </a:p>
        </p:txBody>
      </p:sp>
      <p:pic>
        <p:nvPicPr>
          <p:cNvPr id="6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0" y="1790700"/>
            <a:ext cx="4876800" cy="3619500"/>
          </a:xfrm>
          <a:prstGeom prst="rect">
            <a:avLst/>
          </a:prstGeom>
          <a:ln/>
        </p:spPr>
      </p:pic>
      <p:sp>
        <p:nvSpPr>
          <p:cNvPr id="695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28 / 32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98" name="" descr="&lt;Slide notes={`好，进入最后一部分——一桌饭的千年回响。&#13;&#10;&#13;&#10;这顿饭吃出了两千年的成语、诗，还有一座可以实地探访的遗址。`} style={{ width: 1280, height: 720, background: '#F6F2E7', position: 'relative', overflow: 'hidden' }}&gt;&#13;&#10;&#13;&#10;  &lt;Box style={{ position: 'absolute', left: 0, top: 0, width: 1280, height: 720, overflow: 'hidden' }}&gt;&#13;&#10;    &lt;Image src=&quot;assets/scene_echo.png&quot; style={{ width: '100%', height: '100%', objectFit: 'cover', opacity: 0.5 }} /&gt;&#13;&#10;    &lt;Box style={{ position: 'absolute', left: 0, top: 0, width: 1280, height: 720, background: 'rgba(246,242,231,0.6)' }} /&gt;&#13;&#10;    &lt;Box style={{ position: 'absolute', left: 0, top: 0, width: 1280, height: 720, background: 'linear-gradient(0deg, rgba(246,242,231,0.95) 0%, rgba(246,242,231,0) 55%)' }} /&gt;&#13;&#10;  &lt;/Box&gt;&#13;&#10;&#13;&#10;  &lt;Box style={{ position: 'absolute', left: 0, top: 0, width: 10, height: 720, background: '#2C2C2A' }} /&gt;&#13;&#10;  &lt;Box style={{ position: 'absolute', left: 10, top: 0, width: 3, height: 720, background: '#BA7517', opacity: 0.9 }} /&gt;&#13;&#10;&#13;&#10;  &lt;Box style={{ position: 'absolute', left: 64, bottom: 84, width: 760 }}&gt;&#13;&#10;    &lt;Text style={{ fontSize: 104, fontWeight: 'bold', color: '#BA7517', lineHeight: 1.0, fontFamily: 'STZhongsong', letterSpacing: 2 }}&gt;05&lt;/Text&gt;&#13;&#10;    &lt;Box style={{ width: 46, height: 3, background: '#A32D2D', marginTop: 22 }} /&gt;&#13;&#10;    &lt;Text style={{ fontSize: 58, fontWeight: 'bold', color: '#2C2C2A', lineHeight: 1.25, letterSpacing: 5, marginTop: 22, fontFamily: 'STZhongsong' }}&gt;一桌饭的千年回响&lt;/Text&gt;&#13;&#10;    &lt;Text style={{ fontSize: 22, color: 'rgba(44,44,42,0.72)', letterSpacing: 2, lineHeight: 1.7, marginTop: 20, fontFamily: 'STZhongsong' }}&gt;一桌饭，吃出两千年的成语、诗与一座遗址。&lt;/Text&gt;&#13;&#10;    &lt;Text style={{ fontSize: 15, color: 'rgba(44,44,42,0.5)', letterSpacing: 3, marginTop: 22, fontFamily: 'Microsoft YaHei' }}&gt;成语 · 名篇 · 现场&lt;/Text&gt;&#13;&#10;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pic>
        <p:nvPicPr>
          <p:cNvPr id="700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0" t="3448" r="0" b="344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>
              <a:alpha val="60000"/>
            </a:srgbClr>
          </a:solidFill>
          <a:ln/>
        </p:spPr>
        <p:txBody>
          <a:bodyPr/>
          <a:p/>
        </p:txBody>
      </p:sp>
      <p:sp>
        <p:nvSpPr>
          <p:cNvPr id="7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6F2E7">
                  <a:alpha val="95000"/>
                </a:srgbClr>
              </a:gs>
              <a:gs pos="55000">
                <a:srgbClr val="F6F2E7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703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90000"/>
            </a:srgbClr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72390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 spc="150">
                <a:solidFill>
                  <a:srgbClr val="BA7517"/>
                </a:solidFill>
                <a:latin typeface="STZhongsong"/>
                <a:ea typeface="STZhongsong"/>
              </a:rPr>
              <a:t>05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09600" y="3990975"/>
            <a:ext cx="438150" cy="28575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09600" y="4229100"/>
            <a:ext cx="7239000" cy="8286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350" b="1" spc="375">
                <a:solidFill>
                  <a:srgbClr val="2C2C2A"/>
                </a:solidFill>
                <a:latin typeface="STZhongsong"/>
                <a:ea typeface="STZhongsong"/>
              </a:rPr>
              <a:t>一桌饭的千年回响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09600" y="5248275"/>
            <a:ext cx="72390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 spc="150">
                <a:solidFill>
                  <a:srgbClr val="2C2C2A">
                    <a:alpha val="72000"/>
                  </a:srgbClr>
                </a:solidFill>
                <a:latin typeface="STZhongsong"/>
                <a:ea typeface="STZhongsong"/>
              </a:rPr>
              <a:t>一桌饭，吃出两千年的成语、诗与一座遗址。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09600" y="588645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C2C2A">
                    <a:alpha val="50000"/>
                  </a:srgbClr>
                </a:solidFill>
                <a:latin typeface="Microsoft YaHei"/>
                <a:ea typeface="Microsoft YaHei"/>
              </a:rPr>
              <a:t>成语</a:t>
            </a:r>
            <a:r>
              <a:rPr lang="en-US" sz="1125" spc="225">
                <a:solidFill>
                  <a:srgbClr val="2C2C2A">
                    <a:alpha val="5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225">
                <a:solidFill>
                  <a:srgbClr val="2C2C2A">
                    <a:alpha val="50000"/>
                  </a:srgbClr>
                </a:solidFill>
                <a:latin typeface="Microsoft YaHei"/>
                <a:ea typeface="Microsoft YaHei"/>
              </a:rPr>
              <a:t>名篇</a:t>
            </a:r>
            <a:r>
              <a:rPr lang="en-US" sz="1125" spc="225">
                <a:solidFill>
                  <a:srgbClr val="2C2C2A">
                    <a:alpha val="5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225">
                <a:solidFill>
                  <a:srgbClr val="2C2C2A">
                    <a:alpha val="50000"/>
                  </a:srgbClr>
                </a:solidFill>
                <a:latin typeface="Microsoft YaHei"/>
                <a:ea typeface="Microsoft YaHei"/>
              </a:rPr>
              <a:t>现场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24" name="" descr="&lt;Slide notes={`在讲成语和诗之前，我想插一页——鸿门宴之后发生了什么。因为这顿饭放走了刘邦，接下来四年彻底改变了天下格局。&#13;&#10;&#13;&#10;鸿门宴后，项羽分封十八路诸侯，自封霸王，把刘邦赶到巴蜀。看似赢了，实则埋下祸根——分封不公，诸侯不满。&#13;&#10;&#13;&#10;同年八月，刘邦「明修栈道，暗度陈仓」，奇袭三秦，三个月拿下关中。注意，关中就是两年前那纸约定里说的「关中王」的地盘——刘邦用一年时间，把两年前失去的补回来了。&#13;&#10;&#13;&#10;然后是彭城之战：刘邦五十六万对项羽三万，被闪电战击溃。&#13;&#10;&#13;&#10;再到垓下之战：十面埋伏，四面楚歌，项羽乌江自刎。&#13;&#10;&#13;&#10;四年，从鸿门宴到垓下，仅仅四年。回头看那顿饭：那一剑没有落下，放走的从来不只是刘邦一条性命，而是一个未来王朝的命数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鸿门宴之后的四年&lt;/Text&gt;&#13;&#10;    &lt;Text style={{ fontSize: 20, color: 'rgba(44,44,42,0.55)', letterSpacing: 1, fontFamily: 'STZhongsong', marginLeft: 4 }}&gt;一顿饭的连锁反应&lt;/Text&gt;&#13;&#10;    &lt;Text style={{ fontSize: 14, color: 'rgba(44,44,42,0.45)', letterSpacing: 2, fontFamily: 'Microsoft YaHei', marginLeft: 10 }}&gt;第五章 · 一桌饭的千年回响&lt;/Text&gt;&#13;&#10;  &lt;/Box&gt;&#13;&#10;&#13;&#10;  &lt;Box style={{ position: 'absolute', left: 64, top: 108, width: 1152, background: 'rgba(44,44,42,0.06)', borderLeft: '3px solid #A32D2D', padding: '14px 22px', display: 'flex', flexDirection: 'row', alignItems: 'center', gap: 12 }}&gt;&#13;&#10;    &lt;Box style={{ width: 12, height: 12, background: '#A32D2D' }} /&gt;&#13;&#10;    &lt;Text style={{ fontSize: 17, fontWeight: 'bold', color: '#2C2C2A', lineHeight: 1.6, fontFamily: 'Microsoft YaHei' }}&gt;&#13;&#10;      鸿门宴不是终点，而是起点——这顿饭放走了刘邦，接下来四年彻底改变了天下格局。&#13;&#10;    &lt;/Text&gt;&#13;&#10;  &lt;/Box&gt;&#13;&#10;&#13;&#10;  &lt;Box style={{ position: 'absolute', left: 64, top: 186, width: 1152, height: 60 }}&gt;&#13;&#10;    &lt;svg width={1152} height={60} viewBox=&quot;0 0 1152 60&quot;&gt;&#13;&#10;      &lt;line x1=&quot;16&quot; y1=&quot;40&quot; x2=&quot;1136&quot; y2=&quot;40&quot; stroke=&quot;#D9D3C4&quot; strokeWidth=&quot;2&quot; /&gt;&#13;&#10;      &lt;text x=&quot;144&quot; y=&quot;16&quot; textAnchor=&quot;middle&quot; fontSize=&quot;15&quot; fill=&quot;#BA7517&quot; fontFamily=&quot;STZhongsong&quot; fontWeight=&quot;bold&quot;&gt;前 206 年 · 夏&lt;/text&gt;&#13;&#10;      &lt;circle cx=&quot;144&quot; cy=&quot;40&quot; r=&quot;9&quot; fill=&quot;#BA7517&quot; /&gt;&#13;&#10;      &lt;text x=&quot;432&quot; y=&quot;16&quot; textAnchor=&quot;middle&quot; fontSize=&quot;15&quot; fill=&quot;#BA7517&quot; fontFamily=&quot;STZhongsong&quot; fontWeight=&quot;bold&quot;&gt;前 206 年 · 八月&lt;/text&gt;&#13;&#10;      &lt;circle cx=&quot;432&quot; cy=&quot;40&quot; r=&quot;9&quot; fill=&quot;#BA7517&quot; /&gt;&#13;&#10;      &lt;text x=&quot;720&quot; y=&quot;16&quot; textAnchor=&quot;middle&quot; fontSize=&quot;15&quot; fill=&quot;#BA7517&quot; fontFamily=&quot;STZhongsong&quot; fontWeight=&quot;bold&quot;&gt;前 205 年 · 四月&lt;/text&gt;&#13;&#10;      &lt;circle cx=&quot;720&quot; cy=&quot;40&quot; r=&quot;9&quot; fill=&quot;#BA7517&quot; /&gt;&#13;&#10;      &lt;text x=&quot;1008&quot; y=&quot;16&quot; textAnchor=&quot;middle&quot; fontSize=&quot;15&quot; fill=&quot;#A32D2D&quot; fontFamily=&quot;STZhongsong&quot; fontWeight=&quot;bold&quot;&gt;前 202 年 · 一月&lt;/text&gt;&#13;&#10;      &lt;circle cx=&quot;1008&quot; cy=&quot;40&quot; r=&quot;11&quot; fill=&quot;#A32D2D&quot; /&gt;&#13;&#10;    &lt;/svg&gt;&#13;&#10;  &lt;/Box&gt;&#13;&#10;&#13;&#10;  &lt;Box style={{ position: 'absolute', left: 83, top: 262, width: 250, height: 284, background: '#FFFFFF', border: '0.5px solid #D9D3C4', boxShadow: '0 4px 20px rgba(44,44,42,0.08)', padding: '18px 20px', display: 'flex', flexDirection: 'column' }}&gt;&#13;&#10;    &lt;Text style={{ fontSize: 17, fontWeight: 'bold', color: '#BA7517', letterSpacing: 1, fontFamily: 'STZhongsong' }}&gt;分封天下&lt;/Text&gt;&#13;&#10;    &lt;Text style={{ fontSize: 14, color: 'rgba(44,44,42,0.8)', lineHeight: 1.8, marginTop: 10, fontFamily: 'Microsoft YaHei' }}&gt;&#13;&#10;      项羽分封十八路诸侯，自封西楚霸王，把刘邦赶到巴蜀汉中。&#13;&#10;    &lt;/Text&gt;&#13;&#10;    &lt;Text style={{ fontSize: 14, fontWeight: 'bold', color: '#A32D2D', lineHeight: 1.8, marginTop: 'auto', fontFamily: 'Microsoft YaHei' }}&gt;&#13;&#10;      看似赢了，实则埋下祸根——分封不公，诸侯不满。&#13;&#10;    &lt;/Text&gt;&#13;&#10;  &lt;/Box&gt;&#13;&#10;&#13;&#10;  &lt;Box style={{ position: 'absolute', left: 371, top: 262, width: 250, height: 284, background: '#FFFFFF', border: '0.5px solid #BA7517', boxShadow: '0 4px 20px rgba(44,44,42,0.08)', padding: '18px 20px', display: 'flex', flexDirection: 'column' }}&gt;&#13;&#10;    &lt;Text style={{ fontSize: 17, fontWeight: 'bold', color: '#BA7517', letterSpacing: 1, fontFamily: 'STZhongsong' }}&gt;暗度陈仓&lt;/Text&gt;&#13;&#10;    &lt;Text style={{ fontSize: 14, color: 'rgba(44,44,42,0.8)', lineHeight: 1.8, marginTop: 10, fontFamily: 'Microsoft YaHei' }}&gt;&#13;&#10;      刘邦「明修栈道，暗度陈仓」，奇袭三秦，三个月平定关中，拿下战略大本营。&#13;&#10;    &lt;/Text&gt;&#13;&#10;    &lt;Text style={{ fontSize: 14, fontWeight: 'bold', color: '#A32D2D', lineHeight: 1.8, marginTop: 'auto', fontFamily: 'Microsoft YaHei' }}&gt;&#13;&#10;      两年前约定的「关中王」，被他自己拿了回来。&#13;&#10;    &lt;/Text&gt;&#13;&#10;  &lt;/Box&gt;&#13;&#10;&#13;&#10;  &lt;Box style={{ position: 'absolute', left: 659, top: 262, width: 250, height: 284, background: '#FFFFFF', border: '0.5px solid #D9D3C4', boxShadow: '0 4px 20px rgba(44,44,42,0.08)', padding: '18px 20px', display: 'flex', flexDirection: 'column' }}&gt;&#13;&#10;    &lt;Text style={{ fontSize: 17, fontWeight: 'bold', color: '#BA7517', letterSpacing: 1, fontFamily: 'STZhongsong' }}&gt;彭城之战&lt;/Text&gt;&#13;&#10;    &lt;Text style={{ fontSize: 14, color: 'rgba(44,44,42,0.8)', lineHeight: 1.8, marginTop: 10, fontFamily: 'Microsoft YaHei' }}&gt;&#13;&#10;      刘邦率 56 万联军占领彭城，项羽 3 万精骑一日回师，一击击溃——战争史上的经典闪电战。&#13;&#10;    &lt;/Text&gt;&#13;&#10;    &lt;Text style={{ fontSize: 14, fontWeight: 'bold', color: '#A32D2D', lineHeight: 1.8, marginTop: 'auto', fontFamily: 'Microsoft YaHei' }}&gt;&#13;&#10;      刘邦惨败，但故事才刚刚开始。&#13;&#10;    &lt;/Text&gt;&#13;&#10;  &lt;/Box&gt;&#13;&#10;&#13;&#10;  &lt;Box style={{ position: 'absolute', left: 947, top: 262, width: 250, height: 284, background: '#2C2C2A', padding: '18px 20px', display: 'flex', flexDirection: 'column' }}&gt;&#13;&#10;    &lt;Text style={{ fontSize: 17, fontWeight: 'bold', color: '#BA7517', letterSpacing: 1, fontFamily: 'STZhongsong' }}&gt;垓下之战&lt;/Text&gt;&#13;&#10;    &lt;Text style={{ fontSize: 14, color: 'rgba(246,242,231,0.85)', lineHeight: 1.8, marginTop: 10, fontFamily: 'Microsoft YaHei' }}&gt;&#13;&#10;      韩信合围，十面埋伏，四面楚歌。项羽兵败垓下，自刎乌江。&#13;&#10;    &lt;/Text&gt;&#13;&#10;    &lt;Text style={{ fontSize: 14, fontWeight: 'bold', color: '#BA7517', lineHeight: 1.8, marginTop: 'auto', fontFamily: 'Microsoft YaHei' }}&gt;&#13;&#10;      四年争战，终以刘邦胜利告终。&#13;&#10;    &lt;/Text&gt;&#13;&#10;  &lt;/Box&gt;&#13;&#10;&#13;&#10;  &lt;Box style={{ position: 'absolute', left: 64, top: 566, width: 1152, background: '#2C2C2A', padding: '18px 24px', display: 'flex', flexDirection: 'row', alignItems: 'center', gap: 16 }}&gt;&#13;&#10;    &lt;Box style={{ width: 12, height: 12, background: '#A32D2D' }} /&gt;&#13;&#10;    &lt;Text style={{ fontSize: 17, fontWeight: 'bold', color: '#F6F2E7', lineHeight: 1.6, fontFamily: 'Microsoft YaHei' }}&gt;&#13;&#10;      回头看鸿门宴：那一剑没有落下，放走的从来不只是刘邦一条性命，而是一个未来王朝的命数。&#13;&#10;    &lt;/Text&gt;&#13;&#10;  &lt;/Box&gt;&#13;&#10;&#13;&#10;  &lt;Box style={{ position: 'absolute', left: 64, top: 660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60, fontSize: 14, color: 'rgba(44,44,42,0.62)', fontFamily: 'Microsoft YaHei' }}&gt;30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726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27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25527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鸿门宴之后的四年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3514725" y="457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2C2C2A">
                    <a:alpha val="55000"/>
                  </a:srgbClr>
                </a:solidFill>
                <a:latin typeface="STZhongsong"/>
                <a:ea typeface="STZhongsong"/>
              </a:rPr>
              <a:t>一顿饭的连锁反应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5343525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第五章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一桌饭的千年回响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38175" y="1028700"/>
            <a:ext cx="10944225" cy="581025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733" name=""/>
          <p:cNvSpPr/>
          <p:nvPr/>
        </p:nvSpPr>
        <p:spPr>
          <a:xfrm rot="0" flipH="0" flipV="0">
            <a:off x="609600" y="1028700"/>
            <a:ext cx="10972800" cy="581025"/>
          </a:xfrm>
          <a:custGeom>
            <a:pathLst>
              <a:path w="1152" h="61">
                <a:moveTo>
                  <a:pt x="0" y="0"/>
                </a:moveTo>
                <a:lnTo>
                  <a:pt x="3" y="0"/>
                </a:lnTo>
                <a:lnTo>
                  <a:pt x="3" y="61"/>
                </a:lnTo>
                <a:lnTo>
                  <a:pt x="0" y="61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734" name=""/>
          <p:cNvSpPr/>
          <p:nvPr/>
        </p:nvSpPr>
        <p:spPr>
          <a:xfrm rot="0" flipH="0" flipV="0">
            <a:off x="847725" y="126682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1076325" y="1162050"/>
            <a:ext cx="61817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2C2C2A"/>
                </a:solidFill>
                <a:latin typeface="Microsoft YaHei"/>
                <a:ea typeface="Microsoft YaHei"/>
              </a:rPr>
              <a:t>鸿门宴不是终点，而是起点——这顿饭放走了刘邦，接下来四年彻底改变了天下格局。</a:t>
            </a:r>
            <a:endParaRPr/>
          </a:p>
        </p:txBody>
      </p:sp>
      <p:pic>
        <p:nvPicPr>
          <p:cNvPr id="7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771650"/>
            <a:ext cx="10972800" cy="571500"/>
          </a:xfrm>
          <a:prstGeom prst="rect">
            <a:avLst/>
          </a:prstGeom>
          <a:ln/>
        </p:spPr>
      </p:pic>
      <p:sp>
        <p:nvSpPr>
          <p:cNvPr id="737" name=""/>
          <p:cNvSpPr/>
          <p:nvPr/>
        </p:nvSpPr>
        <p:spPr>
          <a:xfrm rot="0" flipH="0" flipV="0">
            <a:off x="790575" y="2495550"/>
            <a:ext cx="2381250" cy="270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981075" y="26670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BA7517"/>
                </a:solidFill>
                <a:latin typeface="STZhongsong"/>
                <a:ea typeface="STZhongsong"/>
              </a:rPr>
              <a:t>分封天下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981075" y="2962275"/>
            <a:ext cx="20002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项羽分封十八路诸侯，自封西楚霸王，把刘邦赶到巴蜀汉中。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81075" y="4448175"/>
            <a:ext cx="20002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 b="1">
                <a:solidFill>
                  <a:srgbClr val="A32D2D"/>
                </a:solidFill>
                <a:latin typeface="Microsoft YaHei"/>
                <a:ea typeface="Microsoft YaHei"/>
              </a:rPr>
              <a:t>看似赢了，实则埋下祸根——分封不公，诸侯不满。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3533775" y="2495550"/>
            <a:ext cx="2381250" cy="2705100"/>
          </a:xfrm>
          <a:prstGeom prst="rect">
            <a:avLst/>
          </a:prstGeom>
          <a:solidFill>
            <a:srgbClr val="FFFFFF"/>
          </a:solidFill>
          <a:ln w="6350">
            <a:solidFill>
              <a:srgbClr val="BA7517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3724275" y="26670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BA7517"/>
                </a:solidFill>
                <a:latin typeface="STZhongsong"/>
                <a:ea typeface="STZhongsong"/>
              </a:rPr>
              <a:t>暗度陈仓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3724275" y="2962275"/>
            <a:ext cx="2000250" cy="866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刘邦「明修栈道，暗度陈仓」，奇袭三秦，三个月平定关中，拿下战略大本营。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3724275" y="4448175"/>
            <a:ext cx="20002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 b="1">
                <a:solidFill>
                  <a:srgbClr val="A32D2D"/>
                </a:solidFill>
                <a:latin typeface="Microsoft YaHei"/>
                <a:ea typeface="Microsoft YaHei"/>
              </a:rPr>
              <a:t>两年前约定的「关中王」，被他自己拿了回来。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276975" y="2495550"/>
            <a:ext cx="2381250" cy="27051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467475" y="26670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BA7517"/>
                </a:solidFill>
                <a:latin typeface="STZhongsong"/>
                <a:ea typeface="STZhongsong"/>
              </a:rPr>
              <a:t>彭城之战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467475" y="2962275"/>
            <a:ext cx="2000250" cy="866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刘邦率</a:t>
            </a:r>
            <a:r>
              <a:rPr lang="en-US" sz="105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 56 </a:t>
            </a:r>
            <a:r>
              <a:rPr lang="zh-CN" sz="105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万联军占领彭城，项羽</a:t>
            </a:r>
            <a:r>
              <a:rPr lang="en-US" sz="105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万精骑一日回师，一击击溃——战争史上的经典闪电战。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6467475" y="4733925"/>
            <a:ext cx="200025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 b="1">
                <a:solidFill>
                  <a:srgbClr val="A32D2D"/>
                </a:solidFill>
                <a:latin typeface="Microsoft YaHei"/>
                <a:ea typeface="Microsoft YaHei"/>
              </a:rPr>
              <a:t>刘邦惨败，但故事才刚刚开始。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9020175" y="2495550"/>
            <a:ext cx="2381250" cy="27051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9210675" y="26670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BA7517"/>
                </a:solidFill>
                <a:latin typeface="STZhongsong"/>
                <a:ea typeface="STZhongsong"/>
              </a:rPr>
              <a:t>垓下之战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9210675" y="2962275"/>
            <a:ext cx="20002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6F2E7">
                    <a:alpha val="85000"/>
                  </a:srgbClr>
                </a:solidFill>
                <a:latin typeface="Microsoft YaHei"/>
                <a:ea typeface="Microsoft YaHei"/>
              </a:rPr>
              <a:t>韩信合围，十面埋伏，四面楚歌。项羽兵败垓下，自刎乌江。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9210675" y="4733925"/>
            <a:ext cx="200025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 b="1">
                <a:solidFill>
                  <a:srgbClr val="BA7517"/>
                </a:solidFill>
                <a:latin typeface="Microsoft YaHei"/>
                <a:ea typeface="Microsoft YaHei"/>
              </a:rPr>
              <a:t>四年争战，终以刘邦胜利告终。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609600" y="5391150"/>
            <a:ext cx="10972800" cy="657225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54" name=""/>
          <p:cNvSpPr/>
          <p:nvPr/>
        </p:nvSpPr>
        <p:spPr>
          <a:xfrm rot="0" flipH="0" flipV="0">
            <a:off x="838200" y="5667375"/>
            <a:ext cx="114300" cy="1143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104900" y="5562600"/>
            <a:ext cx="68008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6F2E7"/>
                </a:solidFill>
                <a:latin typeface="Microsoft YaHei"/>
                <a:ea typeface="Microsoft YaHei"/>
              </a:rPr>
              <a:t>回头看鸿门宴：那一剑没有落下，放走的从来不只是刘邦一条性命，而是一个未来王朝的命数。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609600" y="62865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876300" y="62960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1125200" y="62865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30 / 32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759" name="" descr="&lt;Slide notes={`好，来看这顿饭留下的文化遗产。&#13;&#10;&#13;&#10;先从成语开始。「鸿门宴」这个词本身就成了成语——比喻不怀好意的宴请。「项庄舞剑，意在沛公」——表面做这事，实则另有所图。「人为刀俎，我为鱼肉」——生死操于人手。这几个大家都熟。&#13;&#10;&#13;&#10;但有一个成语，大家可能不知道出处——「大行不顾细谨，大礼不辞小让」。你们知道这句话是谁说的吗？是张良说的。什么时候说的？刘邦准备偷偷跑路的时候。张良说「做大事不拘小节」，翻译一下就是：别跟项羽辞行了，赶紧跑！&#13;&#10;&#13;&#10;所以这个成语的背后，其实是一份「逃命指南」。&#13;&#10;&#13;&#10;再看诗。真正写鸿门宴的传世诗几乎没有，名篇多是后人咏项羽乌江自刎。杜牧说「江东子弟多才俊，卷土重来未可知」——假设式翻案；王安石回怼：「江东子弟今虽在，肯与君王卷土来」——理性派说，大势已去；李清照最热血：「生当作人杰，死亦为鬼雄」——颂其气节。&#13;&#10;&#13;&#10;读诗即是读人心：每个人心里，都住着一个不同的项羽。&#13;&#10;&#13;&#10;最后，鸿门宴故地在今陕西临潼，有遗址可探访，可以和兵马俑、华清宫串成一条线。去现场走一遍，会觉得历史特别真实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64, top: 40, display: 'flex', flexDirection: 'row', alignItems: 'center', gap: 14 }}&gt;&#13;&#10;    &lt;Box style={{ width: 5, height: 34, background: '#BA7517' }} /&gt;&#13;&#10;    &lt;Text style={{ fontSize: 32, fontWeight: 'bold', color: '#2C2C2A', letterSpacing: 1.5, fontFamily: 'STZhongsong' }}&gt;成语、诗与现场&lt;/Text&gt;&#13;&#10;    &lt;Text style={{ fontSize: 14, color: 'rgba(44,44,42,0.45)', letterSpacing: 2, fontFamily: 'Microsoft YaHei', marginLeft: 8 }}&gt;第五章 · 一桌饭的千年回响&lt;/Text&gt;&#13;&#10;  &lt;/Box&gt;&#13;&#10;&#13;&#10;  &lt;Box style={{ position: 'absolute', left: 64, top: 122, width: 300, height: 520 }}&gt;&#13;&#10;    &lt;Text style={{ fontSize: 38, fontWeight: 'bold', color: '#2C2C2A', letterSpacing: 5, fontFamily: 'STZhongsong' }}&gt;千年回响&lt;/Text&gt;&#13;&#10;    &lt;Box style={{ width: 46, height: 3, background: '#BA7517', marginTop: 20 }} /&gt;&#13;&#10;    &lt;Text style={{ fontSize: 16, color: 'rgba(44,44,42,0.62)', lineHeight: 2.0, marginTop: 24, fontFamily: 'Microsoft YaHei' }}&gt;&#13;&#10;      真正写「鸿门宴」的传世诗几乎没有——名篇多是后人咏项羽乌江自刎。&#13;&#10;    &lt;/Text&gt;&#13;&#10;    &lt;Text style={{ fontSize: 16, color: 'rgba(44,44,42,0.62)', lineHeight: 2.0, marginTop: 16, fontFamily: 'Microsoft YaHei' }}&gt;&#13;&#10;      读诗即是读人心：每个人心里，都住着一个不同的项羽。&#13;&#10;    &lt;/Text&gt;&#13;&#10;    &lt;Box style={{ marginTop: 28, background: 'rgba(44,44,42,0.06)', borderLeft: '3px solid #A32D2D', padding: '16px 18px' }}&gt;&#13;&#10;      &lt;Text style={{ fontSize: 13, letterSpacing: 2, color: '#A32D2D', fontWeight: 'bold', fontFamily: 'Microsoft YaHei' }}&gt;互动提问&lt;/Text&gt;&#13;&#10;      &lt;Text style={{ fontSize: 15, color: 'rgba(44,44,42,0.82)', lineHeight: 1.7, marginTop: 8, fontFamily: 'Microsoft YaHei' }}&gt;&#13;&#10;        「大行不顾细谨，大礼不辞小让」是谁、在什么情境下说的？&#13;&#10;      &lt;/Text&gt;&#13;&#10;    &lt;/Box&gt;&#13;&#10;  &lt;/Box&gt;&#13;&#10;&#13;&#10;  &lt;Box style={{ position: 'absolute', left: 420, top: 120, width: 796, height: 540, display: 'flex', flexDirection: 'column', justifyContent: 'space-between' }}&gt;&#13;&#10;&#13;&#10;    &lt;Box style={{ display: 'flex', flexDirection: 'column', gap: 10 }}&gt;&#13;&#10;      &lt;Box style={{ display: 'flex', flexDirection: 'row', alignItems: 'center', gap: 10 }}&gt;&#13;&#10;        &lt;Box style={{ width: 3, height: 20, background: '#BA7517' }} /&gt;&#13;&#10;        &lt;Text style={{ fontSize: 20, fontWeight: 'bold', color: '#2C2C2A', fontFamily: 'STZhongsong', letterSpacing: 2 }}&gt;从鸿门宴走出的成语&lt;/Text&gt;&#13;&#10;      &lt;/Box&gt;&#13;&#10;      &lt;Box style={{ display: 'flex', flexDirection: 'row', gap: 16, alignItems: 'baseline' }}&gt;&#13;&#10;        &lt;Text style={{ fontSize: 17, fontWeight: 'bold', color: '#2C2C2A', fontFamily: 'STZhongsong', width: 292 }}&gt;鸿门宴&lt;/Text&gt;&#13;&#10;        &lt;Text style={{ fontSize: 16, color: 'rgba(44,44,42,0.62)', fontFamily: 'Microsoft YaHei' }}&gt;喻不怀好意的宴请&lt;/Text&gt;&#13;&#10;      &lt;/Box&gt;&#13;&#10;      &lt;Box style={{ display: 'flex', flexDirection: 'row', gap: 16, alignItems: 'baseline' }}&gt;&#13;&#10;        &lt;Text style={{ fontSize: 17, fontWeight: 'bold', color: '#2C2C2A', fontFamily: 'STZhongsong', width: 292 }}&gt;项庄舞剑，意在沛公&lt;/Text&gt;&#13;&#10;        &lt;Text style={{ fontSize: 16, color: 'rgba(44,44,42,0.62)', fontFamily: 'Microsoft YaHei' }}&gt;表面做这事，实则另有所图&lt;/Text&gt;&#13;&#10;      &lt;/Box&gt;&#13;&#10;      &lt;Box style={{ display: 'flex', flexDirection: 'row', gap: 16, alignItems: 'baseline' }}&gt;&#13;&#10;        &lt;Text style={{ fontSize: 17, fontWeight: 'bold', color: '#2C2C2A', fontFamily: 'STZhongsong', width: 292 }}&gt;人为刀俎，我为鱼肉&lt;/Text&gt;&#13;&#10;        &lt;Text style={{ fontSize: 16, color: 'rgba(44,44,42,0.62)', fontFamily: 'Microsoft YaHei' }}&gt;生死操于人手&lt;/Text&gt;&#13;&#10;      &lt;/Box&gt;&#13;&#10;      &lt;Box style={{ display: 'flex', flexDirection: 'row', gap: 16, alignItems: 'baseline' }}&gt;&#13;&#10;        &lt;Text style={{ fontSize: 17, fontWeight: 'bold', color: '#2C2C2A', fontFamily: 'STZhongsong', width: 292 }}&gt;大行不顾细谨，大礼不辞小让&lt;/Text&gt;&#13;&#10;        &lt;Text style={{ fontSize: 16, color: 'rgba(44,44,42,0.62)', fontFamily: 'Microsoft YaHei' }}&gt;成大事不拘小节 —— 张良劝刘邦脱身时的「逃命指南」&lt;/Text&gt;&#13;&#10;      &lt;/Box&gt;&#13;&#10;      &lt;Box style={{ display: 'flex', flexDirection: 'row', gap: 16, alignItems: 'baseline' }}&gt;&#13;&#10;        &lt;Text style={{ fontSize: 17, fontWeight: 'bold', color: '#2C2C2A', fontFamily: 'STZhongsong', width: 292 }}&gt;劳苦功高 · 秋毫无犯 · 竖子不足与谋&lt;/Text&gt;&#13;&#10;        &lt;Text style={{ fontSize: 16, color: 'rgba(44,44,42,0.62)', fontFamily: 'Microsoft YaHei' }}&gt;均出自《史记 · 项羽本纪》&lt;/Text&gt;&#13;&#10;      &lt;/Box&gt;&#13;&#10;    &lt;/Box&gt;&#13;&#10;&#13;&#10;    &lt;Box style={{ display: 'flex', flexDirection: 'column', gap: 10, paddingTop: 14, borderTop: '0.5px solid #D9D3C4' }}&gt;&#13;&#10;      &lt;Box style={{ display: 'flex', flexDirection: 'row', alignItems: 'center', gap: 10 }}&gt;&#13;&#10;        &lt;Box style={{ width: 3, height: 20, background: '#BA7517' }} /&gt;&#13;&#10;        &lt;Text style={{ fontSize: 20, fontWeight: 'bold', color: '#2C2C2A', fontFamily: 'STZhongsong', letterSpacing: 2 }}&gt;后世咏项羽的名篇&lt;/Text&gt;&#13;&#10;      &lt;/Box&gt;&#13;&#10;      &lt;Text style={{ fontSize: 16, color: 'rgba(44,44,42,0.78)', lineHeight: 1.75, fontFamily: 'Microsoft YaHei' }}&gt;&#13;&#10;        &lt;span style={{ fontWeight: 'bold' }}&gt;杜牧《题乌江亭》&lt;/span&gt;「江东子弟多才俊，卷土重来未可知」——&lt;span style={{ color: '#BA7517', fontWeight: 'bold' }}&gt;假设式翻案&lt;/span&gt;&#13;&#10;      &lt;/Text&gt;&#13;&#10;      &lt;Text style={{ fontSize: 16, color: 'rgba(44,44,42,0.78)', lineHeight: 1.75, fontFamily: 'Microsoft YaHei' }}&gt;&#13;&#10;        &lt;span style={{ fontWeight: 'bold' }}&gt;王安石《叠题乌江亭》&lt;/span&gt;「江东子弟今虽在，肯与君王卷土来」——&lt;span style={{ color: '#BA7517', fontWeight: 'bold' }}&gt;理性回怼，大势已去&lt;/span&gt;&#13;&#10;      &lt;/Text&gt;&#13;&#10;      &lt;Text style={{ fontSize: 16, color: 'rgba(44,44,42,0.78)', lineHeight: 1.75, fontFamily: 'Microsoft YaHei' }}&gt;&#13;&#10;        &lt;span style={{ fontWeight: 'bold' }}&gt;李清照《夏日绝句》&lt;/span&gt;「生当作人杰，死亦为鬼雄。至今思项羽，不肯过江东」——&lt;span style={{ color: '#A32D2D', fontWeight: 'bold' }}&gt;颂其气节，最热血&lt;/span&gt;&#13;&#10;      &lt;/Text&gt;&#13;&#10;    &lt;/Box&gt;&#13;&#10;&#13;&#10;    &lt;Box style={{ display: 'flex', flexDirection: 'column', gap: 8, paddingTop: 14, borderTop: '0.5px solid #D9D3C4' }}&gt;&#13;&#10;      &lt;Box style={{ display: 'flex', flexDirection: 'row', alignItems: 'center', gap: 10 }}&gt;&#13;&#10;        &lt;Box style={{ width: 3, height: 20, background: '#A32D2D' }} /&gt;&#13;&#10;        &lt;Text style={{ fontSize: 20, fontWeight: 'bold', color: '#2C2C2A', fontFamily: 'STZhongsong', letterSpacing: 2 }}&gt;去现场，把历史走一遍&lt;/Text&gt;&#13;&#10;      &lt;/Box&gt;&#13;&#10;      &lt;Text style={{ fontSize: 15, color: 'rgba(44,44,42,0.78)', lineHeight: 1.8, fontFamily: 'Microsoft YaHei' }}&gt;&#13;&#10;        鸿门宴故地在今陕西省西安市临潼区，有「鸿门宴遗址」可探访，可与兵马俑、华清宫串成一条线。&#13;&#10;      &lt;/Text&gt;&#13;&#10;    &lt;/Box&gt;&#13;&#10;&#13;&#10;  &lt;/Box&gt;&#13;&#10;&#13;&#10;  &lt;Box style={{ position: 'absolute', left: 64, top: 676, display: 'flex', flexDirection: 'row', alignItems: 'center', gap: 10 }}&gt;&#13;&#10;    &lt;Box style={{ width: 18, height: 18, background: '#A32D2D' }} /&gt;&#13;&#10;    &lt;Text style={{ fontSize: 13, color: 'rgba(44,44,42,0.62)', letterSpacing: 1, fontFamily: 'Microsoft YaHei' }}&gt;鸿门宴 · 一场饭局里的天下、人心与千秋&lt;/Text&gt;&#13;&#10;  &lt;/Box&gt;&#13;&#10;  &lt;Text style={{ position: 'absolute', right: 64, top: 678, fontSize: 14, color: 'rgba(44,44,42,0.62)', fontFamily: 'Microsoft YaHei' }}&gt;31 / 32&lt;/Text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761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762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609600" y="409575"/>
            <a:ext cx="47625" cy="32385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790575" y="381000"/>
            <a:ext cx="22383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13">
                <a:solidFill>
                  <a:srgbClr val="2C2C2A"/>
                </a:solidFill>
                <a:latin typeface="STZhongsong"/>
                <a:ea typeface="STZhongsong"/>
              </a:rPr>
              <a:t>成语、诗与现场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3238500" y="485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第五章</a:t>
            </a:r>
            <a:r>
              <a:rPr lang="en-US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2C2C2A">
                    <a:alpha val="45000"/>
                  </a:srgbClr>
                </a:solidFill>
                <a:latin typeface="Microsoft YaHei"/>
                <a:ea typeface="Microsoft YaHei"/>
              </a:rPr>
              <a:t>一桌饭的千年回响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28575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375">
                <a:solidFill>
                  <a:srgbClr val="2C2C2A"/>
                </a:solidFill>
                <a:latin typeface="STZhongsong"/>
                <a:ea typeface="STZhongsong"/>
              </a:rPr>
              <a:t>千年回响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609600" y="1790700"/>
            <a:ext cx="43815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2857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真正写「鸿门宴」的传世诗几乎没有——名篇多是后人咏项羽乌江自刎。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609600" y="2933700"/>
            <a:ext cx="2857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读诗即是读人心：每个人心里，都住着一个不同的项羽。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638175" y="3933825"/>
            <a:ext cx="2857500" cy="1123950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771" name=""/>
          <p:cNvSpPr/>
          <p:nvPr/>
        </p:nvSpPr>
        <p:spPr>
          <a:xfrm rot="0" flipH="0" flipV="0">
            <a:off x="609600" y="3933825"/>
            <a:ext cx="2886075" cy="1123950"/>
          </a:xfrm>
          <a:custGeom>
            <a:pathLst>
              <a:path w="303" h="118">
                <a:moveTo>
                  <a:pt x="0" y="0"/>
                </a:moveTo>
                <a:lnTo>
                  <a:pt x="3" y="0"/>
                </a:lnTo>
                <a:lnTo>
                  <a:pt x="3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A32D2D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09625" y="4086225"/>
            <a:ext cx="2486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A32D2D"/>
                </a:solidFill>
                <a:latin typeface="Microsoft YaHei"/>
                <a:ea typeface="Microsoft YaHei"/>
              </a:rPr>
              <a:t>互动提问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809625" y="4314825"/>
            <a:ext cx="24860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C2C2A">
                    <a:alpha val="82000"/>
                  </a:srgbClr>
                </a:solidFill>
                <a:latin typeface="Microsoft YaHei"/>
                <a:ea typeface="Microsoft YaHei"/>
              </a:rPr>
              <a:t>「大行不顾细谨，大礼不辞小让」是谁、在什么情境下说的？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4000500" y="1162050"/>
            <a:ext cx="28575" cy="190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4124325" y="1143000"/>
            <a:ext cx="1885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2C2C2A"/>
                </a:solidFill>
                <a:latin typeface="STZhongsong"/>
                <a:ea typeface="STZhongsong"/>
              </a:rPr>
              <a:t>从鸿门宴走出的成语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4000500" y="1466850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鸿门宴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934200" y="1466850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喻不怀好意的宴请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4000500" y="1762125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项庄舞剑，意在沛公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6934200" y="1762125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表面做这事，实则另有所图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4000500" y="2057400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人为刀俎，我为鱼肉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6934200" y="205740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生死操于人手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4000500" y="2352675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大行不顾细谨，大礼不辞小让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6934200" y="2352675"/>
            <a:ext cx="3781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成大事不拘小节</a:t>
            </a:r>
            <a:r>
              <a:rPr lang="en-US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张良劝刘邦脱身时的「逃命指南」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4000500" y="2647950"/>
            <a:ext cx="27813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劳苦功高</a:t>
            </a:r>
            <a:r>
              <a:rPr lang="en-US" sz="1275" b="1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秋毫无犯</a:t>
            </a:r>
            <a:r>
              <a:rPr lang="en-US" sz="1275" b="1">
                <a:solidFill>
                  <a:srgbClr val="2C2C2A"/>
                </a:solidFill>
                <a:latin typeface="STZhongsong"/>
                <a:ea typeface="STZhongsong"/>
              </a:rPr>
              <a:t> · </a:t>
            </a:r>
            <a:r>
              <a:rPr lang="zh-CN" sz="1275" b="1">
                <a:solidFill>
                  <a:srgbClr val="2C2C2A"/>
                </a:solidFill>
                <a:latin typeface="STZhongsong"/>
                <a:ea typeface="STZhongsong"/>
              </a:rPr>
              <a:t>竖子不足与谋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6934200" y="2647950"/>
            <a:ext cx="1809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均出自《史记</a:t>
            </a:r>
            <a:r>
              <a:rPr lang="en-US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项羽本纪》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4000500" y="3467100"/>
            <a:ext cx="7581900" cy="1638300"/>
          </a:xfrm>
          <a:custGeom>
            <a:pathLst>
              <a:path w="796" h="172">
                <a:moveTo>
                  <a:pt x="0" y="0"/>
                </a:moveTo>
                <a:lnTo>
                  <a:pt x="796" y="0"/>
                </a:lnTo>
                <a:lnTo>
                  <a:pt x="796" y="1"/>
                </a:lnTo>
                <a:lnTo>
                  <a:pt x="0" y="1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787" name=""/>
          <p:cNvSpPr/>
          <p:nvPr/>
        </p:nvSpPr>
        <p:spPr>
          <a:xfrm rot="0" flipH="0" flipV="0">
            <a:off x="4000500" y="3629025"/>
            <a:ext cx="28575" cy="190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4124325" y="3609975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2C2C2A"/>
                </a:solidFill>
                <a:latin typeface="STZhongsong"/>
                <a:ea typeface="STZhongsong"/>
              </a:rPr>
              <a:t>后世咏项羽的名篇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4000500" y="3933825"/>
            <a:ext cx="7581900" cy="323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 b="1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杜牧《题乌江亭》</a:t>
            </a:r>
            <a:r>
              <a:rPr lang="zh-CN" sz="120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「江东子弟多才俊，卷土重来未可知」——</a:t>
            </a:r>
            <a:r>
              <a:rPr lang="zh-CN" sz="1200" b="1">
                <a:solidFill>
                  <a:srgbClr val="BA7517"/>
                </a:solidFill>
                <a:latin typeface="Microsoft YaHei"/>
                <a:ea typeface="Microsoft YaHei"/>
              </a:rPr>
              <a:t>假设式翻案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4000500" y="4352925"/>
            <a:ext cx="7581900" cy="323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 b="1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王安石《叠题乌江亭》</a:t>
            </a:r>
            <a:r>
              <a:rPr lang="zh-CN" sz="120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「江东子弟今虽在，肯与君王卷土来」——</a:t>
            </a:r>
            <a:r>
              <a:rPr lang="zh-CN" sz="1200" b="1">
                <a:solidFill>
                  <a:srgbClr val="BA7517"/>
                </a:solidFill>
                <a:latin typeface="Microsoft YaHei"/>
                <a:ea typeface="Microsoft YaHei"/>
              </a:rPr>
              <a:t>理性回怼，大势已去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4000500" y="4772025"/>
            <a:ext cx="7581900" cy="323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 b="1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李清照《夏日绝句》</a:t>
            </a:r>
            <a:r>
              <a:rPr lang="zh-CN" sz="1200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「生当作人杰，死亦为鬼雄。至今思项羽，不肯过江东」——</a:t>
            </a:r>
            <a:r>
              <a:rPr lang="zh-CN" sz="1200" b="1">
                <a:solidFill>
                  <a:srgbClr val="A32D2D"/>
                </a:solidFill>
                <a:latin typeface="Microsoft YaHei"/>
                <a:ea typeface="Microsoft YaHei"/>
              </a:rPr>
              <a:t>颂其气节，最热血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4000500" y="5524500"/>
            <a:ext cx="7581900" cy="771525"/>
          </a:xfrm>
          <a:custGeom>
            <a:pathLst>
              <a:path w="796" h="81">
                <a:moveTo>
                  <a:pt x="0" y="0"/>
                </a:moveTo>
                <a:lnTo>
                  <a:pt x="796" y="0"/>
                </a:lnTo>
                <a:lnTo>
                  <a:pt x="796" y="1"/>
                </a:lnTo>
                <a:lnTo>
                  <a:pt x="0" y="1"/>
                </a:lnTo>
                <a:close/>
              </a:path>
            </a:pathLst>
          </a:custGeom>
          <a:solidFill>
            <a:srgbClr val="D9D3C4"/>
          </a:solidFill>
          <a:ln/>
        </p:spPr>
        <p:txBody>
          <a:bodyPr/>
          <a:p/>
        </p:txBody>
      </p:sp>
      <p:sp>
        <p:nvSpPr>
          <p:cNvPr id="793" name=""/>
          <p:cNvSpPr/>
          <p:nvPr/>
        </p:nvSpPr>
        <p:spPr>
          <a:xfrm rot="0" flipH="0" flipV="0">
            <a:off x="4000500" y="5686425"/>
            <a:ext cx="28575" cy="1905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4124325" y="566737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2C2C2A"/>
                </a:solidFill>
                <a:latin typeface="STZhongsong"/>
                <a:ea typeface="STZhongsong"/>
              </a:rPr>
              <a:t>去现场，把历史走一遍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4000500" y="5972175"/>
            <a:ext cx="75819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2C2C2A">
                    <a:alpha val="78000"/>
                  </a:srgbClr>
                </a:solidFill>
                <a:latin typeface="Microsoft YaHei"/>
                <a:ea typeface="Microsoft YaHei"/>
              </a:rPr>
              <a:t>鸿门宴故地在今陕西省西安市临潼区，有「鸿门宴遗址」可探访，可与兵马俑、华清宫串成一条线。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609600" y="6438900"/>
            <a:ext cx="171450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876300" y="64484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C2C2A">
                    <a:alpha val="62000"/>
                  </a:srgbClr>
                </a:solidFill>
                <a:latin typeface="Microsoft YaHei"/>
                <a:ea typeface="Microsoft YaHei"/>
              </a:rPr>
              <a:t>31 / 32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799" name="" descr="&lt;Slide notes={`好，最后做一个思想实验：如果项羽当天杀了刘邦，历史会怎样？&#13;&#10;&#13;&#10;短期看，项羽可能确实能稳住局势。但没有刘邦，还会有别的「刘邦」——有实力的诸侯不会甘心被一个霸王分封。项羽最大的问题不是杀不杀刘邦，而是他的整套逻辑已经跟不上时代了：他坚持分封制、坚持贵族政治、坚持「堂堂正正」的战争规则——而这些，在群雄并起的乱世里，注定要被更灵活、更务实的人击败。&#13;&#10;&#13;&#10;换句话说，就算没有刘邦，也会有另一个「刘邦」出现。项羽输的不是某一场比赛，而是他代表的那个时代。&#13;&#10;&#13;&#10;但这不妨碍我们惋惜——惋惜那个破釜沉舟的霸王，惋惜那把始终没有落下的剑，惋惜一种已经不合时宜的高贵。&#13;&#10;&#13;&#10;一个输在了不肯低头，一个赢在了能屈能伸。项羽要的是面子和天下共主的排场，刘邦要的是活下去和最后的天下。读懂这桌饭，也就读懂了成王败寇背后，那点关于性格、选择与代价的永恒道理。&#13;&#10;&#13;&#10;感谢收看本期视频，如果觉得内容有用，点个赞关注一下，我们下期再见。`} style={{ width: 1280, height: 720, background: '#F6F2E7', position: 'relative', overflow: 'hidden' }}&gt;&#13;&#10;&#13;&#10;  &lt;Box style={{ position: 'absolute', left: 0, top: 0, width: 10, height: 720, background: '#2C2C2A' }} /&gt;&#13;&#10;  &lt;Box style={{ position: 'absolute', left: 10, top: 0, width: 3, height: 720, background: '#BA7517', opacity: 0.85 }} /&gt;&#13;&#10;&#13;&#10;  &lt;Box style={{ position: 'absolute', left: 0, top: 52, width: 1280, display: 'flex', flexDirection: 'column', alignItems: 'center' }}&gt;&#13;&#10;    &lt;Box style={{ display: 'flex', flexDirection: 'row', alignItems: 'center', gap: 18 }}&gt;&#13;&#10;      &lt;Box style={{ width: 44, height: 1, background: '#D9D3C4' }} /&gt;&#13;&#10;      &lt;Text style={{ fontSize: 20, color: '#BA7517', letterSpacing: 10, fontFamily: 'STZhongsong', fontWeight: 'bold' }}&gt;结 语&lt;/Text&gt;&#13;&#10;      &lt;Box style={{ width: 44, height: 1, background: '#D9D3C4' }} /&gt;&#13;&#10;    &lt;/Box&gt;&#13;&#10;&#13;&#10;    &lt;Text style={{ fontSize: 48, fontWeight: 'bold', color: '#2C2C2A', letterSpacing: 6, lineHeight: 1.45, marginTop: 24, textAlign: 'center', fontFamily: 'STZhongsong' }}&gt;&#13;&#10;      一个输在了不肯低头，&lt;br /&gt;一个赢在了能屈能伸。&#13;&#10;    &lt;/Text&gt;&#13;&#10;&#13;&#10;    &lt;Box style={{ width: 64, height: 3, background: '#BA7517', marginTop: 26 }} /&gt;&#13;&#10;  &lt;/Box&gt;&#13;&#10;&#13;&#10;  &lt;Box style={{ position: 'absolute', left: 64, top: 336, width: 556, height: 268, background: '#FFFFFF', border: '0.5px solid #D9D3C4', boxShadow: '0 4px 20px rgba(44,44,42,0.08)', padding: '22px 26px', display: 'flex', flexDirection: 'column' }}&gt;&#13;&#10;    &lt;Box style={{ display: 'flex', flexDirection: 'row', alignItems: 'center', gap: 10 }}&gt;&#13;&#10;      &lt;Box style={{ width: 3, height: 18, background: '#A32D2D' }} /&gt;&#13;&#10;      &lt;Text style={{ fontSize: 14, letterSpacing: 2, color: '#A32D2D', fontWeight: 'bold', fontFamily: 'Microsoft YaHei' }}&gt;思想实验&lt;/Text&gt;&#13;&#10;    &lt;/Box&gt;&#13;&#10;    &lt;Text style={{ fontSize: 21, fontWeight: 'bold', color: '#2C2C2A', lineHeight: 1.5, marginTop: 12, fontFamily: 'STZhongsong' }}&gt;&#13;&#10;      如果项羽当天杀了刘邦，历史会怎样？&#13;&#10;    &lt;/Text&gt;&#13;&#10;    &lt;Text style={{ fontSize: 15, color: 'rgba(44,44,42,0.8)', lineHeight: 1.85, marginTop: 12, fontFamily: 'Microsoft YaHei' }}&gt;&#13;&#10;      短期看，他也许能稳住局势。但没有刘邦，还会有别的「刘邦」——有实力的诸侯不会甘心被一个霸王分封。&#13;&#10;    &lt;/Text&gt;&#13;&#10;    &lt;Text style={{ fontSize: 15, color: 'rgba(44,44,42,0.8)', lineHeight: 1.85, marginTop: 10, fontFamily: 'Microsoft YaHei' }}&gt;&#13;&#10;      他输的不是某一场比赛，而是他代表的那个时代：分封制、贵族政治、「堂堂正正」的战争规则，在群雄并起的乱世里注定被更务实的人击败。&#13;&#10;    &lt;/Text&gt;&#13;&#10;  &lt;/Box&gt;&#13;&#10;&#13;&#10;  &lt;Box style={{ position: 'absolute', left: 660, top: 336, width: 556, height: 268, display: 'flex', flexDirection: 'column', justifyContent: 'space-between' }}&gt;&#13;&#10;    &lt;Box style={{ background: '#2C2C2A', padding: '22px 26px' }}&gt;&#13;&#10;      &lt;Text style={{ fontSize: 17, fontWeight: 'bold', color: '#BA7517', lineHeight: 1.85, fontFamily: 'Microsoft YaHei' }}&gt;&#13;&#10;        但这不妨碍我们惋惜——惋惜那个破釜沉舟的霸王，惋惜那把始终没有落下的剑，惋惜一种已经不合时宜的高贵。&#13;&#10;      &lt;/Text&gt;&#13;&#10;    &lt;/Box&gt;&#13;&#10;    &lt;Box style={{ background: 'rgba(44,44,42,0.06)', borderLeft: '3px solid #BA7517', padding: '20px 24px' }}&gt;&#13;&#10;      &lt;Text style={{ fontSize: 16, color: 'rgba(44,44,42,0.8)', lineHeight: 1.8, fontFamily: 'Microsoft YaHei' }}&gt;&#13;&#10;        项羽要的是面子和天下共主的排场，刘邦要的是活下去和最后的天下。读懂这桌饭，也就读懂了成王败寇背后，那点关于性格、选择与代价的永恒道理。&#13;&#10;      &lt;/Text&gt;&#13;&#10;    &lt;/Box&gt;&#13;&#10;  &lt;/Box&gt;&#13;&#10;&#13;&#10;  &lt;Box style={{ position: 'absolute', left: 0, top: 634, width: 1280, display: 'flex', flexDirection: 'row', alignItems: 'center', justifyContent: 'center', gap: 12 }}&gt;&#13;&#10;    &lt;Box style={{ width: 20, height: 20, background: '#A32D2D' }} /&gt;&#13;&#10;    &lt;Text style={{ fontSize: 15, color: 'rgba(44,44,42,0.55)', letterSpacing: 2, fontFamily: 'Microsoft YaHei' }}&gt;鸿门宴 · 一场饭局里的天下、人心与千秋 · 感谢收看&lt;/Text&gt;&#13;&#10;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2E7"/>
          </a:solidFill>
          <a:ln/>
        </p:spPr>
        <p:txBody>
          <a:bodyPr/>
          <a:p/>
        </p:txBody>
      </p:sp>
      <p:sp>
        <p:nvSpPr>
          <p:cNvPr id="801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802" name=""/>
          <p:cNvSpPr/>
          <p:nvPr/>
        </p:nvSpPr>
        <p:spPr>
          <a:xfrm rot="0" flipH="0" flipV="0">
            <a:off x="95250" y="0"/>
            <a:ext cx="28575" cy="6858000"/>
          </a:xfrm>
          <a:prstGeom prst="rect">
            <a:avLst/>
          </a:prstGeom>
          <a:solidFill>
            <a:srgbClr val="BA7517">
              <a:alpha val="85000"/>
            </a:srgbClr>
          </a:solidFill>
          <a:ln/>
        </p:spPr>
        <p:txBody>
          <a:bodyPr/>
          <a:p/>
        </p:txBody>
      </p:sp>
      <p:sp>
        <p:nvSpPr>
          <p:cNvPr id="803" name=""/>
          <p:cNvSpPr/>
          <p:nvPr/>
        </p:nvSpPr>
        <p:spPr>
          <a:xfrm rot="0" flipH="0" flipV="0">
            <a:off x="5143500" y="609600"/>
            <a:ext cx="4191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5734050" y="495300"/>
            <a:ext cx="733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0">
                <a:solidFill>
                  <a:srgbClr val="BA7517"/>
                </a:solidFill>
                <a:latin typeface="STZhongsong"/>
                <a:ea typeface="STZhongsong"/>
              </a:rPr>
              <a:t>结</a:t>
            </a:r>
            <a:r>
              <a:rPr lang="en-US" sz="1500" b="1" spc="750">
                <a:solidFill>
                  <a:srgbClr val="BA7517"/>
                </a:solidFill>
                <a:latin typeface="STZhongsong"/>
                <a:ea typeface="STZhongsong"/>
              </a:rPr>
              <a:t> </a:t>
            </a:r>
            <a:r>
              <a:rPr lang="zh-CN" sz="1500" b="1" spc="750">
                <a:solidFill>
                  <a:srgbClr val="BA7517"/>
                </a:solidFill>
                <a:latin typeface="STZhongsong"/>
                <a:ea typeface="STZhongsong"/>
              </a:rPr>
              <a:t>语</a:t>
            </a:r>
            <a:endParaRPr/>
          </a:p>
        </p:txBody>
      </p:sp>
      <p:sp>
        <p:nvSpPr>
          <p:cNvPr id="805" name=""/>
          <p:cNvSpPr/>
          <p:nvPr/>
        </p:nvSpPr>
        <p:spPr>
          <a:xfrm rot="0" flipH="0" flipV="0">
            <a:off x="6638925" y="609600"/>
            <a:ext cx="4191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3524250" y="952500"/>
            <a:ext cx="5143500" cy="1600200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3600" b="1" spc="450">
                <a:solidFill>
                  <a:srgbClr val="2C2C2A"/>
                </a:solidFill>
                <a:latin typeface="STZhongsong"/>
                <a:ea typeface="STZhongsong"/>
              </a:rPr>
              <a:t>一个输在了不肯低头，</a:t>
            </a:r>
            <a:endParaRPr/>
          </a:p>
          <a:p>
            <a:pPr algn="ctr">
              <a:lnSpc>
                <a:spcPct val="145000"/>
              </a:lnSpc>
            </a:pPr>
            <a:r>
              <a:rPr lang="zh-CN" sz="3600" b="1" spc="450">
                <a:solidFill>
                  <a:srgbClr val="2C2C2A"/>
                </a:solidFill>
                <a:latin typeface="STZhongsong"/>
                <a:ea typeface="STZhongsong"/>
              </a:rPr>
              <a:t>一个赢在了能屈能伸。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5791200" y="2800350"/>
            <a:ext cx="609600" cy="28575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808" name=""/>
          <p:cNvSpPr/>
          <p:nvPr/>
        </p:nvSpPr>
        <p:spPr>
          <a:xfrm rot="0" flipH="0" flipV="0">
            <a:off x="609600" y="3200400"/>
            <a:ext cx="5295900" cy="25527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4"/>
            </a:solidFill>
            <a:prstDash val="solid"/>
          </a:ln>
          <a:effectLst>
            <a:outerShdw blurRad="190500" dist="38100" dir="5400000">
              <a:srgbClr val="2C2C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09" name=""/>
          <p:cNvSpPr/>
          <p:nvPr/>
        </p:nvSpPr>
        <p:spPr>
          <a:xfrm rot="0" flipH="0" flipV="0">
            <a:off x="857250" y="3409950"/>
            <a:ext cx="28575" cy="17145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981075" y="3419475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A32D2D"/>
                </a:solidFill>
                <a:latin typeface="Microsoft YaHei"/>
                <a:ea typeface="Microsoft YaHei"/>
              </a:rPr>
              <a:t>思想实验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57250" y="369570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2C2C2A"/>
                </a:solidFill>
                <a:latin typeface="STZhongsong"/>
                <a:ea typeface="STZhongsong"/>
              </a:rPr>
              <a:t>如果项羽当天杀了刘邦，历史会怎样？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857250" y="4171950"/>
            <a:ext cx="48006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短期看，他也许能稳住局势。但没有刘邦，还会有别的「刘邦」——有实力的诸侯不会甘心被一个霸王分封。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57250" y="4905375"/>
            <a:ext cx="48006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他输的不是某一场比赛，而是他代表的那个时代：分封制、贵族政治、「堂堂正正」的战争规则，在群雄并起的乱世里注定被更务实的人击败。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6286500" y="3200400"/>
            <a:ext cx="5295900" cy="114300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6534150" y="3409950"/>
            <a:ext cx="4800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75" b="1">
                <a:solidFill>
                  <a:srgbClr val="BA7517"/>
                </a:solidFill>
                <a:latin typeface="Microsoft YaHei"/>
                <a:ea typeface="Microsoft YaHei"/>
              </a:rPr>
              <a:t>但这不妨碍我们惋惜——惋惜那个破釜沉舟的霸王，惋惜那把始终没有落下的剑，惋惜一种已经不合时宜的高贵。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6315075" y="4381500"/>
            <a:ext cx="5295900" cy="1371600"/>
          </a:xfrm>
          <a:prstGeom prst="rect">
            <a:avLst/>
          </a:prstGeom>
          <a:solidFill>
            <a:srgbClr val="2C2C2A">
              <a:alpha val="6000"/>
            </a:srgbClr>
          </a:solidFill>
          <a:ln/>
        </p:spPr>
        <p:txBody>
          <a:bodyPr/>
          <a:p/>
        </p:txBody>
      </p:sp>
      <p:sp>
        <p:nvSpPr>
          <p:cNvPr id="817" name=""/>
          <p:cNvSpPr/>
          <p:nvPr/>
        </p:nvSpPr>
        <p:spPr>
          <a:xfrm rot="0" flipH="0" flipV="0">
            <a:off x="6286500" y="4381500"/>
            <a:ext cx="5324475" cy="1371600"/>
          </a:xfrm>
          <a:custGeom>
            <a:pathLst>
              <a:path w="559" h="144">
                <a:moveTo>
                  <a:pt x="0" y="0"/>
                </a:moveTo>
                <a:lnTo>
                  <a:pt x="3" y="0"/>
                </a:lnTo>
                <a:lnTo>
                  <a:pt x="3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543675" y="4572000"/>
            <a:ext cx="48101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2C2C2A">
                    <a:alpha val="80000"/>
                  </a:srgbClr>
                </a:solidFill>
                <a:latin typeface="Microsoft YaHei"/>
                <a:ea typeface="Microsoft YaHei"/>
              </a:rPr>
              <a:t>项羽要的是面子和天下共主的排场，刘邦要的是活下去和最后的天下。读懂这桌饭，也就读懂了成王败寇背后，那点关于性格、选择与代价的永恒道理。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4067175" y="6038850"/>
            <a:ext cx="190500" cy="190500"/>
          </a:xfrm>
          <a:prstGeom prst="rect">
            <a:avLst/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4371975" y="6048375"/>
            <a:ext cx="3752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鸿门宴</a:t>
            </a:r>
            <a:r>
              <a:rPr lang="en-US" sz="1125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一场饭局里的天下、人心与千秋</a:t>
            </a:r>
            <a:r>
              <a:rPr lang="en-US" sz="1125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 spc="150">
                <a:solidFill>
                  <a:srgbClr val="2C2C2A">
                    <a:alpha val="55000"/>
                  </a:srgbClr>
                </a:solidFill>
                <a:latin typeface="Microsoft YaHei"/>
                <a:ea typeface="Microsoft YaHei"/>
              </a:rPr>
              <a:t>感谢收看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2026-10-12T20:11:01Z</dcterms:created>
  <dcterms:modified xsi:type="dcterms:W3CDTF">2026-10-12T20:11:01Z</dcterms:modified>
</cp:coreProperties>
</file>